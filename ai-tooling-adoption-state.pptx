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65d753f3742ef" /><Relationship Type="http://schemas.openxmlformats.org/officeDocument/2006/relationships/extended-properties" Target="/docProps/app.xml" Id="Rc8f69951cfc14cdb" /><Relationship Type="http://schemas.openxmlformats.org/officeDocument/2006/relationships/officeDocument" Target="/ppt/presentation.xml" Id="Rb907cf911cbd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1a565f8f2f42e3"/>
  </p:sldMasterIdLst>
  <p:notesMasterIdLst>
    <p:notesMasterId xmlns:r="http://schemas.openxmlformats.org/officeDocument/2006/relationships" r:id="R9f6aab81db104c05"/>
  </p:notesMasterIdLst>
  <p:sldIdLst>
    <p:sldId xmlns:r="http://schemas.openxmlformats.org/officeDocument/2006/relationships" id="256" r:id="R087497f32ca04f78"/>
    <p:sldId xmlns:r="http://schemas.openxmlformats.org/officeDocument/2006/relationships" id="257" r:id="R85604868fa284504"/>
    <p:sldId xmlns:r="http://schemas.openxmlformats.org/officeDocument/2006/relationships" id="258" r:id="Ref547c12727549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a565f8f2f42e3" /><Relationship Type="http://schemas.openxmlformats.org/officeDocument/2006/relationships/theme" Target="/ppt/theme/theme1.xml" Id="R72adfa0659e34056" /><Relationship Type="http://schemas.openxmlformats.org/officeDocument/2006/relationships/notesMaster" Target="/ppt/notesMasters/notesMaster1.xml" Id="R9f6aab81db104c05" /><Relationship Type="http://schemas.openxmlformats.org/officeDocument/2006/relationships/presProps" Target="/ppt/presProps.xml" Id="R0731177512564dbb" /><Relationship Type="http://schemas.openxmlformats.org/officeDocument/2006/relationships/viewProps" Target="/ppt/viewProps.xml" Id="R259a7b6657a34a95" /><Relationship Type="http://schemas.openxmlformats.org/officeDocument/2006/relationships/tableStyles" Target="/ppt/tableStyles.xml" Id="Rec5648c611e448ed" /><Relationship Type="http://schemas.openxmlformats.org/officeDocument/2006/relationships/slide" Target="/ppt/slides/slide1.xml" Id="R087497f32ca04f78" /><Relationship Type="http://schemas.openxmlformats.org/officeDocument/2006/relationships/slide" Target="/ppt/slides/slide2.xml" Id="R85604868fa284504" /><Relationship Type="http://schemas.openxmlformats.org/officeDocument/2006/relationships/slide" Target="/ppt/slides/slide3.xml" Id="Ref547c12727549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6413cf7394e4f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1e68bd7c704cbb" /><Relationship Type="http://schemas.openxmlformats.org/officeDocument/2006/relationships/notesMaster" Target="/ppt/notesMasters/notesMaster1.xml" Id="R6e52fad9552a43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6446566a424760" /><Relationship Type="http://schemas.openxmlformats.org/officeDocument/2006/relationships/notesMaster" Target="/ppt/notesMasters/notesMaster1.xml" Id="R6b73cc7890d8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c8a98ab774aa0" /><Relationship Type="http://schemas.openxmlformats.org/officeDocument/2006/relationships/notesMaster" Target="/ppt/notesMasters/notesMaster1.xml" Id="R2ca461c0d5ca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09f9772464dd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a13bd911e04bde" /><Relationship Type="http://schemas.openxmlformats.org/officeDocument/2006/relationships/slideLayout" Target="/ppt/slideLayouts/slideLayout2.xml" Id="R71a35f9aacb346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a35f9aacb346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da008280954abf" /><Relationship Type="http://schemas.openxmlformats.org/officeDocument/2006/relationships/notesSlide" Target="/ppt/notesSlides/notesSlide1.xml" Id="R6ea5642d3f664d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e6abe886544355" /><Relationship Type="http://schemas.openxmlformats.org/officeDocument/2006/relationships/notesSlide" Target="/ppt/notesSlides/notesSlide2.xml" Id="R41e2654507b142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781011f02412b" /><Relationship Type="http://schemas.openxmlformats.org/officeDocument/2006/relationships/notesSlide" Target="/ppt/notesSlides/notesSlide3.xml" Id="Rb3b654c343aa4f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DA6D5-143D-473C-8F51-A429A1FF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4F4DFAAA-84C9-47E0-9454-B2F4D78D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-2">
            <a:extLst xmlns:a="http://schemas.openxmlformats.org/drawingml/2006/main">
              <a:ext uri="{FF2B5EF4-FFF2-40B4-BE49-F238E27FC236}">
                <a16:creationId xmlns:a16="http://schemas.microsoft.com/office/drawing/2014/main" id="{43486792-79D4-4154-B790-C4BBBAFB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-3">
            <a:extLst xmlns:a="http://schemas.openxmlformats.org/drawingml/2006/main">
              <a:ext uri="{FF2B5EF4-FFF2-40B4-BE49-F238E27FC236}">
                <a16:creationId xmlns:a16="http://schemas.microsoft.com/office/drawing/2014/main" id="{2B71319A-CAF5-49D2-B291-AABF74D4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8CF49C1-9FA3-498B-914F-DB90B32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2B2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2B72B2"/>
                </a:solidFill>
                <a:latin typeface="Open Sans"/>
                <a:ea typeface="Open Sans"/>
                <a:cs typeface="Open Sans"/>
              </a:rPr>
              <a:t>ENGINEERING PRODUCTIVITY ANALYTICS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F4D7-BD16-493B-BDD1-BBBC9B85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84667-896D-4002-B9D6-BBE398C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81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Experity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C68CE-BFBD-4C16-B5B1-6260421D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23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50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source-backed</a:t>
            </a:r>
          </a:p>
        </p:txBody>
      </p:sp>
      <p:sp>
        <p:nvSpPr>
          <p:cNvPr id="9" name="slide-01-title">
            <a:extLst xmlns:a="http://schemas.openxmlformats.org/drawingml/2006/main">
              <a:ext uri="{FF2B5EF4-FFF2-40B4-BE49-F238E27FC236}">
                <a16:creationId xmlns:a16="http://schemas.microsoft.com/office/drawing/2014/main" id="{0F279272-D1E0-4C59-ACC5-00D4525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3150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AI adoption has moved past pilot scale.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F8A58-B9FA-403F-99A0-2F1BAA65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7858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The dashboard shows adoption broadening from Copilot seats into premium model requests and Claude Code usage, with materially higher engineering output in the same window.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EA14C-07A7-4D47-8336-F20E208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lIns="2476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Updated as of May 1,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BFB97-4E84-45D2-9DBB-12EC10E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4F1D9-15BA-461D-961F-77A221F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3257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AE77A-21A0-4597-A7E1-4295ABB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906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AVERAGE OUTPUT LIFT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6647C-C7CE-4299-B56E-A5AE846C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325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5.8x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1AE2E-DC3D-4026-AADD-36A8B064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383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Jan-Mar 2026 avg lines added vs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B8E26-A146-495C-A26C-E140A30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0027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09E6C-D098-4F68-AF93-86CD4A2F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0027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91D27-5852-4DB6-B4CD-B669D9BA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0027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326EF-91AC-4C93-A21C-55975D4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257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BEB64-9B10-43FA-9455-E0B005E6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AI INDEX CORRELATION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47738-6EAB-40DE-AA99-F9501E3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325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r 0.90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9E757-40AE-4618-8534-316DDE9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Adoption index to lines added during rollout.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64B0F-6A0F-4508-990A-718983BB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6232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8D1775-7DBB-4756-B1F2-B63A600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36232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70E61-C856-4E96-9851-72A31A0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36232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565DB-39F0-4BC5-B199-B8AAF26E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3257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A19A6-2379-4F8E-A5CF-B384856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PEAK MONTHLY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F5A32-BEA6-4064-8F50-53EEE55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2430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325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2.4M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BD36E-02FD-4DFB-BCC4-2F01446B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Mar 2026 added LoC across 186 repos.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31C26-49C2-4D67-B6B4-75B3D96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2437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CAFBDB-5868-4CA4-9AEA-FD53DC9A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2437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304B3-DA8A-4194-9958-B4DFDE44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2437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7BFB3-A28C-4FF9-959B-E7AE8FD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24400"/>
            <a:ext cx="3257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1F3343-A3CF-4A6C-8BB3-0F9BE4B8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CURRENT PREMIUM USAGE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B3B0A-DA2F-4383-895F-0F78939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86350"/>
            <a:ext cx="2914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325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28.8K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A452A7-5A3C-4B99-9139-8C2F158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Apr 2026 AI requests; 78 premium users.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259F2-9805-44F7-9964-C99639E5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68642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60808-50A8-431E-9303-A00C83BB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68642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6A48F7-B5FC-48A7-B6AB-9E1508F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686425"/>
            <a:ext cx="30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output-adoption-panel">
            <a:extLst xmlns:a="http://schemas.openxmlformats.org/drawingml/2006/main">
              <a:ext uri="{FF2B5EF4-FFF2-40B4-BE49-F238E27FC236}">
                <a16:creationId xmlns:a16="http://schemas.microsoft.com/office/drawing/2014/main" id="{25323D8E-B434-4459-A86C-1DB6F6DE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7524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98463C-A0F5-447D-BC50-9F2D307B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Monthly output and adoption signal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A2F91F-ED74-4D96-A6EF-BB278D3E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Bars: lines added. Lime markers: AI adoption index.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E3E88D-BCA4-48AD-9F1F-140EFF3E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1123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EA"/>
          </a:solidFill>
          <a:ln xmlns:a="http://schemas.openxmlformats.org/drawingml/2006/main" w="9525">
            <a:solidFill>
              <a:srgbClr val="EAFBEA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7730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1F7730"/>
                </a:solidFill>
                <a:latin typeface="Open Sans"/>
                <a:ea typeface="Open Sans"/>
                <a:cs typeface="Open Sans"/>
              </a:rPr>
              <a:t>r = 0.90 rollout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6AB77C-53DD-4FD7-B9AF-59F098C7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8C2142-5562-4194-AAC0-EBD99DE3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00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2.4M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14A3A8-41BE-41A8-8E8D-7223C6D4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247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100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FECBB1-0429-410C-BF3A-8EA969F7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2888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28E345-3C04-4271-820D-5C4FD26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6213"/>
            <a:ext cx="400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1.8M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148F0F-FD27-4E49-94AA-2C941E7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6213"/>
            <a:ext cx="247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75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6940B5-91B7-42D0-B8A5-E942ABB9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B5C71E-2306-4A2A-953D-98A4363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00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1.2M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5EC84-B6A1-4C55-AF8A-E2A31DA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247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50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287D11-ECD5-401E-9737-6A3B693D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81563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663DB6-F28C-44D7-A7AD-727421A2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4888"/>
            <a:ext cx="400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598K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517800-0C6C-4631-A7C1-7C94598C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4888"/>
            <a:ext cx="247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295B23-8483-4D4E-B243-9743E062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95C368-31D4-405D-BCAE-4D6FC2D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400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A8B4D7-F1E7-4B5E-A067-B957322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29225"/>
            <a:ext cx="247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E47627-C31B-4D15-8699-A1762C82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1" y="5067818"/>
            <a:ext cx="236863" cy="2280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FB7E67-C9A2-4BE5-B374-EF0848A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67" y="494000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703CE6-7002-4727-93E4-F83FB9B4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17" y="5448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Jan 25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9CED76-7332-4035-B409-0C947F6F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45" y="5108748"/>
            <a:ext cx="236863" cy="187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AC5DD6-474A-4449-8C9B-8F2819EA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52" y="494332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CA62A0-D94E-40B5-ADF7-6F9E4A2B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429" y="5187439"/>
            <a:ext cx="236863" cy="1084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7E4557-71F8-43E4-BA58-2AA6618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236" y="49764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9AE650-1EB1-432E-9518-552E69A0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814" y="5038970"/>
            <a:ext cx="236863" cy="256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D95CE3-A106-403D-A4EE-098CC7E3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20" y="49665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87C610-87F4-4FD0-9CC1-513EADA4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98" y="5185019"/>
            <a:ext cx="236863" cy="110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F3E265-AD1E-494D-B6AF-6CD4DBF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005" y="49516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6A533E-2742-439D-8869-3AEC0247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83" y="5123196"/>
            <a:ext cx="236863" cy="172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54D472-5DE5-427F-BB65-4849117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389" y="494663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E6B39D-A0F3-429E-835B-CC3C2B8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967" y="5157039"/>
            <a:ext cx="236863" cy="138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561C69-CC64-4F8B-8580-B15D1B29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773" y="49449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2AA67C-4952-4E80-AEE7-E750373E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351" y="5112347"/>
            <a:ext cx="236863" cy="183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BA2516-5D78-4CAF-AB76-3E379609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158" y="49317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1975E4-23FA-4906-82DA-918C6F2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708" y="5448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Aug 25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ADE54F-4DFD-4FEB-BDDA-F156DFC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36" y="5020628"/>
            <a:ext cx="236863" cy="275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29B485E-EFA6-44F3-A6B0-4DDFC09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542" y="490520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AA298F-D898-4D07-B0EB-9C1D5A0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120" y="4845605"/>
            <a:ext cx="236863" cy="450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42798A-53ED-4421-8766-5A899BD0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927" y="46914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F08295-00C8-49DE-A418-7F54305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504" y="4906676"/>
            <a:ext cx="236863" cy="38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97E4ED8-A0F8-4C59-B5C2-B4EABDF5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311" y="467151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DDEED9-72CD-4366-9B7C-7360DA12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889" y="4984676"/>
            <a:ext cx="236863" cy="311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7A5D4F-72E5-4FBC-ABA1-774A5B7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695" y="463339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AF9F9E-3DB0-46D4-9378-5778DCB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3" y="4845092"/>
            <a:ext cx="236863" cy="450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543D3B-8770-41DD-8C8F-2FAF8E71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080" y="418591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D19F7C-2759-403F-B5E7-78FB92A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630" y="5448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Jan 26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D5BAD9-7B2C-4368-AB0F-A25C1A2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658" y="4501394"/>
            <a:ext cx="236863" cy="794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391AEF-280E-4FF2-8B82-2CC02105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464" y="406824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F03C48-8B66-47E6-8602-7F2D38C2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042" y="3638550"/>
            <a:ext cx="236863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81B38F-B128-4EE4-B0DC-321BD24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848" y="36986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7005B9-A217-4233-A9CB-87923F00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426" y="4224230"/>
            <a:ext cx="236863" cy="1071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B7FD73-40B0-439A-9EB1-9DD83B43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233" y="38759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CB4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5E4CEE-69D6-4D10-A92C-F045557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783" y="5448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Apr 26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9ADDE79-79EC-4B9A-A4ED-16F2D505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05425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7EA3CC-28B1-4E5B-8D8A-0A795F5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2025 baseline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D45296F-D82D-4601-ABBF-5A7B6B4E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291" y="37338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72B2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2B72B2"/>
                </a:solidFill>
                <a:latin typeface="Open Sans"/>
                <a:ea typeface="Open Sans"/>
                <a:cs typeface="Open Sans"/>
              </a:rPr>
              <a:t>Premium requests begin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CCD4379-E829-49A8-9FC3-C6324D4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783" y="394335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444A48-8C11-47BD-8515-BDDC615A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37338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CB40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2FCB40"/>
                </a:solidFill>
                <a:latin typeface="Open Sans"/>
                <a:ea typeface="Open Sans"/>
                <a:cs typeface="Open Sans"/>
              </a:rPr>
              <a:t>Claude Code tagged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D13A37-BAF3-470B-BAF0-0A3C8B87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705" y="394335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DAC5D0-3C05-45D2-A901-94BBEA8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Source: ai-tooling-loc-correlation-dashboard.html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FF6DDD0-2DE0-49EF-AE37-1F196E7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62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F278EF-F04D-4320-9388-FE1C417F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77268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2BFAD-2B51-4008-B3E0-1F40928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3705F9A-B26E-47C8-A84D-45484056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-2">
            <a:extLst xmlns:a="http://schemas.openxmlformats.org/drawingml/2006/main">
              <a:ext uri="{FF2B5EF4-FFF2-40B4-BE49-F238E27FC236}">
                <a16:creationId xmlns:a16="http://schemas.microsoft.com/office/drawing/2014/main" id="{2F1BC1C7-77ED-424D-8363-D8827992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-3">
            <a:extLst xmlns:a="http://schemas.openxmlformats.org/drawingml/2006/main">
              <a:ext uri="{FF2B5EF4-FFF2-40B4-BE49-F238E27FC236}">
                <a16:creationId xmlns:a16="http://schemas.microsoft.com/office/drawing/2014/main" id="{9BF5164E-7C38-4007-8744-223DBC3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158BDFC-308D-4ED9-B7F9-B3277E2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2B2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2B72B2"/>
                </a:solidFill>
                <a:latin typeface="Open Sans"/>
                <a:ea typeface="Open Sans"/>
                <a:cs typeface="Open Sans"/>
              </a:rPr>
              <a:t>ADOPTION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D1C11-D712-49FD-B0A2-2ABBCBC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F5624-4A31-40B3-88D8-F6688BF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81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Experity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EE412-DE29-4BE3-B1A3-E18AC5A1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23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50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source-backed</a:t>
            </a:r>
          </a:p>
        </p:txBody>
      </p:sp>
      <p:sp>
        <p:nvSpPr>
          <p:cNvPr id="9" name="slide-02-title">
            <a:extLst xmlns:a="http://schemas.openxmlformats.org/drawingml/2006/main">
              <a:ext uri="{FF2B5EF4-FFF2-40B4-BE49-F238E27FC236}">
                <a16:creationId xmlns:a16="http://schemas.microsoft.com/office/drawing/2014/main" id="{7B2102A5-BC85-4E5E-A5B3-FB588066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The adoption surface broadened across tools, users, and models.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48AC9-6D93-4C70-B0DD-6E42731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8524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Copilot remained the base layer, premium AI requests became a usage signal in late 2025, and Claude Code expanded the active-user surface in 2026.</a:t>
            </a:r>
          </a:p>
        </p:txBody>
      </p:sp>
      <p:sp>
        <p:nvSpPr>
          <p:cNvPr id="11" name="adoption-lanes-panel">
            <a:extLst xmlns:a="http://schemas.openxmlformats.org/drawingml/2006/main">
              <a:ext uri="{FF2B5EF4-FFF2-40B4-BE49-F238E27FC236}">
                <a16:creationId xmlns:a16="http://schemas.microsoft.com/office/drawing/2014/main" id="{741D695C-4684-4839-B211-C45FCCEE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962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1CFD8-1983-4A3E-9541-18338FE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Adoption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8E2AB-42B3-485A-8822-99674A60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Marker size reflects monthly level for each adoption signal.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1EA8-70FD-4D70-B900-AE11BC8D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Copilot seats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AD1F5-7F54-482C-927F-24B65DD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2B8E5-9667-4D81-9DFE-5FB557BF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33" y="3190233"/>
            <a:ext cx="134635" cy="134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AC70C-2B49-4E92-A177-426918D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671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Aug 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B7B18-E154-4056-8C4C-34D8CCE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8ADCE-EDCB-486E-8A3E-C9B9915D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87" y="3187805"/>
            <a:ext cx="139489" cy="1394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FC3A6-46B2-48F1-A0BE-6A62E028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018" y="3163755"/>
            <a:ext cx="187590" cy="187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3BC16-8A4B-4D6B-AEAC-AAD2C844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4671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Oct 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3B248-1E57-49AF-BC92-B025C715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233" y="3161690"/>
            <a:ext cx="191721" cy="191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3F6F3-3A0C-4009-A73F-D266FCC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276" y="3155451"/>
            <a:ext cx="204198" cy="204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C350E-7621-4F23-BCEB-9514B6F4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216" y="3154109"/>
            <a:ext cx="206881" cy="206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58434-ECC7-4071-AB45-D925CFC0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956" y="34671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Jan 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3FCB3-5D78-4EB7-9FA7-A5BD1855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106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70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2E7C2-E8B8-4108-8B30-E3AF3CA6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38" y="3149350"/>
            <a:ext cx="216399" cy="2163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48B85-0DF3-4F12-993A-EACCA1E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919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92D00-6770-4FCB-9D56-F5F4023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4671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Mar 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ECE4D-BC6D-43BE-96FF-84C7E3C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669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81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0253F-20F5-454E-96BC-85FF146C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983" y="3180033"/>
            <a:ext cx="155033" cy="155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A7BBF8-1B78-4D4F-A949-2AD5624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671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Apr 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EDE06-BD15-412A-9975-6C9564B0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46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BD137-DD5B-4219-B001-49BD07D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Premium requests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BD89E-CF03-46B8-AFB4-1E1F2BE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9EB50-8E7D-449C-B86F-BAC1E0F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521" y="4082071"/>
            <a:ext cx="65458" cy="654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1771D2-AFC9-4FBA-8397-FDD3C0D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Aug 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455E4-0804-4647-A61B-1841700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1.4K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170914-1793-4223-9A29-4FAF9289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063" y="4080332"/>
            <a:ext cx="68936" cy="68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E87EA4-B372-4D07-8585-A37E53A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753" y="4073741"/>
            <a:ext cx="82119" cy="821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312486-4AD6-490F-BBF3-A57E5F0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3243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Oct 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B40831-9F8E-4FD7-AEDF-33E244E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394" y="4073101"/>
            <a:ext cx="83399" cy="833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96BAD2-A6D0-4378-B6D1-61B87AA8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912" y="4075337"/>
            <a:ext cx="78927" cy="789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64EE8F-B5AB-445C-B9DB-6A97F944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946" y="4068090"/>
            <a:ext cx="93421" cy="93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9C8157-999D-4FCC-B50A-C5DDEB7D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956" y="43243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Jan 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17B984-F687-4B1A-9A16-4DF4235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106" y="3810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6.1K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ECD06A-3496-4429-AA4B-2C641F0C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770" y="4046633"/>
            <a:ext cx="136334" cy="13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FC9660-45E5-41A2-A20F-12718B34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205" y="4018786"/>
            <a:ext cx="192028" cy="192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72CF1C-195F-4B59-A61A-53985EC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43243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Mar 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AE4A1E-96B0-44A8-B432-491B847D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669" y="3810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23K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F37C38-7BE7-44DC-A060-C3C4AAF6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9DE70B-ECB1-4443-BA13-09E1F514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Apr 26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2AB647-E1C2-4473-BD8A-B1B9576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100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29K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B83EFE-5525-4ACA-BC96-B94F9D03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Claude Code users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1DB38E-15B8-425B-8ACA-6023CE90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6DF714-A75F-41BD-9064-45E16199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43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A9601F-C26A-48C4-9AC4-369027B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816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Aug 25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B9D82A-B88A-4C92-BC0E-7FFC5B9E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672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869419-86DE-4123-8FFC-79163FEE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956" y="4943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ABED72-23FA-4E81-9C0F-DD79F3A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4943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21C5FC-3821-4E6C-AC95-6A9DBD6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51816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Oct 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79305E-CEFE-429D-911A-6EBE527F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519" y="4943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AC3EC0-FD0D-4964-B6A7-C43396E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43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883C8F-0258-4813-AE58-FA3ABCD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182" y="4873576"/>
            <a:ext cx="196948" cy="1969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0D7754-4C50-42DA-80BB-B8086A3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956" y="51816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Jan 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8AA46C-9544-4472-B047-F70D6337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106" y="46672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53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E8B28F-D8E5-4363-89E0-68A1C8A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739" y="4878852"/>
            <a:ext cx="186397" cy="1863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FBFD5C-839D-421B-B8D1-47BE5EC5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919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C4EEB5-4CFA-463A-BC19-37AB0EFA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51816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Mar 26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B1E642-5238-402F-A1D8-131295C7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669" y="46672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65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4FB5EA-D7D0-4E06-86AD-5F0F0F1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7D91A7-E0BB-4D2D-AFE1-BDB7838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816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Apr 26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94CA3B-6D58-475C-8627-2A0AE2A4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65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5C6683-83A0-474B-9343-C0AE8374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3E6BC7-323D-42D9-9915-005DF8FB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Weighted adoption index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075D76-F48E-4574-8DBC-CD68850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Combines Copilot seats, premium requests, Claude users, and Claude spend.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2096BB-2FB6-4A0F-A101-9963BD0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175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93.5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98F2E0-37FB-4FD2-B79C-FBDD8085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peak index</a:t>
            </a:r>
          </a:p>
          <a:p xmlns:a="http://schemas.openxmlformats.org/drawingml/2006/main">
            <a:pPr algn="l">
              <a:def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Mar 2026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DB14D6-7917-41B4-AF1C-72566AED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3086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CBBAD9C-F6F7-4D58-B03F-4A2AF16C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74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YTD premium model mix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6E32677-5334-4031-A8D3-AD2ED3D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Top request quantities, Jan-Apr 2026.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5C6C36-7305-4DB3-BE60-8FF2E82D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Claude Opus 4.6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E20F57-E5B0-4C09-8828-C7A00D18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95800"/>
            <a:ext cx="10668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20F58E-21D8-45DC-BF35-893F55D4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4767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27K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55B30F-98A7-43B7-8756-0FE10151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Claude Sonnet 4.5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C9C72A-3015-42C4-9A80-9277EF73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86300"/>
            <a:ext cx="52960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78C5C53-23AC-46C1-92FC-7C93F203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13K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48E50A-43D1-4815-B013-D30B4C7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Claude Sonnet 4.6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60CD87-AA8A-43B4-8376-53F5B01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76800"/>
            <a:ext cx="5157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19AB260-B55E-46D3-9902-B051B74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577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13K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5E35566-E03E-4BBA-8F53-6301147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48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Claude Opus 4.7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F6DF775-0D77-4C57-B640-24E378BB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26147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0696FC-1F41-4B14-8204-8C49408C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0482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6.6K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AF1CB1-A805-44BB-9401-06B23D4A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Code Review model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E87833-E050-4ACD-9964-D7D45A8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57800"/>
            <a:ext cx="8116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15085C1-8A14-414B-AFCF-6578B16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2387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1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2.0K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B5A956-897A-4D7F-BBB1-5E7064F9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Source: ai-tooling-loc-correlation-dashboard.html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B8F85A9-9A14-448E-A704-6D0D4FC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62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B08962-7DEF-4139-8290-BC14357F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55372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7A7FF-165D-4AFE-9D5E-B451AF5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2BCCD37-B1C5-4DA2-A83C-A6C0CBB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-2">
            <a:extLst xmlns:a="http://schemas.openxmlformats.org/drawingml/2006/main">
              <a:ext uri="{FF2B5EF4-FFF2-40B4-BE49-F238E27FC236}">
                <a16:creationId xmlns:a16="http://schemas.microsoft.com/office/drawing/2014/main" id="{FF725DD4-FE40-4A4F-838C-587A22C8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-3">
            <a:extLst xmlns:a="http://schemas.openxmlformats.org/drawingml/2006/main">
              <a:ext uri="{FF2B5EF4-FFF2-40B4-BE49-F238E27FC236}">
                <a16:creationId xmlns:a16="http://schemas.microsoft.com/office/drawing/2014/main" id="{9D965C17-E8BE-4B0F-AC99-93258650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BC534E1-B000-4BA7-A8A3-73F89BC3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2B2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2B72B2"/>
                </a:solidFill>
                <a:latin typeface="Open Sans"/>
                <a:ea typeface="Open Sans"/>
                <a:cs typeface="Open Sans"/>
              </a:rPr>
              <a:t>OPERATING MATURITY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04F13-A874-4D6C-B152-3751945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0ABCE-23AD-464C-A6A0-B70182FF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81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Experity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98F0D-9B11-4F08-B06D-90C6110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239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50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source-backed</a:t>
            </a:r>
          </a:p>
        </p:txBody>
      </p:sp>
      <p:sp>
        <p:nvSpPr>
          <p:cNvPr id="9" name="slide-03-title">
            <a:extLst xmlns:a="http://schemas.openxmlformats.org/drawingml/2006/main">
              <a:ext uri="{FF2B5EF4-FFF2-40B4-BE49-F238E27FC236}">
                <a16:creationId xmlns:a16="http://schemas.microsoft.com/office/drawing/2014/main" id="{B20DC52B-95DA-4B67-87CB-2FA5D964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28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B2B54"/>
                </a:solidFill>
                <a:latin typeface="Poppins"/>
                <a:ea typeface="Poppins"/>
                <a:cs typeface="Poppins"/>
              </a:defRPr>
            </a:pPr>
            <a:r>
              <a:rPr sz="2700" b="0">
                <a:solidFill>
                  <a:srgbClr val="1B2B54"/>
                </a:solidFill>
                <a:latin typeface="Poppins"/>
                <a:ea typeface="Poppins"/>
                <a:cs typeface="Poppins"/>
              </a:rPr>
              <a:t>The signal is strong, but April shows why adoption needs quality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83A49-B1C4-47C0-A643-5FC88AE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42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AI usage is now large enough to manage as an operating system: productivity lift, request mix, repo mix, and rework should be reviewed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8E2AD-064A-49F8-B42E-5BB35D9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6572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7F030-B8EB-4E7C-9CF1-FDC477F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Adoption index vs lines added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9A0DD-786F-4E26-BC03-D0C9F921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Each dot is a month with a GitHub output report.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8EB0C-FA8F-4C82-9E24-DDD1DDAE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1162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EA"/>
          </a:solidFill>
          <a:ln xmlns:a="http://schemas.openxmlformats.org/drawingml/2006/main" w="9525">
            <a:solidFill>
              <a:srgbClr val="EAFBEA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F7730"/>
                </a:solidFill>
                <a:latin typeface="Open Sans"/>
                <a:ea typeface="Open Sans"/>
                <a:cs typeface="Open Sans"/>
              </a:defRPr>
            </a:pPr>
            <a:r>
              <a:rPr sz="938" b="1">
                <a:solidFill>
                  <a:srgbClr val="1F7730"/>
                </a:solidFill>
                <a:latin typeface="Open Sans"/>
                <a:ea typeface="Open Sans"/>
                <a:cs typeface="Open Sans"/>
              </a:rPr>
              <a:t>r = 0.93 all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B1E3C-5FB0-420C-A033-D50A2A1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CF9E8-05BF-4CB2-874C-8DE4C2C0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D7CF3-B89C-46BE-862E-FD9067F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419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2.5M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1B496-B3C4-49C1-8404-F31DC5FB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D93E3-4298-43F7-8BC4-F7E3108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38538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308D4-8458-4F57-8E7A-862D902A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75F83-4106-40AE-B5A1-C7947EA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1863"/>
            <a:ext cx="419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1.9M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D20DE-D6CD-4ED2-8078-6ABACCE4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35FEC-2284-4972-A1BB-53202312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14143-48A4-4A8C-A429-3B6AA5B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FA25A-F0A7-45E2-92C3-FA76E6AA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19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1.3M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279A3-FCE3-420E-BB02-425058E4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970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7C27F-1A92-4F33-9796-7DF8A65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7713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05E5C-5DFE-45C3-ABCE-626201EF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963A0-32AD-4E00-9E64-1EAFE87B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1038"/>
            <a:ext cx="419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625K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C7F344-230F-40FB-99E2-4FA307A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75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435A20-5152-41C8-B059-312EE76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A2EBF-65BA-42B3-ACDD-6B604B7F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4560D-8486-4CC0-9CA0-62360396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419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DDD0C3-5568-48DE-8A36-B2B7C15E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19700"/>
            <a:ext cx="228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13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5FA8F1-C961-4E6D-AAB6-B4171D6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541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C5D967-F894-48AC-ACFE-E5100107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56133-EBF9-4123-B80C-58CD7656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685" y="475605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A2202-54F6-4ED6-9FED-D69E4F9E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864" y="480421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CA53C-1C85-479B-A2D7-09C38C0C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660" y="489681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4BC324-AC15-4745-96F7-8F54A04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122" y="472210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2B715C-939C-4643-AE41-0893DE5B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813" y="489396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12CBBC-F63B-47CA-8308-D671BC3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044" y="482121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A353F-4F06-4A10-80C3-6542B85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54" y="486103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7D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7DC184-D85D-4F36-A7FD-49E974D0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736" y="480845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6B9D1E-9AE4-4733-BD31-D6B41381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299" y="470052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D41E72-36D6-43D1-99F5-3DD64F56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215" y="449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806F7C-45A9-42BB-BFE1-D7CD3EAB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137" y="456643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28995F-8D23-468E-8EA1-049DD5D5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72" y="465821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D5FD35-F187-40E2-AFE6-C716DE05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038" y="447968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86133D-F1E7-4CE5-A54D-D1131A56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162" y="407525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A8B922-4B29-4506-8446-F3AFD0FD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637" y="305994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508C1F-78B8-421F-BB3E-D84ECE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46" y="374911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53A38B-8943-461D-A7AE-14126AE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687" y="2717044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Mar peak</a:t>
            </a:r>
          </a:p>
          <a:p xmlns:a="http://schemas.openxmlformats.org/drawingml/2006/main">
            <a:pPr algn="ctr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2.4M added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56ECCF-9323-47E4-876E-59014FD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196" y="3711014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Apr</a:t>
            </a:r>
          </a:p>
          <a:p xmlns:a="http://schemas.openxmlformats.org/drawingml/2006/main">
            <a:pPr algn="l">
              <a:def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1.5M added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B82BE7-B739-4F3B-AFC8-F049786C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29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AI adoption index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17C037-F110-45F4-83DF-B8EB0E1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50" b="1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Baseline 2025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40C179-07B8-4254-A6A5-F751984F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051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B72B2"/>
                </a:solidFill>
                <a:latin typeface="Open Sans"/>
                <a:ea typeface="Open Sans"/>
                <a:cs typeface="Open Sans"/>
              </a:defRPr>
            </a:pPr>
            <a:r>
              <a:rPr sz="750" b="1">
                <a:solidFill>
                  <a:srgbClr val="2B72B2"/>
                </a:solidFill>
                <a:latin typeface="Open Sans"/>
                <a:ea typeface="Open Sans"/>
                <a:cs typeface="Open Sans"/>
              </a:rPr>
              <a:t>AI rollout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EE1D26-83C4-4EDB-A3B6-E1DBB8B8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4229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EB371E-2972-4FD2-921D-7ABD1D0A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2ED27E-E042-4043-B5C2-91097D0A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394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April is not a retreat in adoption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894C97-24E3-4CD3-992B-FE1CB4FC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April has the highest premium usage at 28.8K requests and 65 Claude users, while added LoC remains 1.5M.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C30065-21A8-47B1-A2CD-9FAEF92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4229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B3DE61-F2AB-49D9-9615-F427F0A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23033F-B5BA-4E7B-8AAD-D4A48A58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94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938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But net output compressed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829099-782C-4F84-B89E-490C76B3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392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April net LoC is 58K against 3.0M changed LoC, making churn/rewrite context essential for the next readout.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FA2561-7896-4EF6-9ECA-BD8339C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91050"/>
            <a:ext cx="4229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0081AA-2B69-45AC-BDFF-195F82B0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Next-state adoption controls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A515CF-3D74-4205-891D-22B6B7DD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948311-6BE7-4E6A-B1F6-EA0F39C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86350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Quality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682C87-4EEF-4756-918A-894FA6E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86350"/>
            <a:ext cx="2724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Defects, review load, rollback/rework rate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62C789-159C-4606-9DEC-A705232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5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5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15AB7E-875B-46B4-B8E1-6FC9C7B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95900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Mix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0EAF5C-D296-4752-A2BF-D4901007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95900"/>
            <a:ext cx="2724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Repo, contributor, and epic composition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47F264-B17A-46B9-A54B-2A0FDD21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6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A71BA2-B5E3-43C2-A8B1-DAAAF749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05450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863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Cohorts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BE0D2D-32D4-4468-8601-DA187CF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05450"/>
            <a:ext cx="2724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defRPr>
            </a:pPr>
            <a:r>
              <a:rPr sz="863" b="0">
                <a:solidFill>
                  <a:srgbClr val="526078"/>
                </a:solidFill>
                <a:latin typeface="Open Sans"/>
                <a:ea typeface="Open Sans"/>
                <a:cs typeface="Open Sans"/>
              </a:rPr>
              <a:t>Active users, request types, top-model mix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3870E5-2091-46EB-9B9A-D43467F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defRPr>
            </a:pPr>
            <a:r>
              <a:rPr sz="788" b="0">
                <a:solidFill>
                  <a:srgbClr val="686F83"/>
                </a:solidFill>
                <a:latin typeface="Open Sans"/>
                <a:ea typeface="Open Sans"/>
                <a:cs typeface="Open Sans"/>
              </a:rPr>
              <a:t>Source: ai-tooling-loc-correlation-dashboard.html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FB8119-7A72-4041-803B-1E40F39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629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2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1A1475-CB95-484F-BE85-33B9C7D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defRPr>
            </a:pPr>
            <a:r>
              <a:rPr sz="1050" b="1">
                <a:solidFill>
                  <a:srgbClr val="1B2B54"/>
                </a:solidFill>
                <a:latin typeface="Open Sans"/>
                <a:ea typeface="Open Sans"/>
                <a:cs typeface="Ope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9572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2026-05-05T18:19:44.5610000Z</dcterms:created>
  <dcterms:modified xsi:type="dcterms:W3CDTF">2026-05-05T18:19:44.5610000Z</dcterms:modified>
</coreProperties>
</file>