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56"/>
    <p:restoredTop sz="94610"/>
  </p:normalViewPr>
  <p:slideViewPr>
    <p:cSldViewPr snapToGrid="0" snapToObjects="1">
      <p:cViewPr varScale="1">
        <p:scale>
          <a:sx n="105" d="100"/>
          <a:sy n="105" d="100"/>
        </p:scale>
        <p:origin x="200" y="9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675693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presentation covers the findings from our first AI-assisted development pilot, which ran March 17-20 with a single pod team. I'll walk through what we learned, what we need to fix, and our path forward.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findings, three actions. The headline is clear: infrastructure gaps, not AI limitations, are the bottleneck. AI is an engineer multiplier — it amplifies productivity when given proper context. The troubleshooting and context-gathering demands of this process require more skilled engineers, not fewer.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was our first pod. A single engineer, Krista, supported by Lauren as product owner and Nelly for QA. Tim provided architecture support and Kyle handled infrastructure. The project was building a new microservice using AI-assisted development tools.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team estimated more than half their time was consumed by infrastructure rather than building features. Five categories of blockers, ranked by time impact. The most significant: basic tooling wasn't set up before day 1, and we submitted roughly 35 tickets or access requests just to get a working environment. These are problems that affect all development, not just AI-assisted work.</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Despite the infrastructure challenges, there were clear wins. The strongest signal: when AI agents received proper context, the output quality was excellent. Both Lauren and Krista had strongly positive reactions. Bobby's direct question to Krista and her emphatic response tells us the engineers want to keep going. And Kyle's commitment — working until 2am to fix the pipeline — shows this team is invested in making this work.</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categories consumed the majority of the team's productive time. Notice these are all infrastructure problems, not AI problems. The tooling should have been set up before day 1. The ticket overhead was staggering — roughly 35 access requests for one engineer to do basic development work. The database connectivity crisis happened because two repos independently created their own secrets with no coordination. And the Jenkins-to-CircleCI migration left legacy files that actively confused the AI agents.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insight. The AI agents performed well when given proper context. When context was missing, they made reasonable assumptions that turned out to be wrong. This isn't an AI problem — it's a preparation and infrastructure problem. And critically, these same issues slow down all of our development teams. The pilot just made them impossible to ignore.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highest-impact action. Today it takes 4+ days and expert intervention to get a running environment. The target: 10 minutes, self-service, zero expert dependency. Kyle is already working on this. The deployment script will walk through required parameters, auto-configure everything, and validate that the full stack is working — UI, API, and database. Kyle has the authority to eliminate tech debt without approval delays to get this done.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checklist is simple but critical. Every participant must have verified tooling, access, and a working environment one full week before the pod starts. No exceptions. The reference materials package ensures we have all the architectural context documented and ready for the AI agents from the moment we engage them. Tim owns the reference materials and architecture context. Kyle owns infrastructure verification.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action for AI output quality. Everyone needs to be in the same room — engineering, architecture, product, and QA. We whiteboard the feature, map every system interaction, and document every upstream and downstream touchpoint. AI agents are not engaged until this folder is complete and validated. The pilot proved this beyond doubt — when Tim gave agents this context upfront, they produced correct code immediately. When it was missing, we got cascading rework.</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concrete plan. One week before: everything automated, verified, and distributed. Day 1: architecture review, whiteboard session, populate integration context — and only then engage the AI agents. The metrics table shows what we're targeting. If we hit these numbers, we'll know the infrastructure improvements worked. And if the next pod encounters challenges, we'll know they're genuine AI or process issues worth investigating — not the same infrastructure problems we've already identified.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we recommend pausing new pods until template automation is complete, the setup checklist is verified, and the team kickoff protocol is established. Once those are in place, we resume with confidence. The pilot proved the concept works — AI-assisted development delivers real value when the infrastructure supports it. And critically, fixing these infrastructure gaps benefits every development team, not just AI-assisted pods. This was an infrastructure discovery as much as an AI pilot. I'm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B54"/>
        </a:solidFill>
        <a:effectLst/>
      </p:bgPr>
    </p:bg>
    <p:spTree>
      <p:nvGrpSpPr>
        <p:cNvPr id="1" name=""/>
        <p:cNvGrpSpPr/>
        <p:nvPr/>
      </p:nvGrpSpPr>
      <p:grpSpPr>
        <a:xfrm>
          <a:off x="0" y="0"/>
          <a:ext cx="0" cy="0"/>
          <a:chOff x="0" y="0"/>
          <a:chExt cx="0" cy="0"/>
        </a:xfrm>
      </p:grpSpPr>
      <p:sp>
        <p:nvSpPr>
          <p:cNvPr id="2" name="Shape 0"/>
          <p:cNvSpPr/>
          <p:nvPr/>
        </p:nvSpPr>
        <p:spPr>
          <a:xfrm>
            <a:off x="9601200" y="0"/>
            <a:ext cx="2587752" cy="6858000"/>
          </a:xfrm>
          <a:prstGeom prst="rect">
            <a:avLst/>
          </a:prstGeom>
          <a:solidFill>
            <a:srgbClr val="162241"/>
          </a:solidFill>
          <a:ln w="12700">
            <a:solidFill>
              <a:srgbClr val="162241"/>
            </a:solidFill>
            <a:prstDash val="solid"/>
          </a:ln>
        </p:spPr>
        <p:txBody>
          <a:bodyPr/>
          <a:lstStyle/>
          <a:p>
            <a:endParaRPr lang="en-US"/>
          </a:p>
        </p:txBody>
      </p:sp>
      <p:sp>
        <p:nvSpPr>
          <p:cNvPr id="3" name="Shape 1"/>
          <p:cNvSpPr/>
          <p:nvPr/>
        </p:nvSpPr>
        <p:spPr>
          <a:xfrm>
            <a:off x="9418320" y="0"/>
            <a:ext cx="109728" cy="6858000"/>
          </a:xfrm>
          <a:prstGeom prst="rect">
            <a:avLst/>
          </a:prstGeom>
          <a:solidFill>
            <a:srgbClr val="2FCC40"/>
          </a:solidFill>
          <a:ln w="12700">
            <a:solidFill>
              <a:srgbClr val="2FCC40"/>
            </a:solidFill>
            <a:prstDash val="solid"/>
          </a:ln>
        </p:spPr>
        <p:txBody>
          <a:bodyPr/>
          <a:lstStyle/>
          <a:p>
            <a:endParaRPr lang="en-US"/>
          </a:p>
        </p:txBody>
      </p:sp>
      <p:sp>
        <p:nvSpPr>
          <p:cNvPr id="4" name="Text 2"/>
          <p:cNvSpPr/>
          <p:nvPr/>
        </p:nvSpPr>
        <p:spPr>
          <a:xfrm>
            <a:off x="640080" y="1645920"/>
            <a:ext cx="8595360" cy="1005840"/>
          </a:xfrm>
          <a:prstGeom prst="rect">
            <a:avLst/>
          </a:prstGeom>
          <a:noFill/>
          <a:ln/>
        </p:spPr>
        <p:txBody>
          <a:bodyPr wrap="square"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AI Development Pilot</a:t>
            </a:r>
            <a:endParaRPr lang="en-US" sz="4400" dirty="0"/>
          </a:p>
        </p:txBody>
      </p:sp>
      <p:sp>
        <p:nvSpPr>
          <p:cNvPr id="5" name="Shape 3"/>
          <p:cNvSpPr/>
          <p:nvPr/>
        </p:nvSpPr>
        <p:spPr>
          <a:xfrm>
            <a:off x="640080" y="2697480"/>
            <a:ext cx="2743200" cy="54864"/>
          </a:xfrm>
          <a:prstGeom prst="rect">
            <a:avLst/>
          </a:prstGeom>
          <a:solidFill>
            <a:srgbClr val="2FCC40"/>
          </a:solidFill>
          <a:ln w="12700">
            <a:solidFill>
              <a:srgbClr val="2FCC40"/>
            </a:solidFill>
            <a:prstDash val="solid"/>
          </a:ln>
        </p:spPr>
        <p:txBody>
          <a:bodyPr/>
          <a:lstStyle/>
          <a:p>
            <a:endParaRPr lang="en-US"/>
          </a:p>
        </p:txBody>
      </p:sp>
      <p:sp>
        <p:nvSpPr>
          <p:cNvPr id="6" name="Text 4"/>
          <p:cNvSpPr/>
          <p:nvPr/>
        </p:nvSpPr>
        <p:spPr>
          <a:xfrm>
            <a:off x="640080" y="2834640"/>
            <a:ext cx="8595360" cy="640080"/>
          </a:xfrm>
          <a:prstGeom prst="rect">
            <a:avLst/>
          </a:prstGeom>
          <a:noFill/>
          <a:ln/>
        </p:spPr>
        <p:txBody>
          <a:bodyPr wrap="square" rtlCol="0" anchor="ctr"/>
          <a:lstStyle/>
          <a:p>
            <a:pPr marL="0" indent="0">
              <a:buNone/>
            </a:pPr>
            <a:r>
              <a:rPr lang="en-US" sz="2400" dirty="0">
                <a:solidFill>
                  <a:srgbClr val="A8B4CC"/>
                </a:solidFill>
                <a:latin typeface="Calibri" pitchFamily="34" charset="0"/>
                <a:ea typeface="Calibri" pitchFamily="34" charset="-122"/>
                <a:cs typeface="Calibri" pitchFamily="34" charset="-120"/>
              </a:rPr>
              <a:t>Lessons Learned &amp; Path Forward</a:t>
            </a:r>
            <a:endParaRPr lang="en-US" sz="2400" dirty="0"/>
          </a:p>
        </p:txBody>
      </p:sp>
      <p:sp>
        <p:nvSpPr>
          <p:cNvPr id="7" name="Text 5"/>
          <p:cNvSpPr/>
          <p:nvPr/>
        </p:nvSpPr>
        <p:spPr>
          <a:xfrm>
            <a:off x="640080" y="5943600"/>
            <a:ext cx="8595360" cy="457200"/>
          </a:xfrm>
          <a:prstGeom prst="rect">
            <a:avLst/>
          </a:prstGeom>
          <a:noFill/>
          <a:ln/>
        </p:spPr>
        <p:txBody>
          <a:bodyPr wrap="square" rtlCol="0" anchor="ctr"/>
          <a:lstStyle/>
          <a:p>
            <a:pPr marL="0" indent="0">
              <a:buNone/>
            </a:pPr>
            <a:r>
              <a:rPr lang="en-US" sz="1400" dirty="0">
                <a:solidFill>
                  <a:srgbClr val="757E98"/>
                </a:solidFill>
                <a:latin typeface="Calibri" pitchFamily="34" charset="0"/>
                <a:ea typeface="Calibri" pitchFamily="34" charset="-122"/>
                <a:cs typeface="Calibri" pitchFamily="34" charset="-120"/>
              </a:rPr>
              <a:t>March 2026  |  Prepared by Chris Hoffman, Chief Architect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
          </a:xfrm>
          <a:prstGeom prst="rect">
            <a:avLst/>
          </a:prstGeom>
          <a:solidFill>
            <a:srgbClr val="1B2B54"/>
          </a:solidFill>
          <a:ln w="12700">
            <a:solidFill>
              <a:srgbClr val="1B2B54"/>
            </a:solidFill>
            <a:prstDash val="solid"/>
          </a:ln>
        </p:spPr>
        <p:txBody>
          <a:bodyPr/>
          <a:lstStyle/>
          <a:p>
            <a:endParaRPr lang="en-US"/>
          </a:p>
        </p:txBody>
      </p:sp>
      <p:sp>
        <p:nvSpPr>
          <p:cNvPr id="3" name="Text 1"/>
          <p:cNvSpPr/>
          <p:nvPr/>
        </p:nvSpPr>
        <p:spPr>
          <a:xfrm>
            <a:off x="320040" y="0"/>
            <a:ext cx="11521440" cy="6858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Executive Summary</a:t>
            </a:r>
            <a:endParaRPr lang="en-US" sz="2400" dirty="0"/>
          </a:p>
        </p:txBody>
      </p:sp>
      <p:sp>
        <p:nvSpPr>
          <p:cNvPr id="4" name="Text 2"/>
          <p:cNvSpPr/>
          <p:nvPr/>
        </p:nvSpPr>
        <p:spPr>
          <a:xfrm>
            <a:off x="320040" y="868680"/>
            <a:ext cx="5303520" cy="365760"/>
          </a:xfrm>
          <a:prstGeom prst="rect">
            <a:avLst/>
          </a:prstGeom>
          <a:noFill/>
          <a:ln/>
        </p:spPr>
        <p:txBody>
          <a:bodyPr wrap="square" rtlCol="0" anchor="ctr"/>
          <a:lstStyle/>
          <a:p>
            <a:pPr marL="0" indent="0">
              <a:buNone/>
            </a:pPr>
            <a:r>
              <a:rPr lang="en-US" sz="1500" b="1" dirty="0">
                <a:solidFill>
                  <a:srgbClr val="1B2B54"/>
                </a:solidFill>
                <a:latin typeface="Calibri" pitchFamily="34" charset="0"/>
                <a:ea typeface="Calibri" pitchFamily="34" charset="-122"/>
                <a:cs typeface="Calibri" pitchFamily="34" charset="-120"/>
              </a:rPr>
              <a:t>3 Key Findings</a:t>
            </a:r>
            <a:endParaRPr lang="en-US" sz="1500" dirty="0"/>
          </a:p>
        </p:txBody>
      </p:sp>
      <p:sp>
        <p:nvSpPr>
          <p:cNvPr id="5" name="Shape 3"/>
          <p:cNvSpPr/>
          <p:nvPr/>
        </p:nvSpPr>
        <p:spPr>
          <a:xfrm>
            <a:off x="320040" y="1280160"/>
            <a:ext cx="5303520" cy="777240"/>
          </a:xfrm>
          <a:prstGeom prst="rect">
            <a:avLst/>
          </a:prstGeom>
          <a:solidFill>
            <a:srgbClr val="E8EAEE"/>
          </a:solidFill>
          <a:ln w="12700">
            <a:solidFill>
              <a:srgbClr val="E8EAEE"/>
            </a:solidFill>
            <a:prstDash val="solid"/>
          </a:ln>
        </p:spPr>
        <p:txBody>
          <a:bodyPr/>
          <a:lstStyle/>
          <a:p>
            <a:endParaRPr lang="en-US"/>
          </a:p>
        </p:txBody>
      </p:sp>
      <p:sp>
        <p:nvSpPr>
          <p:cNvPr id="6" name="Shape 4"/>
          <p:cNvSpPr/>
          <p:nvPr/>
        </p:nvSpPr>
        <p:spPr>
          <a:xfrm>
            <a:off x="320040" y="1280160"/>
            <a:ext cx="64008" cy="777240"/>
          </a:xfrm>
          <a:prstGeom prst="rect">
            <a:avLst/>
          </a:prstGeom>
          <a:solidFill>
            <a:srgbClr val="2FCC40"/>
          </a:solidFill>
          <a:ln w="12700">
            <a:solidFill>
              <a:srgbClr val="2FCC40"/>
            </a:solidFill>
            <a:prstDash val="solid"/>
          </a:ln>
        </p:spPr>
        <p:txBody>
          <a:bodyPr/>
          <a:lstStyle/>
          <a:p>
            <a:endParaRPr lang="en-US"/>
          </a:p>
        </p:txBody>
      </p:sp>
      <p:sp>
        <p:nvSpPr>
          <p:cNvPr id="7" name="Text 5"/>
          <p:cNvSpPr/>
          <p:nvPr/>
        </p:nvSpPr>
        <p:spPr>
          <a:xfrm>
            <a:off x="502920" y="1353312"/>
            <a:ext cx="4983480" cy="630936"/>
          </a:xfrm>
          <a:prstGeom prst="rect">
            <a:avLst/>
          </a:prstGeom>
          <a:noFill/>
          <a:ln/>
        </p:spPr>
        <p:txBody>
          <a:bodyPr wrap="square" rtlCol="0" anchor="ctr"/>
          <a:lstStyle/>
          <a:p>
            <a:pPr marL="0" indent="0">
              <a:buNone/>
            </a:pPr>
            <a:r>
              <a:rPr lang="en-US" sz="1300" dirty="0">
                <a:solidFill>
                  <a:srgbClr val="47516A"/>
                </a:solidFill>
                <a:latin typeface="Calibri" pitchFamily="34" charset="0"/>
                <a:ea typeface="Calibri" pitchFamily="34" charset="-122"/>
                <a:cs typeface="Calibri" pitchFamily="34" charset="-120"/>
              </a:rPr>
              <a:t>1.  Infrastructure automation gaps consumed an estimated 50%+ of pilot time</a:t>
            </a:r>
            <a:endParaRPr lang="en-US" sz="1300" dirty="0"/>
          </a:p>
        </p:txBody>
      </p:sp>
      <p:sp>
        <p:nvSpPr>
          <p:cNvPr id="8" name="Shape 6"/>
          <p:cNvSpPr/>
          <p:nvPr/>
        </p:nvSpPr>
        <p:spPr>
          <a:xfrm>
            <a:off x="320040" y="2167128"/>
            <a:ext cx="5303520" cy="777240"/>
          </a:xfrm>
          <a:prstGeom prst="rect">
            <a:avLst/>
          </a:prstGeom>
          <a:solidFill>
            <a:srgbClr val="E8EAEE"/>
          </a:solidFill>
          <a:ln w="12700">
            <a:solidFill>
              <a:srgbClr val="E8EAEE"/>
            </a:solidFill>
            <a:prstDash val="solid"/>
          </a:ln>
        </p:spPr>
        <p:txBody>
          <a:bodyPr/>
          <a:lstStyle/>
          <a:p>
            <a:endParaRPr lang="en-US"/>
          </a:p>
        </p:txBody>
      </p:sp>
      <p:sp>
        <p:nvSpPr>
          <p:cNvPr id="9" name="Shape 7"/>
          <p:cNvSpPr/>
          <p:nvPr/>
        </p:nvSpPr>
        <p:spPr>
          <a:xfrm>
            <a:off x="320040" y="2167128"/>
            <a:ext cx="64008" cy="777240"/>
          </a:xfrm>
          <a:prstGeom prst="rect">
            <a:avLst/>
          </a:prstGeom>
          <a:solidFill>
            <a:srgbClr val="2FCC40"/>
          </a:solidFill>
          <a:ln w="12700">
            <a:solidFill>
              <a:srgbClr val="2FCC40"/>
            </a:solidFill>
            <a:prstDash val="solid"/>
          </a:ln>
        </p:spPr>
        <p:txBody>
          <a:bodyPr/>
          <a:lstStyle/>
          <a:p>
            <a:endParaRPr lang="en-US"/>
          </a:p>
        </p:txBody>
      </p:sp>
      <p:sp>
        <p:nvSpPr>
          <p:cNvPr id="10" name="Text 8"/>
          <p:cNvSpPr/>
          <p:nvPr/>
        </p:nvSpPr>
        <p:spPr>
          <a:xfrm>
            <a:off x="502920" y="2240280"/>
            <a:ext cx="4983480" cy="630936"/>
          </a:xfrm>
          <a:prstGeom prst="rect">
            <a:avLst/>
          </a:prstGeom>
          <a:noFill/>
          <a:ln/>
        </p:spPr>
        <p:txBody>
          <a:bodyPr wrap="square" rtlCol="0" anchor="ctr"/>
          <a:lstStyle/>
          <a:p>
            <a:pPr marL="0" indent="0">
              <a:buNone/>
            </a:pPr>
            <a:r>
              <a:rPr lang="en-US" sz="1300" dirty="0">
                <a:solidFill>
                  <a:srgbClr val="47516A"/>
                </a:solidFill>
                <a:latin typeface="Calibri" pitchFamily="34" charset="0"/>
                <a:ea typeface="Calibri" pitchFamily="34" charset="-122"/>
                <a:cs typeface="Calibri" pitchFamily="34" charset="-120"/>
              </a:rPr>
              <a:t>2.  AI agents produced quality output when given proper architectural context</a:t>
            </a:r>
            <a:endParaRPr lang="en-US" sz="1300" dirty="0"/>
          </a:p>
        </p:txBody>
      </p:sp>
      <p:sp>
        <p:nvSpPr>
          <p:cNvPr id="11" name="Shape 9"/>
          <p:cNvSpPr/>
          <p:nvPr/>
        </p:nvSpPr>
        <p:spPr>
          <a:xfrm>
            <a:off x="320040" y="3054096"/>
            <a:ext cx="5303520" cy="777240"/>
          </a:xfrm>
          <a:prstGeom prst="rect">
            <a:avLst/>
          </a:prstGeom>
          <a:solidFill>
            <a:srgbClr val="E8EAEE"/>
          </a:solidFill>
          <a:ln w="12700">
            <a:solidFill>
              <a:srgbClr val="E8EAEE"/>
            </a:solidFill>
            <a:prstDash val="solid"/>
          </a:ln>
        </p:spPr>
        <p:txBody>
          <a:bodyPr/>
          <a:lstStyle/>
          <a:p>
            <a:endParaRPr lang="en-US"/>
          </a:p>
        </p:txBody>
      </p:sp>
      <p:sp>
        <p:nvSpPr>
          <p:cNvPr id="12" name="Shape 10"/>
          <p:cNvSpPr/>
          <p:nvPr/>
        </p:nvSpPr>
        <p:spPr>
          <a:xfrm>
            <a:off x="320040" y="3054096"/>
            <a:ext cx="64008" cy="777240"/>
          </a:xfrm>
          <a:prstGeom prst="rect">
            <a:avLst/>
          </a:prstGeom>
          <a:solidFill>
            <a:srgbClr val="2FCC40"/>
          </a:solidFill>
          <a:ln w="12700">
            <a:solidFill>
              <a:srgbClr val="2FCC40"/>
            </a:solidFill>
            <a:prstDash val="solid"/>
          </a:ln>
        </p:spPr>
        <p:txBody>
          <a:bodyPr/>
          <a:lstStyle/>
          <a:p>
            <a:endParaRPr lang="en-US"/>
          </a:p>
        </p:txBody>
      </p:sp>
      <p:sp>
        <p:nvSpPr>
          <p:cNvPr id="13" name="Text 11"/>
          <p:cNvSpPr/>
          <p:nvPr/>
        </p:nvSpPr>
        <p:spPr>
          <a:xfrm>
            <a:off x="502920" y="3127248"/>
            <a:ext cx="4983480" cy="630936"/>
          </a:xfrm>
          <a:prstGeom prst="rect">
            <a:avLst/>
          </a:prstGeom>
          <a:noFill/>
          <a:ln/>
        </p:spPr>
        <p:txBody>
          <a:bodyPr wrap="square" rtlCol="0" anchor="ctr"/>
          <a:lstStyle/>
          <a:p>
            <a:pPr marL="0" indent="0">
              <a:buNone/>
            </a:pPr>
            <a:r>
              <a:rPr lang="en-US" sz="1300" dirty="0">
                <a:solidFill>
                  <a:srgbClr val="47516A"/>
                </a:solidFill>
                <a:latin typeface="Calibri" pitchFamily="34" charset="0"/>
                <a:ea typeface="Calibri" pitchFamily="34" charset="-122"/>
                <a:cs typeface="Calibri" pitchFamily="34" charset="-120"/>
              </a:rPr>
              <a:t>3.  Systematic deployment issues affect ALL development — not just AI-assisted work</a:t>
            </a:r>
            <a:endParaRPr lang="en-US" sz="1300" dirty="0"/>
          </a:p>
        </p:txBody>
      </p:sp>
      <p:sp>
        <p:nvSpPr>
          <p:cNvPr id="14" name="Text 12"/>
          <p:cNvSpPr/>
          <p:nvPr/>
        </p:nvSpPr>
        <p:spPr>
          <a:xfrm>
            <a:off x="6263640" y="868680"/>
            <a:ext cx="5577840" cy="365760"/>
          </a:xfrm>
          <a:prstGeom prst="rect">
            <a:avLst/>
          </a:prstGeom>
          <a:noFill/>
          <a:ln/>
        </p:spPr>
        <p:txBody>
          <a:bodyPr wrap="square" rtlCol="0" anchor="ctr"/>
          <a:lstStyle/>
          <a:p>
            <a:pPr marL="0" indent="0">
              <a:buNone/>
            </a:pPr>
            <a:r>
              <a:rPr lang="en-US" sz="1500" b="1" dirty="0">
                <a:solidFill>
                  <a:srgbClr val="1B2B54"/>
                </a:solidFill>
                <a:latin typeface="Calibri" pitchFamily="34" charset="0"/>
                <a:ea typeface="Calibri" pitchFamily="34" charset="-122"/>
                <a:cs typeface="Calibri" pitchFamily="34" charset="-120"/>
              </a:rPr>
              <a:t>3 Critical Actions</a:t>
            </a:r>
            <a:endParaRPr lang="en-US" sz="1500" dirty="0"/>
          </a:p>
        </p:txBody>
      </p:sp>
      <p:sp>
        <p:nvSpPr>
          <p:cNvPr id="15" name="Shape 13"/>
          <p:cNvSpPr/>
          <p:nvPr/>
        </p:nvSpPr>
        <p:spPr>
          <a:xfrm>
            <a:off x="6263640" y="1280160"/>
            <a:ext cx="5577840" cy="777240"/>
          </a:xfrm>
          <a:prstGeom prst="rect">
            <a:avLst/>
          </a:prstGeom>
          <a:solidFill>
            <a:srgbClr val="E8EAEE"/>
          </a:solidFill>
          <a:ln w="12700">
            <a:solidFill>
              <a:srgbClr val="E8EAEE"/>
            </a:solidFill>
            <a:prstDash val="solid"/>
          </a:ln>
        </p:spPr>
        <p:txBody>
          <a:bodyPr/>
          <a:lstStyle/>
          <a:p>
            <a:endParaRPr lang="en-US"/>
          </a:p>
        </p:txBody>
      </p:sp>
      <p:sp>
        <p:nvSpPr>
          <p:cNvPr id="16" name="Shape 14"/>
          <p:cNvSpPr/>
          <p:nvPr/>
        </p:nvSpPr>
        <p:spPr>
          <a:xfrm>
            <a:off x="6263640" y="1280160"/>
            <a:ext cx="64008" cy="777240"/>
          </a:xfrm>
          <a:prstGeom prst="rect">
            <a:avLst/>
          </a:prstGeom>
          <a:solidFill>
            <a:srgbClr val="1B2B54"/>
          </a:solidFill>
          <a:ln w="12700">
            <a:solidFill>
              <a:srgbClr val="1B2B54"/>
            </a:solidFill>
            <a:prstDash val="solid"/>
          </a:ln>
        </p:spPr>
        <p:txBody>
          <a:bodyPr/>
          <a:lstStyle/>
          <a:p>
            <a:endParaRPr lang="en-US"/>
          </a:p>
        </p:txBody>
      </p:sp>
      <p:sp>
        <p:nvSpPr>
          <p:cNvPr id="17" name="Text 15"/>
          <p:cNvSpPr/>
          <p:nvPr/>
        </p:nvSpPr>
        <p:spPr>
          <a:xfrm>
            <a:off x="6446520" y="1353312"/>
            <a:ext cx="5257800" cy="630936"/>
          </a:xfrm>
          <a:prstGeom prst="rect">
            <a:avLst/>
          </a:prstGeom>
          <a:noFill/>
          <a:ln/>
        </p:spPr>
        <p:txBody>
          <a:bodyPr wrap="square" rtlCol="0" anchor="ctr"/>
          <a:lstStyle/>
          <a:p>
            <a:pPr marL="0" indent="0">
              <a:buNone/>
            </a:pPr>
            <a:r>
              <a:rPr lang="en-US" sz="1300" dirty="0">
                <a:solidFill>
                  <a:srgbClr val="47516A"/>
                </a:solidFill>
                <a:latin typeface="Calibri" pitchFamily="34" charset="0"/>
                <a:ea typeface="Calibri" pitchFamily="34" charset="-122"/>
                <a:cs typeface="Calibri" pitchFamily="34" charset="-120"/>
              </a:rPr>
              <a:t>1.  Template automation pipeline — 10-minute deployment target</a:t>
            </a:r>
            <a:endParaRPr lang="en-US" sz="1300" dirty="0"/>
          </a:p>
        </p:txBody>
      </p:sp>
      <p:sp>
        <p:nvSpPr>
          <p:cNvPr id="18" name="Shape 16"/>
          <p:cNvSpPr/>
          <p:nvPr/>
        </p:nvSpPr>
        <p:spPr>
          <a:xfrm>
            <a:off x="6263640" y="2167128"/>
            <a:ext cx="5577840" cy="777240"/>
          </a:xfrm>
          <a:prstGeom prst="rect">
            <a:avLst/>
          </a:prstGeom>
          <a:solidFill>
            <a:srgbClr val="E8EAEE"/>
          </a:solidFill>
          <a:ln w="12700">
            <a:solidFill>
              <a:srgbClr val="E8EAEE"/>
            </a:solidFill>
            <a:prstDash val="solid"/>
          </a:ln>
        </p:spPr>
        <p:txBody>
          <a:bodyPr/>
          <a:lstStyle/>
          <a:p>
            <a:endParaRPr lang="en-US"/>
          </a:p>
        </p:txBody>
      </p:sp>
      <p:sp>
        <p:nvSpPr>
          <p:cNvPr id="19" name="Shape 17"/>
          <p:cNvSpPr/>
          <p:nvPr/>
        </p:nvSpPr>
        <p:spPr>
          <a:xfrm>
            <a:off x="6263640" y="2167128"/>
            <a:ext cx="64008" cy="777240"/>
          </a:xfrm>
          <a:prstGeom prst="rect">
            <a:avLst/>
          </a:prstGeom>
          <a:solidFill>
            <a:srgbClr val="1B2B54"/>
          </a:solidFill>
          <a:ln w="12700">
            <a:solidFill>
              <a:srgbClr val="1B2B54"/>
            </a:solidFill>
            <a:prstDash val="solid"/>
          </a:ln>
        </p:spPr>
        <p:txBody>
          <a:bodyPr/>
          <a:lstStyle/>
          <a:p>
            <a:endParaRPr lang="en-US"/>
          </a:p>
        </p:txBody>
      </p:sp>
      <p:sp>
        <p:nvSpPr>
          <p:cNvPr id="20" name="Text 18"/>
          <p:cNvSpPr/>
          <p:nvPr/>
        </p:nvSpPr>
        <p:spPr>
          <a:xfrm>
            <a:off x="6446520" y="2240280"/>
            <a:ext cx="5257800" cy="630936"/>
          </a:xfrm>
          <a:prstGeom prst="rect">
            <a:avLst/>
          </a:prstGeom>
          <a:noFill/>
          <a:ln/>
        </p:spPr>
        <p:txBody>
          <a:bodyPr wrap="square" rtlCol="0" anchor="ctr"/>
          <a:lstStyle/>
          <a:p>
            <a:pPr marL="0" indent="0">
              <a:buNone/>
            </a:pPr>
            <a:r>
              <a:rPr lang="en-US" sz="1300" dirty="0">
                <a:solidFill>
                  <a:srgbClr val="47516A"/>
                </a:solidFill>
                <a:latin typeface="Calibri" pitchFamily="34" charset="0"/>
                <a:ea typeface="Calibri" pitchFamily="34" charset="-122"/>
                <a:cs typeface="Calibri" pitchFamily="34" charset="-120"/>
              </a:rPr>
              <a:t>2.  Standardized pre-pod checklist — 1 week in advance</a:t>
            </a:r>
            <a:endParaRPr lang="en-US" sz="1300" dirty="0"/>
          </a:p>
        </p:txBody>
      </p:sp>
      <p:sp>
        <p:nvSpPr>
          <p:cNvPr id="21" name="Shape 19"/>
          <p:cNvSpPr/>
          <p:nvPr/>
        </p:nvSpPr>
        <p:spPr>
          <a:xfrm>
            <a:off x="6263640" y="3054096"/>
            <a:ext cx="5577840" cy="777240"/>
          </a:xfrm>
          <a:prstGeom prst="rect">
            <a:avLst/>
          </a:prstGeom>
          <a:solidFill>
            <a:srgbClr val="E8EAEE"/>
          </a:solidFill>
          <a:ln w="12700">
            <a:solidFill>
              <a:srgbClr val="E8EAEE"/>
            </a:solidFill>
            <a:prstDash val="solid"/>
          </a:ln>
        </p:spPr>
        <p:txBody>
          <a:bodyPr/>
          <a:lstStyle/>
          <a:p>
            <a:endParaRPr lang="en-US"/>
          </a:p>
        </p:txBody>
      </p:sp>
      <p:sp>
        <p:nvSpPr>
          <p:cNvPr id="22" name="Shape 20"/>
          <p:cNvSpPr/>
          <p:nvPr/>
        </p:nvSpPr>
        <p:spPr>
          <a:xfrm>
            <a:off x="6263640" y="3054096"/>
            <a:ext cx="64008" cy="777240"/>
          </a:xfrm>
          <a:prstGeom prst="rect">
            <a:avLst/>
          </a:prstGeom>
          <a:solidFill>
            <a:srgbClr val="1B2B54"/>
          </a:solidFill>
          <a:ln w="12700">
            <a:solidFill>
              <a:srgbClr val="1B2B54"/>
            </a:solidFill>
            <a:prstDash val="solid"/>
          </a:ln>
        </p:spPr>
        <p:txBody>
          <a:bodyPr/>
          <a:lstStyle/>
          <a:p>
            <a:endParaRPr lang="en-US"/>
          </a:p>
        </p:txBody>
      </p:sp>
      <p:sp>
        <p:nvSpPr>
          <p:cNvPr id="23" name="Text 21"/>
          <p:cNvSpPr/>
          <p:nvPr/>
        </p:nvSpPr>
        <p:spPr>
          <a:xfrm>
            <a:off x="6446520" y="3127248"/>
            <a:ext cx="5257800" cy="630936"/>
          </a:xfrm>
          <a:prstGeom prst="rect">
            <a:avLst/>
          </a:prstGeom>
          <a:noFill/>
          <a:ln/>
        </p:spPr>
        <p:txBody>
          <a:bodyPr wrap="square" rtlCol="0" anchor="ctr"/>
          <a:lstStyle/>
          <a:p>
            <a:pPr marL="0" indent="0">
              <a:buNone/>
            </a:pPr>
            <a:r>
              <a:rPr lang="en-US" sz="1300" dirty="0">
                <a:solidFill>
                  <a:srgbClr val="47516A"/>
                </a:solidFill>
                <a:latin typeface="Calibri" pitchFamily="34" charset="0"/>
                <a:ea typeface="Calibri" pitchFamily="34" charset="-122"/>
                <a:cs typeface="Calibri" pitchFamily="34" charset="-120"/>
              </a:rPr>
              <a:t>3.  Mandatory team kickoff — Engineering, Architecture, Product &amp; QA in the same room</a:t>
            </a:r>
            <a:endParaRPr lang="en-US" sz="1300" dirty="0"/>
          </a:p>
        </p:txBody>
      </p:sp>
      <p:sp>
        <p:nvSpPr>
          <p:cNvPr id="24" name="Shape 22"/>
          <p:cNvSpPr/>
          <p:nvPr/>
        </p:nvSpPr>
        <p:spPr>
          <a:xfrm>
            <a:off x="320040" y="5074920"/>
            <a:ext cx="11548872" cy="640080"/>
          </a:xfrm>
          <a:prstGeom prst="rect">
            <a:avLst/>
          </a:prstGeom>
          <a:solidFill>
            <a:srgbClr val="E8EAEE"/>
          </a:solidFill>
          <a:ln w="12700">
            <a:solidFill>
              <a:srgbClr val="2FCC40"/>
            </a:solidFill>
            <a:prstDash val="solid"/>
          </a:ln>
        </p:spPr>
        <p:txBody>
          <a:bodyPr/>
          <a:lstStyle/>
          <a:p>
            <a:endParaRPr lang="en-US"/>
          </a:p>
        </p:txBody>
      </p:sp>
      <p:sp>
        <p:nvSpPr>
          <p:cNvPr id="25" name="Text 23"/>
          <p:cNvSpPr/>
          <p:nvPr/>
        </p:nvSpPr>
        <p:spPr>
          <a:xfrm>
            <a:off x="502920" y="5148072"/>
            <a:ext cx="11155680" cy="493776"/>
          </a:xfrm>
          <a:prstGeom prst="rect">
            <a:avLst/>
          </a:prstGeom>
          <a:noFill/>
          <a:ln/>
        </p:spPr>
        <p:txBody>
          <a:bodyPr wrap="square" rtlCol="0" anchor="ctr"/>
          <a:lstStyle/>
          <a:p>
            <a:pPr marL="0" indent="0">
              <a:buNone/>
            </a:pPr>
            <a:r>
              <a:rPr lang="en-US" sz="1400" b="1" dirty="0">
                <a:solidFill>
                  <a:srgbClr val="1B2B54"/>
                </a:solidFill>
                <a:latin typeface="Calibri" pitchFamily="34" charset="0"/>
                <a:ea typeface="Calibri" pitchFamily="34" charset="-122"/>
                <a:cs typeface="Calibri" pitchFamily="34" charset="-120"/>
              </a:rPr>
              <a:t>Recommendation: Pause new pods until these 3 actions are complete. Resume with confidence.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
          </a:xfrm>
          <a:prstGeom prst="rect">
            <a:avLst/>
          </a:prstGeom>
          <a:solidFill>
            <a:srgbClr val="1B2B54"/>
          </a:solidFill>
          <a:ln w="12700">
            <a:solidFill>
              <a:srgbClr val="1B2B54"/>
            </a:solidFill>
            <a:prstDash val="solid"/>
          </a:ln>
        </p:spPr>
        <p:txBody>
          <a:bodyPr/>
          <a:lstStyle/>
          <a:p>
            <a:endParaRPr lang="en-US"/>
          </a:p>
        </p:txBody>
      </p:sp>
      <p:sp>
        <p:nvSpPr>
          <p:cNvPr id="3" name="Text 1"/>
          <p:cNvSpPr/>
          <p:nvPr/>
        </p:nvSpPr>
        <p:spPr>
          <a:xfrm>
            <a:off x="320040" y="0"/>
            <a:ext cx="11521440" cy="6858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Pilot Overview</a:t>
            </a:r>
            <a:endParaRPr lang="en-US" sz="2400" dirty="0"/>
          </a:p>
        </p:txBody>
      </p:sp>
      <p:sp>
        <p:nvSpPr>
          <p:cNvPr id="4" name="Shape 2"/>
          <p:cNvSpPr/>
          <p:nvPr/>
        </p:nvSpPr>
        <p:spPr>
          <a:xfrm>
            <a:off x="320040" y="822960"/>
            <a:ext cx="11548872" cy="475488"/>
          </a:xfrm>
          <a:prstGeom prst="rect">
            <a:avLst/>
          </a:prstGeom>
          <a:solidFill>
            <a:srgbClr val="1B2B54"/>
          </a:solidFill>
          <a:ln w="12700">
            <a:solidFill>
              <a:srgbClr val="1B2B54"/>
            </a:solidFill>
            <a:prstDash val="solid"/>
          </a:ln>
        </p:spPr>
        <p:txBody>
          <a:bodyPr/>
          <a:lstStyle/>
          <a:p>
            <a:endParaRPr lang="en-US"/>
          </a:p>
        </p:txBody>
      </p:sp>
      <p:sp>
        <p:nvSpPr>
          <p:cNvPr id="5" name="Text 3"/>
          <p:cNvSpPr/>
          <p:nvPr/>
        </p:nvSpPr>
        <p:spPr>
          <a:xfrm>
            <a:off x="457200" y="822960"/>
            <a:ext cx="11247120" cy="47548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4-Day AI-Assisted Development Pilot  |  March 17–20, 2026</a:t>
            </a:r>
            <a:endParaRPr lang="en-US" sz="1500" dirty="0"/>
          </a:p>
        </p:txBody>
      </p:sp>
      <p:sp>
        <p:nvSpPr>
          <p:cNvPr id="6" name="Shape 4"/>
          <p:cNvSpPr/>
          <p:nvPr/>
        </p:nvSpPr>
        <p:spPr>
          <a:xfrm>
            <a:off x="685800" y="1463040"/>
            <a:ext cx="3474720" cy="4114800"/>
          </a:xfrm>
          <a:prstGeom prst="rect">
            <a:avLst/>
          </a:prstGeom>
          <a:solidFill>
            <a:srgbClr val="E8EAEE"/>
          </a:solidFill>
          <a:ln w="12700">
            <a:solidFill>
              <a:srgbClr val="E8EAEE"/>
            </a:solidFill>
            <a:prstDash val="solid"/>
          </a:ln>
        </p:spPr>
        <p:txBody>
          <a:bodyPr/>
          <a:lstStyle/>
          <a:p>
            <a:endParaRPr lang="en-US"/>
          </a:p>
        </p:txBody>
      </p:sp>
      <p:sp>
        <p:nvSpPr>
          <p:cNvPr id="7" name="Shape 5"/>
          <p:cNvSpPr/>
          <p:nvPr/>
        </p:nvSpPr>
        <p:spPr>
          <a:xfrm>
            <a:off x="685800" y="1463040"/>
            <a:ext cx="3474720" cy="73152"/>
          </a:xfrm>
          <a:prstGeom prst="rect">
            <a:avLst/>
          </a:prstGeom>
          <a:solidFill>
            <a:srgbClr val="2FCC40"/>
          </a:solidFill>
          <a:ln w="12700">
            <a:solidFill>
              <a:srgbClr val="2FCC40"/>
            </a:solidFill>
            <a:prstDash val="solid"/>
          </a:ln>
        </p:spPr>
        <p:txBody>
          <a:bodyPr/>
          <a:lstStyle/>
          <a:p>
            <a:endParaRPr lang="en-US"/>
          </a:p>
        </p:txBody>
      </p:sp>
      <p:sp>
        <p:nvSpPr>
          <p:cNvPr id="8" name="Text 6"/>
          <p:cNvSpPr/>
          <p:nvPr/>
        </p:nvSpPr>
        <p:spPr>
          <a:xfrm>
            <a:off x="822960" y="1572768"/>
            <a:ext cx="3200400" cy="411480"/>
          </a:xfrm>
          <a:prstGeom prst="rect">
            <a:avLst/>
          </a:prstGeom>
          <a:noFill/>
          <a:ln/>
        </p:spPr>
        <p:txBody>
          <a:bodyPr wrap="square" rtlCol="0" anchor="ctr"/>
          <a:lstStyle/>
          <a:p>
            <a:pPr marL="0" indent="0">
              <a:buNone/>
            </a:pPr>
            <a:r>
              <a:rPr lang="en-US" sz="1600" b="1" dirty="0">
                <a:solidFill>
                  <a:srgbClr val="1B2B54"/>
                </a:solidFill>
                <a:latin typeface="Calibri" pitchFamily="34" charset="0"/>
                <a:ea typeface="Calibri" pitchFamily="34" charset="-122"/>
                <a:cs typeface="Calibri" pitchFamily="34" charset="-120"/>
              </a:rPr>
              <a:t>Pod Team</a:t>
            </a:r>
            <a:endParaRPr lang="en-US" sz="1600" dirty="0"/>
          </a:p>
        </p:txBody>
      </p:sp>
      <p:sp>
        <p:nvSpPr>
          <p:cNvPr id="9" name="Text 7"/>
          <p:cNvSpPr/>
          <p:nvPr/>
        </p:nvSpPr>
        <p:spPr>
          <a:xfrm>
            <a:off x="822960" y="2057400"/>
            <a:ext cx="3200400" cy="457200"/>
          </a:xfrm>
          <a:prstGeom prst="rect">
            <a:avLst/>
          </a:prstGeom>
          <a:noFill/>
          <a:ln/>
        </p:spPr>
        <p:txBody>
          <a:bodyPr wrap="square" rtlCol="0" anchor="ctr"/>
          <a:lstStyle/>
          <a:p>
            <a:pPr marL="0" indent="0">
              <a:buNone/>
            </a:pPr>
            <a:r>
              <a:rPr lang="en-US" sz="1400" dirty="0">
                <a:solidFill>
                  <a:srgbClr val="47516A"/>
                </a:solidFill>
                <a:latin typeface="Calibri" pitchFamily="34" charset="0"/>
                <a:ea typeface="Calibri" pitchFamily="34" charset="-122"/>
                <a:cs typeface="Calibri" pitchFamily="34" charset="-120"/>
              </a:rPr>
              <a:t>Engineer: Krista</a:t>
            </a:r>
            <a:endParaRPr lang="en-US" sz="1400" dirty="0"/>
          </a:p>
        </p:txBody>
      </p:sp>
      <p:sp>
        <p:nvSpPr>
          <p:cNvPr id="10" name="Text 8"/>
          <p:cNvSpPr/>
          <p:nvPr/>
        </p:nvSpPr>
        <p:spPr>
          <a:xfrm>
            <a:off x="822960" y="2560320"/>
            <a:ext cx="3200400" cy="457200"/>
          </a:xfrm>
          <a:prstGeom prst="rect">
            <a:avLst/>
          </a:prstGeom>
          <a:noFill/>
          <a:ln/>
        </p:spPr>
        <p:txBody>
          <a:bodyPr wrap="square" rtlCol="0" anchor="ctr"/>
          <a:lstStyle/>
          <a:p>
            <a:pPr marL="0" indent="0">
              <a:buNone/>
            </a:pPr>
            <a:r>
              <a:rPr lang="en-US" sz="1400" dirty="0">
                <a:solidFill>
                  <a:srgbClr val="47516A"/>
                </a:solidFill>
                <a:latin typeface="Calibri" pitchFamily="34" charset="0"/>
                <a:ea typeface="Calibri" pitchFamily="34" charset="-122"/>
                <a:cs typeface="Calibri" pitchFamily="34" charset="-120"/>
              </a:rPr>
              <a:t>Product Owner: Lauren</a:t>
            </a:r>
            <a:endParaRPr lang="en-US" sz="1400" dirty="0"/>
          </a:p>
        </p:txBody>
      </p:sp>
      <p:sp>
        <p:nvSpPr>
          <p:cNvPr id="11" name="Text 9"/>
          <p:cNvSpPr/>
          <p:nvPr/>
        </p:nvSpPr>
        <p:spPr>
          <a:xfrm>
            <a:off x="822960" y="3063240"/>
            <a:ext cx="3200400" cy="457200"/>
          </a:xfrm>
          <a:prstGeom prst="rect">
            <a:avLst/>
          </a:prstGeom>
          <a:noFill/>
          <a:ln/>
        </p:spPr>
        <p:txBody>
          <a:bodyPr wrap="square" rtlCol="0" anchor="ctr"/>
          <a:lstStyle/>
          <a:p>
            <a:pPr marL="0" indent="0">
              <a:buNone/>
            </a:pPr>
            <a:r>
              <a:rPr lang="en-US" sz="1400" dirty="0">
                <a:solidFill>
                  <a:srgbClr val="47516A"/>
                </a:solidFill>
                <a:latin typeface="Calibri" pitchFamily="34" charset="0"/>
                <a:ea typeface="Calibri" pitchFamily="34" charset="-122"/>
                <a:cs typeface="Calibri" pitchFamily="34" charset="-120"/>
              </a:rPr>
              <a:t>QA: Nelly</a:t>
            </a:r>
            <a:endParaRPr lang="en-US" sz="1400" dirty="0"/>
          </a:p>
        </p:txBody>
      </p:sp>
      <p:sp>
        <p:nvSpPr>
          <p:cNvPr id="12" name="Shape 10"/>
          <p:cNvSpPr/>
          <p:nvPr/>
        </p:nvSpPr>
        <p:spPr>
          <a:xfrm>
            <a:off x="4498848" y="1463040"/>
            <a:ext cx="3474720" cy="4114800"/>
          </a:xfrm>
          <a:prstGeom prst="rect">
            <a:avLst/>
          </a:prstGeom>
          <a:solidFill>
            <a:srgbClr val="E8EAEE"/>
          </a:solidFill>
          <a:ln w="12700">
            <a:solidFill>
              <a:srgbClr val="E8EAEE"/>
            </a:solidFill>
            <a:prstDash val="solid"/>
          </a:ln>
        </p:spPr>
        <p:txBody>
          <a:bodyPr/>
          <a:lstStyle/>
          <a:p>
            <a:endParaRPr lang="en-US"/>
          </a:p>
        </p:txBody>
      </p:sp>
      <p:sp>
        <p:nvSpPr>
          <p:cNvPr id="13" name="Shape 11"/>
          <p:cNvSpPr/>
          <p:nvPr/>
        </p:nvSpPr>
        <p:spPr>
          <a:xfrm>
            <a:off x="4498848" y="1463040"/>
            <a:ext cx="3474720" cy="73152"/>
          </a:xfrm>
          <a:prstGeom prst="rect">
            <a:avLst/>
          </a:prstGeom>
          <a:solidFill>
            <a:srgbClr val="757E98"/>
          </a:solidFill>
          <a:ln w="12700">
            <a:solidFill>
              <a:srgbClr val="757E98"/>
            </a:solidFill>
            <a:prstDash val="solid"/>
          </a:ln>
        </p:spPr>
        <p:txBody>
          <a:bodyPr/>
          <a:lstStyle/>
          <a:p>
            <a:endParaRPr lang="en-US"/>
          </a:p>
        </p:txBody>
      </p:sp>
      <p:sp>
        <p:nvSpPr>
          <p:cNvPr id="14" name="Text 12"/>
          <p:cNvSpPr/>
          <p:nvPr/>
        </p:nvSpPr>
        <p:spPr>
          <a:xfrm>
            <a:off x="4636008" y="1572768"/>
            <a:ext cx="3200400" cy="411480"/>
          </a:xfrm>
          <a:prstGeom prst="rect">
            <a:avLst/>
          </a:prstGeom>
          <a:noFill/>
          <a:ln/>
        </p:spPr>
        <p:txBody>
          <a:bodyPr wrap="square" rtlCol="0" anchor="ctr"/>
          <a:lstStyle/>
          <a:p>
            <a:pPr marL="0" indent="0">
              <a:buNone/>
            </a:pPr>
            <a:r>
              <a:rPr lang="en-US" sz="1600" b="1" dirty="0">
                <a:solidFill>
                  <a:srgbClr val="1B2B54"/>
                </a:solidFill>
                <a:latin typeface="Calibri" pitchFamily="34" charset="0"/>
                <a:ea typeface="Calibri" pitchFamily="34" charset="-122"/>
                <a:cs typeface="Calibri" pitchFamily="34" charset="-120"/>
              </a:rPr>
              <a:t>Team Support</a:t>
            </a:r>
            <a:endParaRPr lang="en-US" sz="1600" dirty="0"/>
          </a:p>
        </p:txBody>
      </p:sp>
      <p:sp>
        <p:nvSpPr>
          <p:cNvPr id="15" name="Text 13"/>
          <p:cNvSpPr/>
          <p:nvPr/>
        </p:nvSpPr>
        <p:spPr>
          <a:xfrm>
            <a:off x="4636008" y="2057400"/>
            <a:ext cx="3200400" cy="457200"/>
          </a:xfrm>
          <a:prstGeom prst="rect">
            <a:avLst/>
          </a:prstGeom>
          <a:noFill/>
          <a:ln/>
        </p:spPr>
        <p:txBody>
          <a:bodyPr wrap="square" rtlCol="0" anchor="ctr"/>
          <a:lstStyle/>
          <a:p>
            <a:pPr marL="0" indent="0">
              <a:buNone/>
            </a:pPr>
            <a:r>
              <a:rPr lang="en-US" sz="1400" dirty="0">
                <a:solidFill>
                  <a:srgbClr val="47516A"/>
                </a:solidFill>
                <a:latin typeface="Calibri" pitchFamily="34" charset="0"/>
                <a:ea typeface="Calibri" pitchFamily="34" charset="-122"/>
                <a:cs typeface="Calibri" pitchFamily="34" charset="-120"/>
              </a:rPr>
              <a:t>Architecture: Tim Medina</a:t>
            </a:r>
            <a:endParaRPr lang="en-US" sz="1400" dirty="0"/>
          </a:p>
        </p:txBody>
      </p:sp>
      <p:sp>
        <p:nvSpPr>
          <p:cNvPr id="16" name="Text 14"/>
          <p:cNvSpPr/>
          <p:nvPr/>
        </p:nvSpPr>
        <p:spPr>
          <a:xfrm>
            <a:off x="4636008" y="2560320"/>
            <a:ext cx="3200400" cy="457200"/>
          </a:xfrm>
          <a:prstGeom prst="rect">
            <a:avLst/>
          </a:prstGeom>
          <a:noFill/>
          <a:ln/>
        </p:spPr>
        <p:txBody>
          <a:bodyPr wrap="square" rtlCol="0" anchor="ctr"/>
          <a:lstStyle/>
          <a:p>
            <a:pPr marL="0" indent="0">
              <a:buNone/>
            </a:pPr>
            <a:r>
              <a:rPr lang="en-US" sz="1400" dirty="0">
                <a:solidFill>
                  <a:srgbClr val="47516A"/>
                </a:solidFill>
                <a:latin typeface="Calibri" pitchFamily="34" charset="0"/>
                <a:ea typeface="Calibri" pitchFamily="34" charset="-122"/>
                <a:cs typeface="Calibri" pitchFamily="34" charset="-120"/>
              </a:rPr>
              <a:t>Infrastructure &amp; CI/CD: Kyle Maggard</a:t>
            </a:r>
            <a:endParaRPr lang="en-US" sz="1400" dirty="0"/>
          </a:p>
        </p:txBody>
      </p:sp>
      <p:sp>
        <p:nvSpPr>
          <p:cNvPr id="17" name="Shape 15"/>
          <p:cNvSpPr/>
          <p:nvPr/>
        </p:nvSpPr>
        <p:spPr>
          <a:xfrm>
            <a:off x="8311896" y="1463040"/>
            <a:ext cx="3474720" cy="4114800"/>
          </a:xfrm>
          <a:prstGeom prst="rect">
            <a:avLst/>
          </a:prstGeom>
          <a:solidFill>
            <a:srgbClr val="E8EAEE"/>
          </a:solidFill>
          <a:ln w="12700">
            <a:solidFill>
              <a:srgbClr val="E8EAEE"/>
            </a:solidFill>
            <a:prstDash val="solid"/>
          </a:ln>
        </p:spPr>
        <p:txBody>
          <a:bodyPr/>
          <a:lstStyle/>
          <a:p>
            <a:endParaRPr lang="en-US"/>
          </a:p>
        </p:txBody>
      </p:sp>
      <p:sp>
        <p:nvSpPr>
          <p:cNvPr id="18" name="Shape 16"/>
          <p:cNvSpPr/>
          <p:nvPr/>
        </p:nvSpPr>
        <p:spPr>
          <a:xfrm>
            <a:off x="8311896" y="1463040"/>
            <a:ext cx="3474720" cy="73152"/>
          </a:xfrm>
          <a:prstGeom prst="rect">
            <a:avLst/>
          </a:prstGeom>
          <a:solidFill>
            <a:srgbClr val="1B2B54"/>
          </a:solidFill>
          <a:ln w="12700">
            <a:solidFill>
              <a:srgbClr val="1B2B54"/>
            </a:solidFill>
            <a:prstDash val="solid"/>
          </a:ln>
        </p:spPr>
        <p:txBody>
          <a:bodyPr/>
          <a:lstStyle/>
          <a:p>
            <a:endParaRPr lang="en-US"/>
          </a:p>
        </p:txBody>
      </p:sp>
      <p:sp>
        <p:nvSpPr>
          <p:cNvPr id="19" name="Text 17"/>
          <p:cNvSpPr/>
          <p:nvPr/>
        </p:nvSpPr>
        <p:spPr>
          <a:xfrm>
            <a:off x="8449056" y="1572768"/>
            <a:ext cx="3200400" cy="411480"/>
          </a:xfrm>
          <a:prstGeom prst="rect">
            <a:avLst/>
          </a:prstGeom>
          <a:noFill/>
          <a:ln/>
        </p:spPr>
        <p:txBody>
          <a:bodyPr wrap="square" rtlCol="0" anchor="ctr"/>
          <a:lstStyle/>
          <a:p>
            <a:pPr marL="0" indent="0">
              <a:buNone/>
            </a:pPr>
            <a:r>
              <a:rPr lang="en-US" sz="1600" b="1" dirty="0">
                <a:solidFill>
                  <a:srgbClr val="1B2B54"/>
                </a:solidFill>
                <a:latin typeface="Calibri" pitchFamily="34" charset="0"/>
                <a:ea typeface="Calibri" pitchFamily="34" charset="-122"/>
                <a:cs typeface="Calibri" pitchFamily="34" charset="-120"/>
              </a:rPr>
              <a:t>Project Scope</a:t>
            </a:r>
            <a:endParaRPr lang="en-US" sz="1600" dirty="0"/>
          </a:p>
        </p:txBody>
      </p:sp>
      <p:sp>
        <p:nvSpPr>
          <p:cNvPr id="20" name="Text 18"/>
          <p:cNvSpPr/>
          <p:nvPr/>
        </p:nvSpPr>
        <p:spPr>
          <a:xfrm>
            <a:off x="8449056" y="2057400"/>
            <a:ext cx="3200400" cy="457200"/>
          </a:xfrm>
          <a:prstGeom prst="rect">
            <a:avLst/>
          </a:prstGeom>
          <a:noFill/>
          <a:ln/>
        </p:spPr>
        <p:txBody>
          <a:bodyPr wrap="square" rtlCol="0" anchor="ctr"/>
          <a:lstStyle/>
          <a:p>
            <a:pPr marL="0" indent="0">
              <a:buNone/>
            </a:pPr>
            <a:r>
              <a:rPr lang="en-US" sz="1400" dirty="0">
                <a:solidFill>
                  <a:srgbClr val="47516A"/>
                </a:solidFill>
                <a:latin typeface="Calibri" pitchFamily="34" charset="0"/>
                <a:ea typeface="Calibri" pitchFamily="34" charset="-122"/>
                <a:cs typeface="Calibri" pitchFamily="34" charset="-120"/>
              </a:rPr>
              <a:t>New microservice development</a:t>
            </a:r>
            <a:endParaRPr lang="en-US" sz="1400" dirty="0"/>
          </a:p>
        </p:txBody>
      </p:sp>
      <p:sp>
        <p:nvSpPr>
          <p:cNvPr id="21" name="Text 19"/>
          <p:cNvSpPr/>
          <p:nvPr/>
        </p:nvSpPr>
        <p:spPr>
          <a:xfrm>
            <a:off x="8449056" y="2560320"/>
            <a:ext cx="3200400" cy="457200"/>
          </a:xfrm>
          <a:prstGeom prst="rect">
            <a:avLst/>
          </a:prstGeom>
          <a:noFill/>
          <a:ln/>
        </p:spPr>
        <p:txBody>
          <a:bodyPr wrap="square" rtlCol="0" anchor="ctr"/>
          <a:lstStyle/>
          <a:p>
            <a:pPr marL="0" indent="0">
              <a:buNone/>
            </a:pPr>
            <a:r>
              <a:rPr lang="en-US" sz="1400" dirty="0">
                <a:solidFill>
                  <a:srgbClr val="47516A"/>
                </a:solidFill>
                <a:latin typeface="Calibri" pitchFamily="34" charset="0"/>
                <a:ea typeface="Calibri" pitchFamily="34" charset="-122"/>
                <a:cs typeface="Calibri" pitchFamily="34" charset="-120"/>
              </a:rPr>
              <a:t>AI-assisted coding with Claude Code + SpecKit</a:t>
            </a:r>
            <a:endParaRPr lang="en-US" sz="1400" dirty="0"/>
          </a:p>
        </p:txBody>
      </p:sp>
      <p:sp>
        <p:nvSpPr>
          <p:cNvPr id="22" name="Text 20"/>
          <p:cNvSpPr/>
          <p:nvPr/>
        </p:nvSpPr>
        <p:spPr>
          <a:xfrm>
            <a:off x="8449056" y="3063240"/>
            <a:ext cx="3200400" cy="457200"/>
          </a:xfrm>
          <a:prstGeom prst="rect">
            <a:avLst/>
          </a:prstGeom>
          <a:noFill/>
          <a:ln/>
        </p:spPr>
        <p:txBody>
          <a:bodyPr wrap="square" rtlCol="0" anchor="ctr"/>
          <a:lstStyle/>
          <a:p>
            <a:pPr marL="0" indent="0">
              <a:buNone/>
            </a:pPr>
            <a:r>
              <a:rPr lang="en-US" sz="1400" dirty="0">
                <a:solidFill>
                  <a:srgbClr val="47516A"/>
                </a:solidFill>
                <a:latin typeface="Calibri" pitchFamily="34" charset="0"/>
                <a:ea typeface="Calibri" pitchFamily="34" charset="-122"/>
                <a:cs typeface="Calibri" pitchFamily="34" charset="-120"/>
              </a:rPr>
              <a:t>Executive Sponsor: Chris Hoffman</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
          </a:xfrm>
          <a:prstGeom prst="rect">
            <a:avLst/>
          </a:prstGeom>
          <a:solidFill>
            <a:srgbClr val="1B2B54"/>
          </a:solidFill>
          <a:ln w="12700">
            <a:solidFill>
              <a:srgbClr val="1B2B54"/>
            </a:solidFill>
            <a:prstDash val="solid"/>
          </a:ln>
        </p:spPr>
        <p:txBody>
          <a:bodyPr/>
          <a:lstStyle/>
          <a:p>
            <a:endParaRPr lang="en-US"/>
          </a:p>
        </p:txBody>
      </p:sp>
      <p:sp>
        <p:nvSpPr>
          <p:cNvPr id="3" name="Text 1"/>
          <p:cNvSpPr/>
          <p:nvPr/>
        </p:nvSpPr>
        <p:spPr>
          <a:xfrm>
            <a:off x="320040" y="0"/>
            <a:ext cx="11521440" cy="6858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Where Did the Time Go?</a:t>
            </a:r>
            <a:endParaRPr lang="en-US" sz="2400" dirty="0"/>
          </a:p>
        </p:txBody>
      </p:sp>
      <p:sp>
        <p:nvSpPr>
          <p:cNvPr id="4" name="Shape 2"/>
          <p:cNvSpPr/>
          <p:nvPr/>
        </p:nvSpPr>
        <p:spPr>
          <a:xfrm>
            <a:off x="320040" y="868680"/>
            <a:ext cx="6005413" cy="914400"/>
          </a:xfrm>
          <a:prstGeom prst="rect">
            <a:avLst/>
          </a:prstGeom>
          <a:solidFill>
            <a:srgbClr val="8B3A3A"/>
          </a:solidFill>
          <a:ln w="12700">
            <a:solidFill>
              <a:srgbClr val="8B3A3A"/>
            </a:solidFill>
            <a:prstDash val="solid"/>
          </a:ln>
        </p:spPr>
        <p:txBody>
          <a:bodyPr/>
          <a:lstStyle/>
          <a:p>
            <a:endParaRPr lang="en-US"/>
          </a:p>
        </p:txBody>
      </p:sp>
      <p:sp>
        <p:nvSpPr>
          <p:cNvPr id="5" name="Text 3"/>
          <p:cNvSpPr/>
          <p:nvPr/>
        </p:nvSpPr>
        <p:spPr>
          <a:xfrm>
            <a:off x="502920" y="960120"/>
            <a:ext cx="5639653" cy="73152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50%+</a:t>
            </a:r>
            <a:endParaRPr lang="en-US" sz="1600" dirty="0"/>
          </a:p>
          <a:p>
            <a:pPr marL="0" indent="0" algn="ctr">
              <a:buNone/>
            </a:pPr>
            <a:r>
              <a:rPr lang="en-US" sz="1600" b="1" dirty="0">
                <a:solidFill>
                  <a:srgbClr val="FFFFFF"/>
                </a:solidFill>
                <a:latin typeface="Calibri" pitchFamily="34" charset="0"/>
                <a:ea typeface="Calibri" pitchFamily="34" charset="-122"/>
                <a:cs typeface="Calibri" pitchFamily="34" charset="-120"/>
              </a:rPr>
              <a:t>Infrastructure &amp; Setup</a:t>
            </a:r>
            <a:endParaRPr lang="en-US" sz="1600" dirty="0"/>
          </a:p>
        </p:txBody>
      </p:sp>
      <p:sp>
        <p:nvSpPr>
          <p:cNvPr id="6" name="Shape 4"/>
          <p:cNvSpPr/>
          <p:nvPr/>
        </p:nvSpPr>
        <p:spPr>
          <a:xfrm>
            <a:off x="6325453" y="868680"/>
            <a:ext cx="5543459" cy="914400"/>
          </a:xfrm>
          <a:prstGeom prst="rect">
            <a:avLst/>
          </a:prstGeom>
          <a:solidFill>
            <a:srgbClr val="2FCC40"/>
          </a:solidFill>
          <a:ln w="12700">
            <a:solidFill>
              <a:srgbClr val="2FCC40"/>
            </a:solidFill>
            <a:prstDash val="solid"/>
          </a:ln>
        </p:spPr>
        <p:txBody>
          <a:bodyPr/>
          <a:lstStyle/>
          <a:p>
            <a:endParaRPr lang="en-US"/>
          </a:p>
        </p:txBody>
      </p:sp>
      <p:sp>
        <p:nvSpPr>
          <p:cNvPr id="7" name="Text 5"/>
          <p:cNvSpPr/>
          <p:nvPr/>
        </p:nvSpPr>
        <p:spPr>
          <a:xfrm>
            <a:off x="6508333" y="960120"/>
            <a:ext cx="5177699" cy="73152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~50%</a:t>
            </a:r>
            <a:endParaRPr lang="en-US" sz="1600" dirty="0"/>
          </a:p>
          <a:p>
            <a:pPr marL="0" indent="0" algn="ctr">
              <a:buNone/>
            </a:pPr>
            <a:r>
              <a:rPr lang="en-US" sz="1600" b="1" dirty="0">
                <a:solidFill>
                  <a:srgbClr val="FFFFFF"/>
                </a:solidFill>
                <a:latin typeface="Calibri" pitchFamily="34" charset="0"/>
                <a:ea typeface="Calibri" pitchFamily="34" charset="-122"/>
                <a:cs typeface="Calibri" pitchFamily="34" charset="-120"/>
              </a:rPr>
              <a:t>Actual Development</a:t>
            </a:r>
            <a:endParaRPr lang="en-US" sz="1600" dirty="0"/>
          </a:p>
        </p:txBody>
      </p:sp>
      <p:sp>
        <p:nvSpPr>
          <p:cNvPr id="8" name="Text 6"/>
          <p:cNvSpPr/>
          <p:nvPr/>
        </p:nvSpPr>
        <p:spPr>
          <a:xfrm>
            <a:off x="320040" y="1920240"/>
            <a:ext cx="11548872" cy="347472"/>
          </a:xfrm>
          <a:prstGeom prst="rect">
            <a:avLst/>
          </a:prstGeom>
          <a:noFill/>
          <a:ln/>
        </p:spPr>
        <p:txBody>
          <a:bodyPr wrap="square" rtlCol="0" anchor="ctr"/>
          <a:lstStyle/>
          <a:p>
            <a:pPr marL="0" indent="0">
              <a:buNone/>
            </a:pPr>
            <a:r>
              <a:rPr lang="en-US" sz="1400" b="1" dirty="0">
                <a:solidFill>
                  <a:srgbClr val="1B2B54"/>
                </a:solidFill>
                <a:latin typeface="Calibri" pitchFamily="34" charset="0"/>
                <a:ea typeface="Calibri" pitchFamily="34" charset="-122"/>
                <a:cs typeface="Calibri" pitchFamily="34" charset="-120"/>
              </a:rPr>
              <a:t>Top 5 Blockers — Ranked by Time Impact</a:t>
            </a:r>
            <a:endParaRPr lang="en-US" sz="1400" dirty="0"/>
          </a:p>
        </p:txBody>
      </p:sp>
      <p:sp>
        <p:nvSpPr>
          <p:cNvPr id="9" name="Shape 7"/>
          <p:cNvSpPr/>
          <p:nvPr/>
        </p:nvSpPr>
        <p:spPr>
          <a:xfrm>
            <a:off x="320040" y="2377440"/>
            <a:ext cx="10058400" cy="320040"/>
          </a:xfrm>
          <a:prstGeom prst="rect">
            <a:avLst/>
          </a:prstGeom>
          <a:solidFill>
            <a:srgbClr val="8B3A3A"/>
          </a:solidFill>
          <a:ln w="12700">
            <a:solidFill>
              <a:srgbClr val="8B3A3A"/>
            </a:solidFill>
            <a:prstDash val="solid"/>
          </a:ln>
        </p:spPr>
        <p:txBody>
          <a:bodyPr/>
          <a:lstStyle/>
          <a:p>
            <a:endParaRPr lang="en-US"/>
          </a:p>
        </p:txBody>
      </p:sp>
      <p:sp>
        <p:nvSpPr>
          <p:cNvPr id="10" name="Text 8"/>
          <p:cNvSpPr/>
          <p:nvPr/>
        </p:nvSpPr>
        <p:spPr>
          <a:xfrm>
            <a:off x="457200" y="2404872"/>
            <a:ext cx="992124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1. Tooling Setup &amp; Configuration</a:t>
            </a:r>
            <a:endParaRPr lang="en-US" sz="1100" dirty="0"/>
          </a:p>
        </p:txBody>
      </p:sp>
      <p:sp>
        <p:nvSpPr>
          <p:cNvPr id="11" name="Text 9"/>
          <p:cNvSpPr/>
          <p:nvPr/>
        </p:nvSpPr>
        <p:spPr>
          <a:xfrm>
            <a:off x="457200" y="2724912"/>
            <a:ext cx="11247120" cy="347472"/>
          </a:xfrm>
          <a:prstGeom prst="rect">
            <a:avLst/>
          </a:prstGeom>
          <a:noFill/>
          <a:ln/>
        </p:spPr>
        <p:txBody>
          <a:bodyPr wrap="square" rtlCol="0" anchor="ctr"/>
          <a:lstStyle/>
          <a:p>
            <a:pPr marL="0" indent="0">
              <a:buNone/>
            </a:pPr>
            <a:r>
              <a:rPr lang="en-US" sz="1100" dirty="0">
                <a:solidFill>
                  <a:srgbClr val="757E98"/>
                </a:solidFill>
                <a:latin typeface="Calibri" pitchFamily="34" charset="0"/>
                <a:ea typeface="Calibri" pitchFamily="34" charset="-122"/>
                <a:cs typeface="Calibri" pitchFamily="34" charset="-120"/>
              </a:rPr>
              <a:t>MCP servers, Docker Desktop, DBeaver — none pre-configured</a:t>
            </a:r>
            <a:endParaRPr lang="en-US" sz="1100" dirty="0"/>
          </a:p>
        </p:txBody>
      </p:sp>
      <p:sp>
        <p:nvSpPr>
          <p:cNvPr id="12" name="Shape 10"/>
          <p:cNvSpPr/>
          <p:nvPr/>
        </p:nvSpPr>
        <p:spPr>
          <a:xfrm>
            <a:off x="320040" y="3182112"/>
            <a:ext cx="8046720" cy="320040"/>
          </a:xfrm>
          <a:prstGeom prst="rect">
            <a:avLst/>
          </a:prstGeom>
          <a:solidFill>
            <a:srgbClr val="8B3A3A"/>
          </a:solidFill>
          <a:ln w="12700">
            <a:solidFill>
              <a:srgbClr val="8B3A3A"/>
            </a:solidFill>
            <a:prstDash val="solid"/>
          </a:ln>
        </p:spPr>
        <p:txBody>
          <a:bodyPr/>
          <a:lstStyle/>
          <a:p>
            <a:endParaRPr lang="en-US"/>
          </a:p>
        </p:txBody>
      </p:sp>
      <p:sp>
        <p:nvSpPr>
          <p:cNvPr id="13" name="Text 11"/>
          <p:cNvSpPr/>
          <p:nvPr/>
        </p:nvSpPr>
        <p:spPr>
          <a:xfrm>
            <a:off x="457200" y="3209544"/>
            <a:ext cx="790956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2. IT Ticket Overhead</a:t>
            </a:r>
            <a:endParaRPr lang="en-US" sz="1100" dirty="0"/>
          </a:p>
        </p:txBody>
      </p:sp>
      <p:sp>
        <p:nvSpPr>
          <p:cNvPr id="14" name="Text 12"/>
          <p:cNvSpPr/>
          <p:nvPr/>
        </p:nvSpPr>
        <p:spPr>
          <a:xfrm>
            <a:off x="457200" y="3529584"/>
            <a:ext cx="11247120" cy="347472"/>
          </a:xfrm>
          <a:prstGeom prst="rect">
            <a:avLst/>
          </a:prstGeom>
          <a:noFill/>
          <a:ln/>
        </p:spPr>
        <p:txBody>
          <a:bodyPr wrap="square" rtlCol="0" anchor="ctr"/>
          <a:lstStyle/>
          <a:p>
            <a:pPr marL="0" indent="0">
              <a:buNone/>
            </a:pPr>
            <a:r>
              <a:rPr lang="en-US" sz="1100" dirty="0">
                <a:solidFill>
                  <a:srgbClr val="757E98"/>
                </a:solidFill>
                <a:latin typeface="Calibri" pitchFamily="34" charset="0"/>
                <a:ea typeface="Calibri" pitchFamily="34" charset="-122"/>
                <a:cs typeface="Calibri" pitchFamily="34" charset="-120"/>
              </a:rPr>
              <a:t>~5-6 formal tickets + ~30 unlocks = 35 access requests for one engineer</a:t>
            </a:r>
            <a:endParaRPr lang="en-US" sz="1100" dirty="0"/>
          </a:p>
        </p:txBody>
      </p:sp>
      <p:sp>
        <p:nvSpPr>
          <p:cNvPr id="15" name="Shape 13"/>
          <p:cNvSpPr/>
          <p:nvPr/>
        </p:nvSpPr>
        <p:spPr>
          <a:xfrm>
            <a:off x="320040" y="3986784"/>
            <a:ext cx="6583680" cy="320040"/>
          </a:xfrm>
          <a:prstGeom prst="rect">
            <a:avLst/>
          </a:prstGeom>
          <a:solidFill>
            <a:srgbClr val="8B3A3A"/>
          </a:solidFill>
          <a:ln w="12700">
            <a:solidFill>
              <a:srgbClr val="8B3A3A"/>
            </a:solidFill>
            <a:prstDash val="solid"/>
          </a:ln>
        </p:spPr>
        <p:txBody>
          <a:bodyPr/>
          <a:lstStyle/>
          <a:p>
            <a:endParaRPr lang="en-US"/>
          </a:p>
        </p:txBody>
      </p:sp>
      <p:sp>
        <p:nvSpPr>
          <p:cNvPr id="16" name="Text 14"/>
          <p:cNvSpPr/>
          <p:nvPr/>
        </p:nvSpPr>
        <p:spPr>
          <a:xfrm>
            <a:off x="457200" y="4014216"/>
            <a:ext cx="644652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3. Environment Configuration</a:t>
            </a:r>
            <a:endParaRPr lang="en-US" sz="1100" dirty="0"/>
          </a:p>
        </p:txBody>
      </p:sp>
      <p:sp>
        <p:nvSpPr>
          <p:cNvPr id="17" name="Text 15"/>
          <p:cNvSpPr/>
          <p:nvPr/>
        </p:nvSpPr>
        <p:spPr>
          <a:xfrm>
            <a:off x="457200" y="4334256"/>
            <a:ext cx="11247120" cy="347472"/>
          </a:xfrm>
          <a:prstGeom prst="rect">
            <a:avLst/>
          </a:prstGeom>
          <a:noFill/>
          <a:ln/>
        </p:spPr>
        <p:txBody>
          <a:bodyPr wrap="square" rtlCol="0" anchor="ctr"/>
          <a:lstStyle/>
          <a:p>
            <a:pPr marL="0" indent="0">
              <a:buNone/>
            </a:pPr>
            <a:r>
              <a:rPr lang="en-US" sz="1100" dirty="0">
                <a:solidFill>
                  <a:srgbClr val="757E98"/>
                </a:solidFill>
                <a:latin typeface="Calibri" pitchFamily="34" charset="0"/>
                <a:ea typeface="Calibri" pitchFamily="34" charset="-122"/>
                <a:cs typeface="Calibri" pitchFamily="34" charset="-120"/>
              </a:rPr>
              <a:t>DB connectivity crisis — multiple repos creating secrets with no coordination</a:t>
            </a:r>
            <a:endParaRPr lang="en-US" sz="1100" dirty="0"/>
          </a:p>
        </p:txBody>
      </p:sp>
      <p:sp>
        <p:nvSpPr>
          <p:cNvPr id="18" name="Shape 16"/>
          <p:cNvSpPr/>
          <p:nvPr/>
        </p:nvSpPr>
        <p:spPr>
          <a:xfrm>
            <a:off x="320040" y="4791456"/>
            <a:ext cx="5303520" cy="320040"/>
          </a:xfrm>
          <a:prstGeom prst="rect">
            <a:avLst/>
          </a:prstGeom>
          <a:solidFill>
            <a:srgbClr val="8B3A3A"/>
          </a:solidFill>
          <a:ln w="12700">
            <a:solidFill>
              <a:srgbClr val="8B3A3A"/>
            </a:solidFill>
            <a:prstDash val="solid"/>
          </a:ln>
        </p:spPr>
        <p:txBody>
          <a:bodyPr/>
          <a:lstStyle/>
          <a:p>
            <a:endParaRPr lang="en-US"/>
          </a:p>
        </p:txBody>
      </p:sp>
      <p:sp>
        <p:nvSpPr>
          <p:cNvPr id="19" name="Text 17"/>
          <p:cNvSpPr/>
          <p:nvPr/>
        </p:nvSpPr>
        <p:spPr>
          <a:xfrm>
            <a:off x="457200" y="4818888"/>
            <a:ext cx="516636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4. CI/CD Pipeline Issues</a:t>
            </a:r>
            <a:endParaRPr lang="en-US" sz="1100" dirty="0"/>
          </a:p>
        </p:txBody>
      </p:sp>
      <p:sp>
        <p:nvSpPr>
          <p:cNvPr id="20" name="Text 18"/>
          <p:cNvSpPr/>
          <p:nvPr/>
        </p:nvSpPr>
        <p:spPr>
          <a:xfrm>
            <a:off x="457200" y="5138928"/>
            <a:ext cx="11247120" cy="347472"/>
          </a:xfrm>
          <a:prstGeom prst="rect">
            <a:avLst/>
          </a:prstGeom>
          <a:noFill/>
          <a:ln/>
        </p:spPr>
        <p:txBody>
          <a:bodyPr wrap="square" rtlCol="0" anchor="ctr"/>
          <a:lstStyle/>
          <a:p>
            <a:pPr marL="0" indent="0">
              <a:buNone/>
            </a:pPr>
            <a:r>
              <a:rPr lang="en-US" sz="1100" dirty="0">
                <a:solidFill>
                  <a:srgbClr val="757E98"/>
                </a:solidFill>
                <a:latin typeface="Calibri" pitchFamily="34" charset="0"/>
                <a:ea typeface="Calibri" pitchFamily="34" charset="-122"/>
                <a:cs typeface="Calibri" pitchFamily="34" charset="-120"/>
              </a:rPr>
              <a:t>Jenkins-to-CircleCI migration confusion, legacy files, 10-min deploy cycles</a:t>
            </a:r>
            <a:endParaRPr lang="en-US" sz="1100" dirty="0"/>
          </a:p>
        </p:txBody>
      </p:sp>
      <p:sp>
        <p:nvSpPr>
          <p:cNvPr id="21" name="Shape 19"/>
          <p:cNvSpPr/>
          <p:nvPr/>
        </p:nvSpPr>
        <p:spPr>
          <a:xfrm>
            <a:off x="320040" y="5596128"/>
            <a:ext cx="4114800" cy="320040"/>
          </a:xfrm>
          <a:prstGeom prst="rect">
            <a:avLst/>
          </a:prstGeom>
          <a:solidFill>
            <a:srgbClr val="8B3A3A"/>
          </a:solidFill>
          <a:ln w="12700">
            <a:solidFill>
              <a:srgbClr val="8B3A3A"/>
            </a:solidFill>
            <a:prstDash val="solid"/>
          </a:ln>
        </p:spPr>
        <p:txBody>
          <a:bodyPr/>
          <a:lstStyle/>
          <a:p>
            <a:endParaRPr lang="en-US"/>
          </a:p>
        </p:txBody>
      </p:sp>
      <p:sp>
        <p:nvSpPr>
          <p:cNvPr id="22" name="Text 20"/>
          <p:cNvSpPr/>
          <p:nvPr/>
        </p:nvSpPr>
        <p:spPr>
          <a:xfrm>
            <a:off x="457200" y="5623560"/>
            <a:ext cx="397764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5. Routing &amp; Deployment Failures</a:t>
            </a:r>
            <a:endParaRPr lang="en-US" sz="1100" dirty="0"/>
          </a:p>
        </p:txBody>
      </p:sp>
      <p:sp>
        <p:nvSpPr>
          <p:cNvPr id="23" name="Text 21"/>
          <p:cNvSpPr/>
          <p:nvPr/>
        </p:nvSpPr>
        <p:spPr>
          <a:xfrm>
            <a:off x="457200" y="5943600"/>
            <a:ext cx="11247120" cy="347472"/>
          </a:xfrm>
          <a:prstGeom prst="rect">
            <a:avLst/>
          </a:prstGeom>
          <a:noFill/>
          <a:ln/>
        </p:spPr>
        <p:txBody>
          <a:bodyPr wrap="square" rtlCol="0" anchor="ctr"/>
          <a:lstStyle/>
          <a:p>
            <a:pPr marL="0" indent="0">
              <a:buNone/>
            </a:pPr>
            <a:r>
              <a:rPr lang="en-US" sz="1100" dirty="0">
                <a:solidFill>
                  <a:srgbClr val="757E98"/>
                </a:solidFill>
                <a:latin typeface="Calibri" pitchFamily="34" charset="0"/>
                <a:ea typeface="Calibri" pitchFamily="34" charset="-122"/>
                <a:cs typeface="Calibri" pitchFamily="34" charset="-120"/>
              </a:rPr>
              <a:t>K8s pods green but endpoints unreachable — recurring pattern</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
          </a:xfrm>
          <a:prstGeom prst="rect">
            <a:avLst/>
          </a:prstGeom>
          <a:solidFill>
            <a:srgbClr val="1B2B54"/>
          </a:solidFill>
          <a:ln w="12700">
            <a:solidFill>
              <a:srgbClr val="1B2B54"/>
            </a:solidFill>
            <a:prstDash val="solid"/>
          </a:ln>
        </p:spPr>
        <p:txBody>
          <a:bodyPr/>
          <a:lstStyle/>
          <a:p>
            <a:endParaRPr lang="en-US"/>
          </a:p>
        </p:txBody>
      </p:sp>
      <p:sp>
        <p:nvSpPr>
          <p:cNvPr id="3" name="Text 1"/>
          <p:cNvSpPr/>
          <p:nvPr/>
        </p:nvSpPr>
        <p:spPr>
          <a:xfrm>
            <a:off x="320040" y="0"/>
            <a:ext cx="11521440" cy="6858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What Went Well</a:t>
            </a:r>
            <a:endParaRPr lang="en-US" sz="2400" dirty="0"/>
          </a:p>
        </p:txBody>
      </p:sp>
      <p:sp>
        <p:nvSpPr>
          <p:cNvPr id="4" name="Shape 2"/>
          <p:cNvSpPr/>
          <p:nvPr/>
        </p:nvSpPr>
        <p:spPr>
          <a:xfrm>
            <a:off x="320040" y="1033272"/>
            <a:ext cx="411480" cy="411480"/>
          </a:xfrm>
          <a:prstGeom prst="ellipse">
            <a:avLst/>
          </a:prstGeom>
          <a:solidFill>
            <a:srgbClr val="2FCC40"/>
          </a:solidFill>
          <a:ln w="12700">
            <a:solidFill>
              <a:srgbClr val="2FCC40"/>
            </a:solidFill>
            <a:prstDash val="solid"/>
          </a:ln>
        </p:spPr>
        <p:txBody>
          <a:bodyPr/>
          <a:lstStyle/>
          <a:p>
            <a:endParaRPr lang="en-US"/>
          </a:p>
        </p:txBody>
      </p:sp>
      <p:sp>
        <p:nvSpPr>
          <p:cNvPr id="5" name="Text 3"/>
          <p:cNvSpPr/>
          <p:nvPr/>
        </p:nvSpPr>
        <p:spPr>
          <a:xfrm>
            <a:off x="320040" y="1033272"/>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6" name="Shape 4"/>
          <p:cNvSpPr/>
          <p:nvPr/>
        </p:nvSpPr>
        <p:spPr>
          <a:xfrm>
            <a:off x="868680" y="868680"/>
            <a:ext cx="10881360" cy="777240"/>
          </a:xfrm>
          <a:prstGeom prst="rect">
            <a:avLst/>
          </a:prstGeom>
          <a:solidFill>
            <a:srgbClr val="F5F6F8"/>
          </a:solidFill>
          <a:ln w="12700">
            <a:solidFill>
              <a:srgbClr val="E0E2E8"/>
            </a:solidFill>
            <a:prstDash val="solid"/>
          </a:ln>
        </p:spPr>
        <p:txBody>
          <a:bodyPr/>
          <a:lstStyle/>
          <a:p>
            <a:endParaRPr lang="en-US"/>
          </a:p>
        </p:txBody>
      </p:sp>
      <p:sp>
        <p:nvSpPr>
          <p:cNvPr id="7" name="Text 5"/>
          <p:cNvSpPr/>
          <p:nvPr/>
        </p:nvSpPr>
        <p:spPr>
          <a:xfrm>
            <a:off x="1005840" y="914400"/>
            <a:ext cx="10561320" cy="685800"/>
          </a:xfrm>
          <a:prstGeom prst="rect">
            <a:avLst/>
          </a:prstGeom>
          <a:noFill/>
          <a:ln/>
        </p:spPr>
        <p:txBody>
          <a:bodyPr wrap="square" rtlCol="0" anchor="ctr"/>
          <a:lstStyle/>
          <a:p>
            <a:pPr marL="0" indent="0">
              <a:buNone/>
            </a:pPr>
            <a:r>
              <a:rPr lang="en-US" sz="1300" b="1" dirty="0">
                <a:solidFill>
                  <a:srgbClr val="1B2B54"/>
                </a:solidFill>
                <a:latin typeface="Calibri" pitchFamily="34" charset="0"/>
                <a:ea typeface="Calibri" pitchFamily="34" charset="-122"/>
                <a:cs typeface="Calibri" pitchFamily="34" charset="-120"/>
              </a:rPr>
              <a:t>AI output quality with proper context</a:t>
            </a:r>
            <a:r>
              <a:rPr lang="en-US" sz="1300" dirty="0">
                <a:solidFill>
                  <a:srgbClr val="47516A"/>
                </a:solidFill>
                <a:latin typeface="Calibri" pitchFamily="34" charset="0"/>
                <a:ea typeface="Calibri" pitchFamily="34" charset="-122"/>
                <a:cs typeface="Calibri" pitchFamily="34" charset="-120"/>
              </a:rPr>
              <a:t> — When given existing table structures and event formats, agents produced functional schemas with proper patterns</a:t>
            </a:r>
            <a:endParaRPr lang="en-US" sz="1300" dirty="0"/>
          </a:p>
        </p:txBody>
      </p:sp>
      <p:sp>
        <p:nvSpPr>
          <p:cNvPr id="8" name="Shape 6"/>
          <p:cNvSpPr/>
          <p:nvPr/>
        </p:nvSpPr>
        <p:spPr>
          <a:xfrm>
            <a:off x="320040" y="1929384"/>
            <a:ext cx="411480" cy="411480"/>
          </a:xfrm>
          <a:prstGeom prst="ellipse">
            <a:avLst/>
          </a:prstGeom>
          <a:solidFill>
            <a:srgbClr val="2FCC40"/>
          </a:solidFill>
          <a:ln w="12700">
            <a:solidFill>
              <a:srgbClr val="2FCC40"/>
            </a:solidFill>
            <a:prstDash val="solid"/>
          </a:ln>
        </p:spPr>
        <p:txBody>
          <a:bodyPr/>
          <a:lstStyle/>
          <a:p>
            <a:endParaRPr lang="en-US"/>
          </a:p>
        </p:txBody>
      </p:sp>
      <p:sp>
        <p:nvSpPr>
          <p:cNvPr id="9" name="Text 7"/>
          <p:cNvSpPr/>
          <p:nvPr/>
        </p:nvSpPr>
        <p:spPr>
          <a:xfrm>
            <a:off x="320040" y="1929384"/>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0" name="Shape 8"/>
          <p:cNvSpPr/>
          <p:nvPr/>
        </p:nvSpPr>
        <p:spPr>
          <a:xfrm>
            <a:off x="868680" y="1764792"/>
            <a:ext cx="10881360" cy="777240"/>
          </a:xfrm>
          <a:prstGeom prst="rect">
            <a:avLst/>
          </a:prstGeom>
          <a:solidFill>
            <a:srgbClr val="FFFFFF"/>
          </a:solidFill>
          <a:ln w="12700">
            <a:solidFill>
              <a:srgbClr val="E0E2E8"/>
            </a:solidFill>
            <a:prstDash val="solid"/>
          </a:ln>
        </p:spPr>
        <p:txBody>
          <a:bodyPr/>
          <a:lstStyle/>
          <a:p>
            <a:endParaRPr lang="en-US"/>
          </a:p>
        </p:txBody>
      </p:sp>
      <p:sp>
        <p:nvSpPr>
          <p:cNvPr id="11" name="Text 9"/>
          <p:cNvSpPr/>
          <p:nvPr/>
        </p:nvSpPr>
        <p:spPr>
          <a:xfrm>
            <a:off x="1005840" y="1810512"/>
            <a:ext cx="10561320" cy="685800"/>
          </a:xfrm>
          <a:prstGeom prst="rect">
            <a:avLst/>
          </a:prstGeom>
          <a:noFill/>
          <a:ln/>
        </p:spPr>
        <p:txBody>
          <a:bodyPr wrap="square" rtlCol="0" anchor="ctr"/>
          <a:lstStyle/>
          <a:p>
            <a:pPr marL="0" indent="0">
              <a:buNone/>
            </a:pPr>
            <a:r>
              <a:rPr lang="en-US" sz="1300" b="1" dirty="0">
                <a:solidFill>
                  <a:srgbClr val="1B2B54"/>
                </a:solidFill>
                <a:latin typeface="Calibri" pitchFamily="34" charset="0"/>
                <a:ea typeface="Calibri" pitchFamily="34" charset="-122"/>
                <a:cs typeface="Calibri" pitchFamily="34" charset="-120"/>
              </a:rPr>
              <a:t>Product owner engagement</a:t>
            </a:r>
            <a:r>
              <a:rPr lang="en-US" sz="1300" dirty="0">
                <a:solidFill>
                  <a:srgbClr val="47516A"/>
                </a:solidFill>
                <a:latin typeface="Calibri" pitchFamily="34" charset="0"/>
                <a:ea typeface="Calibri" pitchFamily="34" charset="-122"/>
                <a:cs typeface="Calibri" pitchFamily="34" charset="-120"/>
              </a:rPr>
              <a:t> — Lauren: "Oh wow, this is really cool"</a:t>
            </a:r>
            <a:endParaRPr lang="en-US" sz="1300" dirty="0"/>
          </a:p>
        </p:txBody>
      </p:sp>
      <p:sp>
        <p:nvSpPr>
          <p:cNvPr id="12" name="Shape 10"/>
          <p:cNvSpPr/>
          <p:nvPr/>
        </p:nvSpPr>
        <p:spPr>
          <a:xfrm>
            <a:off x="320040" y="2825496"/>
            <a:ext cx="411480" cy="411480"/>
          </a:xfrm>
          <a:prstGeom prst="ellipse">
            <a:avLst/>
          </a:prstGeom>
          <a:solidFill>
            <a:srgbClr val="2FCC40"/>
          </a:solidFill>
          <a:ln w="12700">
            <a:solidFill>
              <a:srgbClr val="2FCC40"/>
            </a:solidFill>
            <a:prstDash val="solid"/>
          </a:ln>
        </p:spPr>
        <p:txBody>
          <a:bodyPr/>
          <a:lstStyle/>
          <a:p>
            <a:endParaRPr lang="en-US"/>
          </a:p>
        </p:txBody>
      </p:sp>
      <p:sp>
        <p:nvSpPr>
          <p:cNvPr id="13" name="Text 11"/>
          <p:cNvSpPr/>
          <p:nvPr/>
        </p:nvSpPr>
        <p:spPr>
          <a:xfrm>
            <a:off x="320040" y="2825496"/>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4" name="Shape 12"/>
          <p:cNvSpPr/>
          <p:nvPr/>
        </p:nvSpPr>
        <p:spPr>
          <a:xfrm>
            <a:off x="868680" y="2660904"/>
            <a:ext cx="10881360" cy="777240"/>
          </a:xfrm>
          <a:prstGeom prst="rect">
            <a:avLst/>
          </a:prstGeom>
          <a:solidFill>
            <a:srgbClr val="F5F6F8"/>
          </a:solidFill>
          <a:ln w="12700">
            <a:solidFill>
              <a:srgbClr val="E0E2E8"/>
            </a:solidFill>
            <a:prstDash val="solid"/>
          </a:ln>
        </p:spPr>
        <p:txBody>
          <a:bodyPr/>
          <a:lstStyle/>
          <a:p>
            <a:endParaRPr lang="en-US"/>
          </a:p>
        </p:txBody>
      </p:sp>
      <p:sp>
        <p:nvSpPr>
          <p:cNvPr id="15" name="Text 13"/>
          <p:cNvSpPr/>
          <p:nvPr/>
        </p:nvSpPr>
        <p:spPr>
          <a:xfrm>
            <a:off x="1005840" y="2706624"/>
            <a:ext cx="10561320" cy="685800"/>
          </a:xfrm>
          <a:prstGeom prst="rect">
            <a:avLst/>
          </a:prstGeom>
          <a:noFill/>
          <a:ln/>
        </p:spPr>
        <p:txBody>
          <a:bodyPr wrap="square" rtlCol="0" anchor="ctr"/>
          <a:lstStyle/>
          <a:p>
            <a:pPr marL="0" indent="0">
              <a:buNone/>
            </a:pPr>
            <a:r>
              <a:rPr lang="en-US" sz="1300" b="1" dirty="0">
                <a:solidFill>
                  <a:srgbClr val="1B2B54"/>
                </a:solidFill>
                <a:latin typeface="Calibri" pitchFamily="34" charset="0"/>
                <a:ea typeface="Calibri" pitchFamily="34" charset="-122"/>
                <a:cs typeface="Calibri" pitchFamily="34" charset="-120"/>
              </a:rPr>
              <a:t>Executive validation</a:t>
            </a:r>
            <a:r>
              <a:rPr lang="en-US" sz="1300" dirty="0">
                <a:solidFill>
                  <a:srgbClr val="47516A"/>
                </a:solidFill>
                <a:latin typeface="Calibri" pitchFamily="34" charset="0"/>
                <a:ea typeface="Calibri" pitchFamily="34" charset="-122"/>
                <a:cs typeface="Calibri" pitchFamily="34" charset="-120"/>
              </a:rPr>
              <a:t> — Bobby asked Krista if she'd go back to the old process. She said: "No way — I want to continue using this"</a:t>
            </a:r>
            <a:endParaRPr lang="en-US" sz="1300" dirty="0"/>
          </a:p>
        </p:txBody>
      </p:sp>
      <p:sp>
        <p:nvSpPr>
          <p:cNvPr id="16" name="Shape 14"/>
          <p:cNvSpPr/>
          <p:nvPr/>
        </p:nvSpPr>
        <p:spPr>
          <a:xfrm>
            <a:off x="320040" y="3721608"/>
            <a:ext cx="411480" cy="411480"/>
          </a:xfrm>
          <a:prstGeom prst="ellipse">
            <a:avLst/>
          </a:prstGeom>
          <a:solidFill>
            <a:srgbClr val="2FCC40"/>
          </a:solidFill>
          <a:ln w="12700">
            <a:solidFill>
              <a:srgbClr val="2FCC40"/>
            </a:solidFill>
            <a:prstDash val="solid"/>
          </a:ln>
        </p:spPr>
        <p:txBody>
          <a:bodyPr/>
          <a:lstStyle/>
          <a:p>
            <a:endParaRPr lang="en-US"/>
          </a:p>
        </p:txBody>
      </p:sp>
      <p:sp>
        <p:nvSpPr>
          <p:cNvPr id="17" name="Text 15"/>
          <p:cNvSpPr/>
          <p:nvPr/>
        </p:nvSpPr>
        <p:spPr>
          <a:xfrm>
            <a:off x="320040" y="3721608"/>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8" name="Shape 16"/>
          <p:cNvSpPr/>
          <p:nvPr/>
        </p:nvSpPr>
        <p:spPr>
          <a:xfrm>
            <a:off x="868680" y="3557016"/>
            <a:ext cx="10881360" cy="777240"/>
          </a:xfrm>
          <a:prstGeom prst="rect">
            <a:avLst/>
          </a:prstGeom>
          <a:solidFill>
            <a:srgbClr val="FFFFFF"/>
          </a:solidFill>
          <a:ln w="12700">
            <a:solidFill>
              <a:srgbClr val="E0E2E8"/>
            </a:solidFill>
            <a:prstDash val="solid"/>
          </a:ln>
        </p:spPr>
        <p:txBody>
          <a:bodyPr/>
          <a:lstStyle/>
          <a:p>
            <a:endParaRPr lang="en-US"/>
          </a:p>
        </p:txBody>
      </p:sp>
      <p:sp>
        <p:nvSpPr>
          <p:cNvPr id="19" name="Text 17"/>
          <p:cNvSpPr/>
          <p:nvPr/>
        </p:nvSpPr>
        <p:spPr>
          <a:xfrm>
            <a:off x="1005840" y="3602736"/>
            <a:ext cx="10561320" cy="685800"/>
          </a:xfrm>
          <a:prstGeom prst="rect">
            <a:avLst/>
          </a:prstGeom>
          <a:noFill/>
          <a:ln/>
        </p:spPr>
        <p:txBody>
          <a:bodyPr wrap="square" rtlCol="0" anchor="ctr"/>
          <a:lstStyle/>
          <a:p>
            <a:pPr marL="0" indent="0">
              <a:buNone/>
            </a:pPr>
            <a:r>
              <a:rPr lang="en-US" sz="1300" b="1" dirty="0">
                <a:solidFill>
                  <a:srgbClr val="1B2B54"/>
                </a:solidFill>
                <a:latin typeface="Calibri" pitchFamily="34" charset="0"/>
                <a:ea typeface="Calibri" pitchFamily="34" charset="-122"/>
                <a:cs typeface="Calibri" pitchFamily="34" charset="-120"/>
              </a:rPr>
              <a:t>Team collaboration</a:t>
            </a:r>
            <a:r>
              <a:rPr lang="en-US" sz="1300" dirty="0">
                <a:solidFill>
                  <a:srgbClr val="47516A"/>
                </a:solidFill>
                <a:latin typeface="Calibri" pitchFamily="34" charset="0"/>
                <a:ea typeface="Calibri" pitchFamily="34" charset="-122"/>
                <a:cs typeface="Calibri" pitchFamily="34" charset="-120"/>
              </a:rPr>
              <a:t> — Strong cross-functional engagement once technical barriers resolved</a:t>
            </a:r>
            <a:endParaRPr lang="en-US" sz="1300" dirty="0"/>
          </a:p>
        </p:txBody>
      </p:sp>
      <p:sp>
        <p:nvSpPr>
          <p:cNvPr id="20" name="Shape 18"/>
          <p:cNvSpPr/>
          <p:nvPr/>
        </p:nvSpPr>
        <p:spPr>
          <a:xfrm>
            <a:off x="320040" y="4617720"/>
            <a:ext cx="411480" cy="411480"/>
          </a:xfrm>
          <a:prstGeom prst="ellipse">
            <a:avLst/>
          </a:prstGeom>
          <a:solidFill>
            <a:srgbClr val="2FCC40"/>
          </a:solidFill>
          <a:ln w="12700">
            <a:solidFill>
              <a:srgbClr val="2FCC40"/>
            </a:solidFill>
            <a:prstDash val="solid"/>
          </a:ln>
        </p:spPr>
        <p:txBody>
          <a:bodyPr/>
          <a:lstStyle/>
          <a:p>
            <a:endParaRPr lang="en-US"/>
          </a:p>
        </p:txBody>
      </p:sp>
      <p:sp>
        <p:nvSpPr>
          <p:cNvPr id="21" name="Text 19"/>
          <p:cNvSpPr/>
          <p:nvPr/>
        </p:nvSpPr>
        <p:spPr>
          <a:xfrm>
            <a:off x="320040" y="461772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2" name="Shape 20"/>
          <p:cNvSpPr/>
          <p:nvPr/>
        </p:nvSpPr>
        <p:spPr>
          <a:xfrm>
            <a:off x="868680" y="4453128"/>
            <a:ext cx="10881360" cy="777240"/>
          </a:xfrm>
          <a:prstGeom prst="rect">
            <a:avLst/>
          </a:prstGeom>
          <a:solidFill>
            <a:srgbClr val="F5F6F8"/>
          </a:solidFill>
          <a:ln w="12700">
            <a:solidFill>
              <a:srgbClr val="E0E2E8"/>
            </a:solidFill>
            <a:prstDash val="solid"/>
          </a:ln>
        </p:spPr>
        <p:txBody>
          <a:bodyPr/>
          <a:lstStyle/>
          <a:p>
            <a:endParaRPr lang="en-US"/>
          </a:p>
        </p:txBody>
      </p:sp>
      <p:sp>
        <p:nvSpPr>
          <p:cNvPr id="23" name="Text 21"/>
          <p:cNvSpPr/>
          <p:nvPr/>
        </p:nvSpPr>
        <p:spPr>
          <a:xfrm>
            <a:off x="1005840" y="4498848"/>
            <a:ext cx="10561320" cy="685800"/>
          </a:xfrm>
          <a:prstGeom prst="rect">
            <a:avLst/>
          </a:prstGeom>
          <a:noFill/>
          <a:ln/>
        </p:spPr>
        <p:txBody>
          <a:bodyPr wrap="square" rtlCol="0" anchor="ctr"/>
          <a:lstStyle/>
          <a:p>
            <a:pPr marL="0" indent="0">
              <a:buNone/>
            </a:pPr>
            <a:r>
              <a:rPr lang="en-US" sz="1300" b="1" dirty="0">
                <a:solidFill>
                  <a:srgbClr val="1B2B54"/>
                </a:solidFill>
                <a:latin typeface="Calibri" pitchFamily="34" charset="0"/>
                <a:ea typeface="Calibri" pitchFamily="34" charset="-122"/>
                <a:cs typeface="Calibri" pitchFamily="34" charset="-120"/>
              </a:rPr>
              <a:t>Infrastructure automation vision</a:t>
            </a:r>
            <a:r>
              <a:rPr lang="en-US" sz="1300" dirty="0">
                <a:solidFill>
                  <a:srgbClr val="47516A"/>
                </a:solidFill>
                <a:latin typeface="Calibri" pitchFamily="34" charset="0"/>
                <a:ea typeface="Calibri" pitchFamily="34" charset="-122"/>
                <a:cs typeface="Calibri" pitchFamily="34" charset="-120"/>
              </a:rPr>
              <a:t> — Kyle worked until 2am on pipeline improvements — team commitment to solving this permanently</a:t>
            </a:r>
            <a:endParaRPr lang="en-US" sz="1300" dirty="0"/>
          </a:p>
        </p:txBody>
      </p:sp>
      <p:sp>
        <p:nvSpPr>
          <p:cNvPr id="24" name="Shape 22"/>
          <p:cNvSpPr/>
          <p:nvPr/>
        </p:nvSpPr>
        <p:spPr>
          <a:xfrm>
            <a:off x="320040" y="5513832"/>
            <a:ext cx="411480" cy="411480"/>
          </a:xfrm>
          <a:prstGeom prst="ellipse">
            <a:avLst/>
          </a:prstGeom>
          <a:solidFill>
            <a:srgbClr val="2FCC40"/>
          </a:solidFill>
          <a:ln w="12700">
            <a:solidFill>
              <a:srgbClr val="2FCC40"/>
            </a:solidFill>
            <a:prstDash val="solid"/>
          </a:ln>
        </p:spPr>
        <p:txBody>
          <a:bodyPr/>
          <a:lstStyle/>
          <a:p>
            <a:endParaRPr lang="en-US"/>
          </a:p>
        </p:txBody>
      </p:sp>
      <p:sp>
        <p:nvSpPr>
          <p:cNvPr id="25" name="Text 23"/>
          <p:cNvSpPr/>
          <p:nvPr/>
        </p:nvSpPr>
        <p:spPr>
          <a:xfrm>
            <a:off x="320040" y="5513832"/>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6" name="Shape 24"/>
          <p:cNvSpPr/>
          <p:nvPr/>
        </p:nvSpPr>
        <p:spPr>
          <a:xfrm>
            <a:off x="868680" y="5349240"/>
            <a:ext cx="10881360" cy="777240"/>
          </a:xfrm>
          <a:prstGeom prst="rect">
            <a:avLst/>
          </a:prstGeom>
          <a:solidFill>
            <a:srgbClr val="FFFFFF"/>
          </a:solidFill>
          <a:ln w="12700">
            <a:solidFill>
              <a:srgbClr val="E0E2E8"/>
            </a:solidFill>
            <a:prstDash val="solid"/>
          </a:ln>
        </p:spPr>
        <p:txBody>
          <a:bodyPr/>
          <a:lstStyle/>
          <a:p>
            <a:endParaRPr lang="en-US"/>
          </a:p>
        </p:txBody>
      </p:sp>
      <p:sp>
        <p:nvSpPr>
          <p:cNvPr id="27" name="Text 25"/>
          <p:cNvSpPr/>
          <p:nvPr/>
        </p:nvSpPr>
        <p:spPr>
          <a:xfrm>
            <a:off x="1005840" y="5394960"/>
            <a:ext cx="10561320" cy="685800"/>
          </a:xfrm>
          <a:prstGeom prst="rect">
            <a:avLst/>
          </a:prstGeom>
          <a:noFill/>
          <a:ln/>
        </p:spPr>
        <p:txBody>
          <a:bodyPr wrap="square" rtlCol="0" anchor="ctr"/>
          <a:lstStyle/>
          <a:p>
            <a:pPr marL="0" indent="0">
              <a:buNone/>
            </a:pPr>
            <a:r>
              <a:rPr lang="en-US" sz="1300" b="1" dirty="0">
                <a:solidFill>
                  <a:srgbClr val="1B2B54"/>
                </a:solidFill>
                <a:latin typeface="Calibri" pitchFamily="34" charset="0"/>
                <a:ea typeface="Calibri" pitchFamily="34" charset="-122"/>
                <a:cs typeface="Calibri" pitchFamily="34" charset="-120"/>
              </a:rPr>
              <a:t>AI as engineer multiplier</a:t>
            </a:r>
            <a:r>
              <a:rPr lang="en-US" sz="1300" dirty="0">
                <a:solidFill>
                  <a:srgbClr val="47516A"/>
                </a:solidFill>
                <a:latin typeface="Calibri" pitchFamily="34" charset="0"/>
                <a:ea typeface="Calibri" pitchFamily="34" charset="-122"/>
                <a:cs typeface="Calibri" pitchFamily="34" charset="-120"/>
              </a:rPr>
              <a:t> — Skilled engineers essential for context, architecture, and validation; AI multiplies their output</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
          </a:xfrm>
          <a:prstGeom prst="rect">
            <a:avLst/>
          </a:prstGeom>
          <a:solidFill>
            <a:srgbClr val="1B2B54"/>
          </a:solidFill>
          <a:ln w="12700">
            <a:solidFill>
              <a:srgbClr val="1B2B54"/>
            </a:solidFill>
            <a:prstDash val="solid"/>
          </a:ln>
        </p:spPr>
        <p:txBody>
          <a:bodyPr/>
          <a:lstStyle/>
          <a:p>
            <a:endParaRPr lang="en-US"/>
          </a:p>
        </p:txBody>
      </p:sp>
      <p:sp>
        <p:nvSpPr>
          <p:cNvPr id="3" name="Text 1"/>
          <p:cNvSpPr/>
          <p:nvPr/>
        </p:nvSpPr>
        <p:spPr>
          <a:xfrm>
            <a:off x="320040" y="0"/>
            <a:ext cx="11521440" cy="6858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Major Blockers — Ranked by Impact</a:t>
            </a:r>
            <a:endParaRPr lang="en-US" sz="2400" dirty="0"/>
          </a:p>
        </p:txBody>
      </p:sp>
      <p:sp>
        <p:nvSpPr>
          <p:cNvPr id="4" name="Shape 2"/>
          <p:cNvSpPr/>
          <p:nvPr/>
        </p:nvSpPr>
        <p:spPr>
          <a:xfrm>
            <a:off x="320040" y="822960"/>
            <a:ext cx="457200" cy="941832"/>
          </a:xfrm>
          <a:prstGeom prst="rect">
            <a:avLst/>
          </a:prstGeom>
          <a:solidFill>
            <a:srgbClr val="8B1A1A"/>
          </a:solidFill>
          <a:ln w="12700">
            <a:solidFill>
              <a:srgbClr val="8B1A1A"/>
            </a:solidFill>
            <a:prstDash val="solid"/>
          </a:ln>
        </p:spPr>
        <p:txBody>
          <a:bodyPr/>
          <a:lstStyle/>
          <a:p>
            <a:endParaRPr lang="en-US"/>
          </a:p>
        </p:txBody>
      </p:sp>
      <p:sp>
        <p:nvSpPr>
          <p:cNvPr id="5" name="Text 3"/>
          <p:cNvSpPr/>
          <p:nvPr/>
        </p:nvSpPr>
        <p:spPr>
          <a:xfrm>
            <a:off x="320040" y="822960"/>
            <a:ext cx="457200" cy="941832"/>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6" name="Shape 4"/>
          <p:cNvSpPr/>
          <p:nvPr/>
        </p:nvSpPr>
        <p:spPr>
          <a:xfrm>
            <a:off x="804672" y="822960"/>
            <a:ext cx="10789920" cy="941832"/>
          </a:xfrm>
          <a:prstGeom prst="rect">
            <a:avLst/>
          </a:prstGeom>
          <a:solidFill>
            <a:srgbClr val="E8EAEE"/>
          </a:solidFill>
          <a:ln w="12700">
            <a:solidFill>
              <a:srgbClr val="DCDFE6"/>
            </a:solidFill>
            <a:prstDash val="solid"/>
          </a:ln>
        </p:spPr>
        <p:txBody>
          <a:bodyPr/>
          <a:lstStyle/>
          <a:p>
            <a:endParaRPr lang="en-US"/>
          </a:p>
        </p:txBody>
      </p:sp>
      <p:sp>
        <p:nvSpPr>
          <p:cNvPr id="7" name="Text 5"/>
          <p:cNvSpPr/>
          <p:nvPr/>
        </p:nvSpPr>
        <p:spPr>
          <a:xfrm>
            <a:off x="960120" y="914400"/>
            <a:ext cx="7315200" cy="365760"/>
          </a:xfrm>
          <a:prstGeom prst="rect">
            <a:avLst/>
          </a:prstGeom>
          <a:noFill/>
          <a:ln/>
        </p:spPr>
        <p:txBody>
          <a:bodyPr wrap="square" rtlCol="0" anchor="ctr"/>
          <a:lstStyle/>
          <a:p>
            <a:pPr marL="0" indent="0">
              <a:buNone/>
            </a:pPr>
            <a:r>
              <a:rPr lang="en-US" sz="1400" b="1" dirty="0">
                <a:solidFill>
                  <a:srgbClr val="1B2B54"/>
                </a:solidFill>
                <a:latin typeface="Calibri" pitchFamily="34" charset="0"/>
                <a:ea typeface="Calibri" pitchFamily="34" charset="-122"/>
                <a:cs typeface="Calibri" pitchFamily="34" charset="-120"/>
              </a:rPr>
              <a:t>Tooling Setup &amp; Configuration</a:t>
            </a:r>
            <a:endParaRPr lang="en-US" sz="1400" dirty="0"/>
          </a:p>
        </p:txBody>
      </p:sp>
      <p:sp>
        <p:nvSpPr>
          <p:cNvPr id="8" name="Shape 6"/>
          <p:cNvSpPr/>
          <p:nvPr/>
        </p:nvSpPr>
        <p:spPr>
          <a:xfrm>
            <a:off x="10058400" y="932688"/>
            <a:ext cx="1371600" cy="274320"/>
          </a:xfrm>
          <a:prstGeom prst="rect">
            <a:avLst/>
          </a:prstGeom>
          <a:solidFill>
            <a:srgbClr val="8B1A1A"/>
          </a:solidFill>
          <a:ln w="12700">
            <a:solidFill>
              <a:srgbClr val="8B1A1A"/>
            </a:solidFill>
            <a:prstDash val="solid"/>
          </a:ln>
        </p:spPr>
        <p:txBody>
          <a:bodyPr/>
          <a:lstStyle/>
          <a:p>
            <a:endParaRPr lang="en-US"/>
          </a:p>
        </p:txBody>
      </p:sp>
      <p:sp>
        <p:nvSpPr>
          <p:cNvPr id="9" name="Text 7"/>
          <p:cNvSpPr/>
          <p:nvPr/>
        </p:nvSpPr>
        <p:spPr>
          <a:xfrm>
            <a:off x="10058400" y="932688"/>
            <a:ext cx="137160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CRITICAL</a:t>
            </a:r>
            <a:endParaRPr lang="en-US" sz="1000" dirty="0"/>
          </a:p>
        </p:txBody>
      </p:sp>
      <p:sp>
        <p:nvSpPr>
          <p:cNvPr id="10" name="Text 8"/>
          <p:cNvSpPr/>
          <p:nvPr/>
        </p:nvSpPr>
        <p:spPr>
          <a:xfrm>
            <a:off x="960120" y="1280160"/>
            <a:ext cx="10424160" cy="411480"/>
          </a:xfrm>
          <a:prstGeom prst="rect">
            <a:avLst/>
          </a:prstGeom>
          <a:noFill/>
          <a:ln/>
        </p:spPr>
        <p:txBody>
          <a:bodyPr wrap="square" rtlCol="0" anchor="ctr"/>
          <a:lstStyle/>
          <a:p>
            <a:pPr marL="0" indent="0">
              <a:buNone/>
            </a:pPr>
            <a:r>
              <a:rPr lang="en-US" sz="1200" dirty="0">
                <a:solidFill>
                  <a:srgbClr val="47516A"/>
                </a:solidFill>
                <a:latin typeface="Calibri" pitchFamily="34" charset="0"/>
                <a:ea typeface="Calibri" pitchFamily="34" charset="-122"/>
                <a:cs typeface="Calibri" pitchFamily="34" charset="-120"/>
              </a:rPr>
              <a:t>MCP servers not configured. Docker Desktop missing. DBeaver blocked by security whitelist.</a:t>
            </a:r>
            <a:endParaRPr lang="en-US" sz="1200" dirty="0"/>
          </a:p>
        </p:txBody>
      </p:sp>
      <p:sp>
        <p:nvSpPr>
          <p:cNvPr id="11" name="Shape 9"/>
          <p:cNvSpPr/>
          <p:nvPr/>
        </p:nvSpPr>
        <p:spPr>
          <a:xfrm>
            <a:off x="320040" y="1892808"/>
            <a:ext cx="457200" cy="941832"/>
          </a:xfrm>
          <a:prstGeom prst="rect">
            <a:avLst/>
          </a:prstGeom>
          <a:solidFill>
            <a:srgbClr val="A0401E"/>
          </a:solidFill>
          <a:ln w="12700">
            <a:solidFill>
              <a:srgbClr val="A0401E"/>
            </a:solidFill>
            <a:prstDash val="solid"/>
          </a:ln>
        </p:spPr>
        <p:txBody>
          <a:bodyPr/>
          <a:lstStyle/>
          <a:p>
            <a:endParaRPr lang="en-US"/>
          </a:p>
        </p:txBody>
      </p:sp>
      <p:sp>
        <p:nvSpPr>
          <p:cNvPr id="12" name="Text 10"/>
          <p:cNvSpPr/>
          <p:nvPr/>
        </p:nvSpPr>
        <p:spPr>
          <a:xfrm>
            <a:off x="320040" y="1892808"/>
            <a:ext cx="457200" cy="941832"/>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3" name="Shape 11"/>
          <p:cNvSpPr/>
          <p:nvPr/>
        </p:nvSpPr>
        <p:spPr>
          <a:xfrm>
            <a:off x="804672" y="1892808"/>
            <a:ext cx="10789920" cy="941832"/>
          </a:xfrm>
          <a:prstGeom prst="rect">
            <a:avLst/>
          </a:prstGeom>
          <a:solidFill>
            <a:srgbClr val="F2F2F4"/>
          </a:solidFill>
          <a:ln w="12700">
            <a:solidFill>
              <a:srgbClr val="DCDFE6"/>
            </a:solidFill>
            <a:prstDash val="solid"/>
          </a:ln>
        </p:spPr>
        <p:txBody>
          <a:bodyPr/>
          <a:lstStyle/>
          <a:p>
            <a:endParaRPr lang="en-US"/>
          </a:p>
        </p:txBody>
      </p:sp>
      <p:sp>
        <p:nvSpPr>
          <p:cNvPr id="14" name="Text 12"/>
          <p:cNvSpPr/>
          <p:nvPr/>
        </p:nvSpPr>
        <p:spPr>
          <a:xfrm>
            <a:off x="960120" y="1984248"/>
            <a:ext cx="7315200" cy="365760"/>
          </a:xfrm>
          <a:prstGeom prst="rect">
            <a:avLst/>
          </a:prstGeom>
          <a:noFill/>
          <a:ln/>
        </p:spPr>
        <p:txBody>
          <a:bodyPr wrap="square" rtlCol="0" anchor="ctr"/>
          <a:lstStyle/>
          <a:p>
            <a:pPr marL="0" indent="0">
              <a:buNone/>
            </a:pPr>
            <a:r>
              <a:rPr lang="en-US" sz="1400" b="1" dirty="0">
                <a:solidFill>
                  <a:srgbClr val="1B2B54"/>
                </a:solidFill>
                <a:latin typeface="Calibri" pitchFamily="34" charset="0"/>
                <a:ea typeface="Calibri" pitchFamily="34" charset="-122"/>
                <a:cs typeface="Calibri" pitchFamily="34" charset="-120"/>
              </a:rPr>
              <a:t>IT Ticket Overhead</a:t>
            </a:r>
            <a:endParaRPr lang="en-US" sz="1400" dirty="0"/>
          </a:p>
        </p:txBody>
      </p:sp>
      <p:sp>
        <p:nvSpPr>
          <p:cNvPr id="15" name="Shape 13"/>
          <p:cNvSpPr/>
          <p:nvPr/>
        </p:nvSpPr>
        <p:spPr>
          <a:xfrm>
            <a:off x="10058400" y="2002536"/>
            <a:ext cx="1371600" cy="274320"/>
          </a:xfrm>
          <a:prstGeom prst="rect">
            <a:avLst/>
          </a:prstGeom>
          <a:solidFill>
            <a:srgbClr val="A0401E"/>
          </a:solidFill>
          <a:ln w="12700">
            <a:solidFill>
              <a:srgbClr val="A0401E"/>
            </a:solidFill>
            <a:prstDash val="solid"/>
          </a:ln>
        </p:spPr>
        <p:txBody>
          <a:bodyPr/>
          <a:lstStyle/>
          <a:p>
            <a:endParaRPr lang="en-US"/>
          </a:p>
        </p:txBody>
      </p:sp>
      <p:sp>
        <p:nvSpPr>
          <p:cNvPr id="16" name="Text 14"/>
          <p:cNvSpPr/>
          <p:nvPr/>
        </p:nvSpPr>
        <p:spPr>
          <a:xfrm>
            <a:off x="10058400" y="2002536"/>
            <a:ext cx="137160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HIGH</a:t>
            </a:r>
            <a:endParaRPr lang="en-US" sz="1000" dirty="0"/>
          </a:p>
        </p:txBody>
      </p:sp>
      <p:sp>
        <p:nvSpPr>
          <p:cNvPr id="17" name="Text 15"/>
          <p:cNvSpPr/>
          <p:nvPr/>
        </p:nvSpPr>
        <p:spPr>
          <a:xfrm>
            <a:off x="960120" y="2350008"/>
            <a:ext cx="10424160" cy="411480"/>
          </a:xfrm>
          <a:prstGeom prst="rect">
            <a:avLst/>
          </a:prstGeom>
          <a:noFill/>
          <a:ln/>
        </p:spPr>
        <p:txBody>
          <a:bodyPr wrap="square" rtlCol="0" anchor="ctr"/>
          <a:lstStyle/>
          <a:p>
            <a:pPr marL="0" indent="0">
              <a:buNone/>
            </a:pPr>
            <a:r>
              <a:rPr lang="en-US" sz="1200" dirty="0">
                <a:solidFill>
                  <a:srgbClr val="47516A"/>
                </a:solidFill>
                <a:latin typeface="Calibri" pitchFamily="34" charset="0"/>
                <a:ea typeface="Calibri" pitchFamily="34" charset="-122"/>
                <a:cs typeface="Calibri" pitchFamily="34" charset="-120"/>
              </a:rPr>
              <a:t>~5-6 formal tickets + ~30 unlocks needed. Each post-facto request = process failure.</a:t>
            </a:r>
            <a:endParaRPr lang="en-US" sz="1200" dirty="0"/>
          </a:p>
        </p:txBody>
      </p:sp>
      <p:sp>
        <p:nvSpPr>
          <p:cNvPr id="18" name="Shape 16"/>
          <p:cNvSpPr/>
          <p:nvPr/>
        </p:nvSpPr>
        <p:spPr>
          <a:xfrm>
            <a:off x="320040" y="2962656"/>
            <a:ext cx="457200" cy="941832"/>
          </a:xfrm>
          <a:prstGeom prst="rect">
            <a:avLst/>
          </a:prstGeom>
          <a:solidFill>
            <a:srgbClr val="B05820"/>
          </a:solidFill>
          <a:ln w="12700">
            <a:solidFill>
              <a:srgbClr val="B05820"/>
            </a:solidFill>
            <a:prstDash val="solid"/>
          </a:ln>
        </p:spPr>
        <p:txBody>
          <a:bodyPr/>
          <a:lstStyle/>
          <a:p>
            <a:endParaRPr lang="en-US"/>
          </a:p>
        </p:txBody>
      </p:sp>
      <p:sp>
        <p:nvSpPr>
          <p:cNvPr id="19" name="Text 17"/>
          <p:cNvSpPr/>
          <p:nvPr/>
        </p:nvSpPr>
        <p:spPr>
          <a:xfrm>
            <a:off x="320040" y="2962656"/>
            <a:ext cx="457200" cy="941832"/>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20" name="Shape 18"/>
          <p:cNvSpPr/>
          <p:nvPr/>
        </p:nvSpPr>
        <p:spPr>
          <a:xfrm>
            <a:off x="804672" y="2962656"/>
            <a:ext cx="10789920" cy="941832"/>
          </a:xfrm>
          <a:prstGeom prst="rect">
            <a:avLst/>
          </a:prstGeom>
          <a:solidFill>
            <a:srgbClr val="E8EAEE"/>
          </a:solidFill>
          <a:ln w="12700">
            <a:solidFill>
              <a:srgbClr val="DCDFE6"/>
            </a:solidFill>
            <a:prstDash val="solid"/>
          </a:ln>
        </p:spPr>
        <p:txBody>
          <a:bodyPr/>
          <a:lstStyle/>
          <a:p>
            <a:endParaRPr lang="en-US"/>
          </a:p>
        </p:txBody>
      </p:sp>
      <p:sp>
        <p:nvSpPr>
          <p:cNvPr id="21" name="Text 19"/>
          <p:cNvSpPr/>
          <p:nvPr/>
        </p:nvSpPr>
        <p:spPr>
          <a:xfrm>
            <a:off x="960120" y="3054096"/>
            <a:ext cx="7315200" cy="365760"/>
          </a:xfrm>
          <a:prstGeom prst="rect">
            <a:avLst/>
          </a:prstGeom>
          <a:noFill/>
          <a:ln/>
        </p:spPr>
        <p:txBody>
          <a:bodyPr wrap="square" rtlCol="0" anchor="ctr"/>
          <a:lstStyle/>
          <a:p>
            <a:pPr marL="0" indent="0">
              <a:buNone/>
            </a:pPr>
            <a:r>
              <a:rPr lang="en-US" sz="1400" b="1" dirty="0">
                <a:solidFill>
                  <a:srgbClr val="1B2B54"/>
                </a:solidFill>
                <a:latin typeface="Calibri" pitchFamily="34" charset="0"/>
                <a:ea typeface="Calibri" pitchFamily="34" charset="-122"/>
                <a:cs typeface="Calibri" pitchFamily="34" charset="-120"/>
              </a:rPr>
              <a:t>Environment Configuration</a:t>
            </a:r>
            <a:endParaRPr lang="en-US" sz="1400" dirty="0"/>
          </a:p>
        </p:txBody>
      </p:sp>
      <p:sp>
        <p:nvSpPr>
          <p:cNvPr id="22" name="Shape 20"/>
          <p:cNvSpPr/>
          <p:nvPr/>
        </p:nvSpPr>
        <p:spPr>
          <a:xfrm>
            <a:off x="10058400" y="3072384"/>
            <a:ext cx="1371600" cy="274320"/>
          </a:xfrm>
          <a:prstGeom prst="rect">
            <a:avLst/>
          </a:prstGeom>
          <a:solidFill>
            <a:srgbClr val="B05820"/>
          </a:solidFill>
          <a:ln w="12700">
            <a:solidFill>
              <a:srgbClr val="B05820"/>
            </a:solidFill>
            <a:prstDash val="solid"/>
          </a:ln>
        </p:spPr>
        <p:txBody>
          <a:bodyPr/>
          <a:lstStyle/>
          <a:p>
            <a:endParaRPr lang="en-US"/>
          </a:p>
        </p:txBody>
      </p:sp>
      <p:sp>
        <p:nvSpPr>
          <p:cNvPr id="23" name="Text 21"/>
          <p:cNvSpPr/>
          <p:nvPr/>
        </p:nvSpPr>
        <p:spPr>
          <a:xfrm>
            <a:off x="10058400" y="3072384"/>
            <a:ext cx="137160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HIGH</a:t>
            </a:r>
            <a:endParaRPr lang="en-US" sz="1000" dirty="0"/>
          </a:p>
        </p:txBody>
      </p:sp>
      <p:sp>
        <p:nvSpPr>
          <p:cNvPr id="24" name="Text 22"/>
          <p:cNvSpPr/>
          <p:nvPr/>
        </p:nvSpPr>
        <p:spPr>
          <a:xfrm>
            <a:off x="960120" y="3419856"/>
            <a:ext cx="10424160" cy="411480"/>
          </a:xfrm>
          <a:prstGeom prst="rect">
            <a:avLst/>
          </a:prstGeom>
          <a:noFill/>
          <a:ln/>
        </p:spPr>
        <p:txBody>
          <a:bodyPr wrap="square" rtlCol="0" anchor="ctr"/>
          <a:lstStyle/>
          <a:p>
            <a:pPr marL="0" indent="0">
              <a:buNone/>
            </a:pPr>
            <a:r>
              <a:rPr lang="en-US" sz="1200" dirty="0">
                <a:solidFill>
                  <a:srgbClr val="47516A"/>
                </a:solidFill>
                <a:latin typeface="Calibri" pitchFamily="34" charset="0"/>
                <a:ea typeface="Calibri" pitchFamily="34" charset="-122"/>
                <a:cs typeface="Calibri" pitchFamily="34" charset="-120"/>
              </a:rPr>
              <a:t>DB connectivity crisis: repos independently created secrets/users with no coordination.</a:t>
            </a:r>
            <a:endParaRPr lang="en-US" sz="1200" dirty="0"/>
          </a:p>
        </p:txBody>
      </p:sp>
      <p:sp>
        <p:nvSpPr>
          <p:cNvPr id="25" name="Shape 23"/>
          <p:cNvSpPr/>
          <p:nvPr/>
        </p:nvSpPr>
        <p:spPr>
          <a:xfrm>
            <a:off x="320040" y="4032504"/>
            <a:ext cx="457200" cy="941832"/>
          </a:xfrm>
          <a:prstGeom prst="rect">
            <a:avLst/>
          </a:prstGeom>
          <a:solidFill>
            <a:srgbClr val="757E98"/>
          </a:solidFill>
          <a:ln w="12700">
            <a:solidFill>
              <a:srgbClr val="757E98"/>
            </a:solidFill>
            <a:prstDash val="solid"/>
          </a:ln>
        </p:spPr>
        <p:txBody>
          <a:bodyPr/>
          <a:lstStyle/>
          <a:p>
            <a:endParaRPr lang="en-US"/>
          </a:p>
        </p:txBody>
      </p:sp>
      <p:sp>
        <p:nvSpPr>
          <p:cNvPr id="26" name="Text 24"/>
          <p:cNvSpPr/>
          <p:nvPr/>
        </p:nvSpPr>
        <p:spPr>
          <a:xfrm>
            <a:off x="320040" y="4032504"/>
            <a:ext cx="457200" cy="941832"/>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27" name="Shape 25"/>
          <p:cNvSpPr/>
          <p:nvPr/>
        </p:nvSpPr>
        <p:spPr>
          <a:xfrm>
            <a:off x="804672" y="4032504"/>
            <a:ext cx="10789920" cy="941832"/>
          </a:xfrm>
          <a:prstGeom prst="rect">
            <a:avLst/>
          </a:prstGeom>
          <a:solidFill>
            <a:srgbClr val="F2F2F4"/>
          </a:solidFill>
          <a:ln w="12700">
            <a:solidFill>
              <a:srgbClr val="DCDFE6"/>
            </a:solidFill>
            <a:prstDash val="solid"/>
          </a:ln>
        </p:spPr>
        <p:txBody>
          <a:bodyPr/>
          <a:lstStyle/>
          <a:p>
            <a:endParaRPr lang="en-US"/>
          </a:p>
        </p:txBody>
      </p:sp>
      <p:sp>
        <p:nvSpPr>
          <p:cNvPr id="28" name="Text 26"/>
          <p:cNvSpPr/>
          <p:nvPr/>
        </p:nvSpPr>
        <p:spPr>
          <a:xfrm>
            <a:off x="960120" y="4123944"/>
            <a:ext cx="7315200" cy="365760"/>
          </a:xfrm>
          <a:prstGeom prst="rect">
            <a:avLst/>
          </a:prstGeom>
          <a:noFill/>
          <a:ln/>
        </p:spPr>
        <p:txBody>
          <a:bodyPr wrap="square" rtlCol="0" anchor="ctr"/>
          <a:lstStyle/>
          <a:p>
            <a:pPr marL="0" indent="0">
              <a:buNone/>
            </a:pPr>
            <a:r>
              <a:rPr lang="en-US" sz="1400" b="1" dirty="0">
                <a:solidFill>
                  <a:srgbClr val="1B2B54"/>
                </a:solidFill>
                <a:latin typeface="Calibri" pitchFamily="34" charset="0"/>
                <a:ea typeface="Calibri" pitchFamily="34" charset="-122"/>
                <a:cs typeface="Calibri" pitchFamily="34" charset="-120"/>
              </a:rPr>
              <a:t>CI/CD Pipeline Issues</a:t>
            </a:r>
            <a:endParaRPr lang="en-US" sz="1400" dirty="0"/>
          </a:p>
        </p:txBody>
      </p:sp>
      <p:sp>
        <p:nvSpPr>
          <p:cNvPr id="29" name="Shape 27"/>
          <p:cNvSpPr/>
          <p:nvPr/>
        </p:nvSpPr>
        <p:spPr>
          <a:xfrm>
            <a:off x="10058400" y="4142232"/>
            <a:ext cx="1371600" cy="274320"/>
          </a:xfrm>
          <a:prstGeom prst="rect">
            <a:avLst/>
          </a:prstGeom>
          <a:solidFill>
            <a:srgbClr val="757E98"/>
          </a:solidFill>
          <a:ln w="12700">
            <a:solidFill>
              <a:srgbClr val="757E98"/>
            </a:solidFill>
            <a:prstDash val="solid"/>
          </a:ln>
        </p:spPr>
        <p:txBody>
          <a:bodyPr/>
          <a:lstStyle/>
          <a:p>
            <a:endParaRPr lang="en-US"/>
          </a:p>
        </p:txBody>
      </p:sp>
      <p:sp>
        <p:nvSpPr>
          <p:cNvPr id="30" name="Text 28"/>
          <p:cNvSpPr/>
          <p:nvPr/>
        </p:nvSpPr>
        <p:spPr>
          <a:xfrm>
            <a:off x="10058400" y="4142232"/>
            <a:ext cx="137160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MEDIUM</a:t>
            </a:r>
            <a:endParaRPr lang="en-US" sz="1000" dirty="0"/>
          </a:p>
        </p:txBody>
      </p:sp>
      <p:sp>
        <p:nvSpPr>
          <p:cNvPr id="31" name="Text 29"/>
          <p:cNvSpPr/>
          <p:nvPr/>
        </p:nvSpPr>
        <p:spPr>
          <a:xfrm>
            <a:off x="960120" y="4489704"/>
            <a:ext cx="10424160" cy="411480"/>
          </a:xfrm>
          <a:prstGeom prst="rect">
            <a:avLst/>
          </a:prstGeom>
          <a:noFill/>
          <a:ln/>
        </p:spPr>
        <p:txBody>
          <a:bodyPr wrap="square" rtlCol="0" anchor="ctr"/>
          <a:lstStyle/>
          <a:p>
            <a:pPr marL="0" indent="0">
              <a:buNone/>
            </a:pPr>
            <a:r>
              <a:rPr lang="en-US" sz="1200" dirty="0">
                <a:solidFill>
                  <a:srgbClr val="47516A"/>
                </a:solidFill>
                <a:latin typeface="Calibri" pitchFamily="34" charset="0"/>
                <a:ea typeface="Calibri" pitchFamily="34" charset="-122"/>
                <a:cs typeface="Calibri" pitchFamily="34" charset="-120"/>
              </a:rPr>
              <a:t>Jenkins-to-CircleCI confusion. Legacy Jenkins files confused AI agents. 10-min deploy cycles.</a:t>
            </a:r>
            <a:endParaRPr lang="en-US" sz="1200" dirty="0"/>
          </a:p>
        </p:txBody>
      </p:sp>
      <p:sp>
        <p:nvSpPr>
          <p:cNvPr id="32" name="Shape 30"/>
          <p:cNvSpPr/>
          <p:nvPr/>
        </p:nvSpPr>
        <p:spPr>
          <a:xfrm>
            <a:off x="320040" y="5102352"/>
            <a:ext cx="457200" cy="941832"/>
          </a:xfrm>
          <a:prstGeom prst="rect">
            <a:avLst/>
          </a:prstGeom>
          <a:solidFill>
            <a:srgbClr val="9AABB0"/>
          </a:solidFill>
          <a:ln w="12700">
            <a:solidFill>
              <a:srgbClr val="9AABB0"/>
            </a:solidFill>
            <a:prstDash val="solid"/>
          </a:ln>
        </p:spPr>
        <p:txBody>
          <a:bodyPr/>
          <a:lstStyle/>
          <a:p>
            <a:endParaRPr lang="en-US"/>
          </a:p>
        </p:txBody>
      </p:sp>
      <p:sp>
        <p:nvSpPr>
          <p:cNvPr id="33" name="Text 31"/>
          <p:cNvSpPr/>
          <p:nvPr/>
        </p:nvSpPr>
        <p:spPr>
          <a:xfrm>
            <a:off x="320040" y="5102352"/>
            <a:ext cx="457200" cy="941832"/>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5</a:t>
            </a:r>
            <a:endParaRPr lang="en-US" sz="2200" dirty="0"/>
          </a:p>
        </p:txBody>
      </p:sp>
      <p:sp>
        <p:nvSpPr>
          <p:cNvPr id="34" name="Shape 32"/>
          <p:cNvSpPr/>
          <p:nvPr/>
        </p:nvSpPr>
        <p:spPr>
          <a:xfrm>
            <a:off x="804672" y="5102352"/>
            <a:ext cx="10789920" cy="941832"/>
          </a:xfrm>
          <a:prstGeom prst="rect">
            <a:avLst/>
          </a:prstGeom>
          <a:solidFill>
            <a:srgbClr val="E8EAEE"/>
          </a:solidFill>
          <a:ln w="12700">
            <a:solidFill>
              <a:srgbClr val="DCDFE6"/>
            </a:solidFill>
            <a:prstDash val="solid"/>
          </a:ln>
        </p:spPr>
        <p:txBody>
          <a:bodyPr/>
          <a:lstStyle/>
          <a:p>
            <a:endParaRPr lang="en-US"/>
          </a:p>
        </p:txBody>
      </p:sp>
      <p:sp>
        <p:nvSpPr>
          <p:cNvPr id="35" name="Text 33"/>
          <p:cNvSpPr/>
          <p:nvPr/>
        </p:nvSpPr>
        <p:spPr>
          <a:xfrm>
            <a:off x="960120" y="5193792"/>
            <a:ext cx="7315200" cy="365760"/>
          </a:xfrm>
          <a:prstGeom prst="rect">
            <a:avLst/>
          </a:prstGeom>
          <a:noFill/>
          <a:ln/>
        </p:spPr>
        <p:txBody>
          <a:bodyPr wrap="square" rtlCol="0" anchor="ctr"/>
          <a:lstStyle/>
          <a:p>
            <a:pPr marL="0" indent="0">
              <a:buNone/>
            </a:pPr>
            <a:r>
              <a:rPr lang="en-US" sz="1400" b="1" dirty="0">
                <a:solidFill>
                  <a:srgbClr val="1B2B54"/>
                </a:solidFill>
                <a:latin typeface="Calibri" pitchFamily="34" charset="0"/>
                <a:ea typeface="Calibri" pitchFamily="34" charset="-122"/>
                <a:cs typeface="Calibri" pitchFamily="34" charset="-120"/>
              </a:rPr>
              <a:t>Routing &amp; Deployment Failures</a:t>
            </a:r>
            <a:endParaRPr lang="en-US" sz="1400" dirty="0"/>
          </a:p>
        </p:txBody>
      </p:sp>
      <p:sp>
        <p:nvSpPr>
          <p:cNvPr id="36" name="Shape 34"/>
          <p:cNvSpPr/>
          <p:nvPr/>
        </p:nvSpPr>
        <p:spPr>
          <a:xfrm>
            <a:off x="10058400" y="5212080"/>
            <a:ext cx="1371600" cy="274320"/>
          </a:xfrm>
          <a:prstGeom prst="rect">
            <a:avLst/>
          </a:prstGeom>
          <a:solidFill>
            <a:srgbClr val="9AABB0"/>
          </a:solidFill>
          <a:ln w="12700">
            <a:solidFill>
              <a:srgbClr val="9AABB0"/>
            </a:solidFill>
            <a:prstDash val="solid"/>
          </a:ln>
        </p:spPr>
        <p:txBody>
          <a:bodyPr/>
          <a:lstStyle/>
          <a:p>
            <a:endParaRPr lang="en-US"/>
          </a:p>
        </p:txBody>
      </p:sp>
      <p:sp>
        <p:nvSpPr>
          <p:cNvPr id="37" name="Text 35"/>
          <p:cNvSpPr/>
          <p:nvPr/>
        </p:nvSpPr>
        <p:spPr>
          <a:xfrm>
            <a:off x="10058400" y="5212080"/>
            <a:ext cx="137160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MEDIUM</a:t>
            </a:r>
            <a:endParaRPr lang="en-US" sz="1000" dirty="0"/>
          </a:p>
        </p:txBody>
      </p:sp>
      <p:sp>
        <p:nvSpPr>
          <p:cNvPr id="38" name="Text 36"/>
          <p:cNvSpPr/>
          <p:nvPr/>
        </p:nvSpPr>
        <p:spPr>
          <a:xfrm>
            <a:off x="960120" y="5559552"/>
            <a:ext cx="10424160" cy="411480"/>
          </a:xfrm>
          <a:prstGeom prst="rect">
            <a:avLst/>
          </a:prstGeom>
          <a:noFill/>
          <a:ln/>
        </p:spPr>
        <p:txBody>
          <a:bodyPr wrap="square" rtlCol="0" anchor="ctr"/>
          <a:lstStyle/>
          <a:p>
            <a:pPr marL="0" indent="0">
              <a:buNone/>
            </a:pPr>
            <a:r>
              <a:rPr lang="en-US" sz="1200" dirty="0">
                <a:solidFill>
                  <a:srgbClr val="47516A"/>
                </a:solidFill>
                <a:latin typeface="Calibri" pitchFamily="34" charset="0"/>
                <a:ea typeface="Calibri" pitchFamily="34" charset="-122"/>
                <a:cs typeface="Calibri" pitchFamily="34" charset="-120"/>
              </a:rPr>
              <a:t>K8s pods green but endpoints unreachable. Recurring pattern: "We always have these routing issues."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
          </a:xfrm>
          <a:prstGeom prst="rect">
            <a:avLst/>
          </a:prstGeom>
          <a:solidFill>
            <a:srgbClr val="1B2B54"/>
          </a:solidFill>
          <a:ln w="12700">
            <a:solidFill>
              <a:srgbClr val="1B2B54"/>
            </a:solidFill>
            <a:prstDash val="solid"/>
          </a:ln>
        </p:spPr>
        <p:txBody>
          <a:bodyPr/>
          <a:lstStyle/>
          <a:p>
            <a:endParaRPr lang="en-US"/>
          </a:p>
        </p:txBody>
      </p:sp>
      <p:sp>
        <p:nvSpPr>
          <p:cNvPr id="3" name="Text 1"/>
          <p:cNvSpPr/>
          <p:nvPr/>
        </p:nvSpPr>
        <p:spPr>
          <a:xfrm>
            <a:off x="320040" y="0"/>
            <a:ext cx="11521440" cy="6858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Root Cause: Infrastructure, Not AI</a:t>
            </a:r>
            <a:endParaRPr lang="en-US" sz="2400" dirty="0"/>
          </a:p>
        </p:txBody>
      </p:sp>
      <p:sp>
        <p:nvSpPr>
          <p:cNvPr id="4" name="Shape 2"/>
          <p:cNvSpPr/>
          <p:nvPr/>
        </p:nvSpPr>
        <p:spPr>
          <a:xfrm>
            <a:off x="320040" y="822960"/>
            <a:ext cx="11548872" cy="777240"/>
          </a:xfrm>
          <a:prstGeom prst="rect">
            <a:avLst/>
          </a:prstGeom>
          <a:solidFill>
            <a:srgbClr val="1B2B54"/>
          </a:solidFill>
          <a:ln w="12700">
            <a:solidFill>
              <a:srgbClr val="1B2B54"/>
            </a:solidFill>
            <a:prstDash val="solid"/>
          </a:ln>
        </p:spPr>
        <p:txBody>
          <a:bodyPr/>
          <a:lstStyle/>
          <a:p>
            <a:endParaRPr lang="en-US"/>
          </a:p>
        </p:txBody>
      </p:sp>
      <p:sp>
        <p:nvSpPr>
          <p:cNvPr id="5" name="Text 3"/>
          <p:cNvSpPr/>
          <p:nvPr/>
        </p:nvSpPr>
        <p:spPr>
          <a:xfrm>
            <a:off x="457200" y="822960"/>
            <a:ext cx="11247120" cy="77724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The AI agents worked well. The infrastructure around them didn't.</a:t>
            </a:r>
            <a:endParaRPr lang="en-US" sz="2000" dirty="0"/>
          </a:p>
        </p:txBody>
      </p:sp>
      <p:sp>
        <p:nvSpPr>
          <p:cNvPr id="6" name="Shape 4"/>
          <p:cNvSpPr/>
          <p:nvPr/>
        </p:nvSpPr>
        <p:spPr>
          <a:xfrm>
            <a:off x="320040" y="1783080"/>
            <a:ext cx="5486400" cy="2560320"/>
          </a:xfrm>
          <a:prstGeom prst="rect">
            <a:avLst/>
          </a:prstGeom>
          <a:solidFill>
            <a:srgbClr val="F0FAF1"/>
          </a:solidFill>
          <a:ln w="12700">
            <a:solidFill>
              <a:srgbClr val="2FCC40"/>
            </a:solidFill>
            <a:prstDash val="solid"/>
          </a:ln>
        </p:spPr>
        <p:txBody>
          <a:bodyPr/>
          <a:lstStyle/>
          <a:p>
            <a:endParaRPr lang="en-US"/>
          </a:p>
        </p:txBody>
      </p:sp>
      <p:sp>
        <p:nvSpPr>
          <p:cNvPr id="7" name="Shape 5"/>
          <p:cNvSpPr/>
          <p:nvPr/>
        </p:nvSpPr>
        <p:spPr>
          <a:xfrm>
            <a:off x="320040" y="1783080"/>
            <a:ext cx="5486400" cy="384048"/>
          </a:xfrm>
          <a:prstGeom prst="rect">
            <a:avLst/>
          </a:prstGeom>
          <a:solidFill>
            <a:srgbClr val="2FCC40"/>
          </a:solidFill>
          <a:ln w="12700">
            <a:solidFill>
              <a:srgbClr val="2FCC40"/>
            </a:solidFill>
            <a:prstDash val="solid"/>
          </a:ln>
        </p:spPr>
        <p:txBody>
          <a:bodyPr/>
          <a:lstStyle/>
          <a:p>
            <a:endParaRPr lang="en-US"/>
          </a:p>
        </p:txBody>
      </p:sp>
      <p:sp>
        <p:nvSpPr>
          <p:cNvPr id="8" name="Text 6"/>
          <p:cNvSpPr/>
          <p:nvPr/>
        </p:nvSpPr>
        <p:spPr>
          <a:xfrm>
            <a:off x="457200" y="1783080"/>
            <a:ext cx="5349240" cy="38404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  With Context</a:t>
            </a:r>
            <a:endParaRPr lang="en-US" sz="1500" dirty="0"/>
          </a:p>
        </p:txBody>
      </p:sp>
      <p:sp>
        <p:nvSpPr>
          <p:cNvPr id="9" name="Text 7"/>
          <p:cNvSpPr/>
          <p:nvPr/>
        </p:nvSpPr>
        <p:spPr>
          <a:xfrm>
            <a:off x="502920" y="2258568"/>
            <a:ext cx="5166360" cy="502920"/>
          </a:xfrm>
          <a:prstGeom prst="rect">
            <a:avLst/>
          </a:prstGeom>
          <a:noFill/>
          <a:ln/>
        </p:spPr>
        <p:txBody>
          <a:bodyPr wrap="square" rtlCol="0" anchor="ctr"/>
          <a:lstStyle/>
          <a:p>
            <a:pPr marL="0" indent="0">
              <a:buNone/>
            </a:pPr>
            <a:r>
              <a:rPr lang="en-US" sz="1300" b="1" dirty="0">
                <a:solidFill>
                  <a:srgbClr val="47516A"/>
                </a:solidFill>
                <a:latin typeface="Calibri" pitchFamily="34" charset="0"/>
                <a:ea typeface="Calibri" pitchFamily="34" charset="-122"/>
                <a:cs typeface="Calibri" pitchFamily="34" charset="-120"/>
              </a:rPr>
              <a:t>Tim provided existing table structures, DDL, and event formats upfront</a:t>
            </a:r>
            <a:endParaRPr lang="en-US" sz="1300" dirty="0"/>
          </a:p>
        </p:txBody>
      </p:sp>
      <p:sp>
        <p:nvSpPr>
          <p:cNvPr id="10" name="Text 8"/>
          <p:cNvSpPr/>
          <p:nvPr/>
        </p:nvSpPr>
        <p:spPr>
          <a:xfrm>
            <a:off x="502920" y="2788920"/>
            <a:ext cx="5166360" cy="731520"/>
          </a:xfrm>
          <a:prstGeom prst="rect">
            <a:avLst/>
          </a:prstGeom>
          <a:noFill/>
          <a:ln/>
        </p:spPr>
        <p:txBody>
          <a:bodyPr wrap="square" rtlCol="0" anchor="ctr"/>
          <a:lstStyle/>
          <a:p>
            <a:pPr marL="0" indent="0">
              <a:buNone/>
            </a:pPr>
            <a:r>
              <a:rPr lang="en-US" sz="1300" dirty="0">
                <a:solidFill>
                  <a:srgbClr val="47516A"/>
                </a:solidFill>
                <a:latin typeface="Calibri" pitchFamily="34" charset="0"/>
                <a:ea typeface="Calibri" pitchFamily="34" charset="-122"/>
                <a:cs typeface="Calibri" pitchFamily="34" charset="-120"/>
              </a:rPr>
              <a:t>Result: Functional schemas with proper outbox patterns, immediately correct — zero rework required.</a:t>
            </a:r>
            <a:endParaRPr lang="en-US" sz="1300" dirty="0"/>
          </a:p>
        </p:txBody>
      </p:sp>
      <p:sp>
        <p:nvSpPr>
          <p:cNvPr id="11" name="Shape 9"/>
          <p:cNvSpPr/>
          <p:nvPr/>
        </p:nvSpPr>
        <p:spPr>
          <a:xfrm>
            <a:off x="6382512" y="1783080"/>
            <a:ext cx="5486400" cy="2560320"/>
          </a:xfrm>
          <a:prstGeom prst="rect">
            <a:avLst/>
          </a:prstGeom>
          <a:solidFill>
            <a:srgbClr val="FDF0F0"/>
          </a:solidFill>
          <a:ln w="12700">
            <a:solidFill>
              <a:srgbClr val="C0392B"/>
            </a:solidFill>
            <a:prstDash val="solid"/>
          </a:ln>
        </p:spPr>
        <p:txBody>
          <a:bodyPr/>
          <a:lstStyle/>
          <a:p>
            <a:endParaRPr lang="en-US"/>
          </a:p>
        </p:txBody>
      </p:sp>
      <p:sp>
        <p:nvSpPr>
          <p:cNvPr id="12" name="Shape 10"/>
          <p:cNvSpPr/>
          <p:nvPr/>
        </p:nvSpPr>
        <p:spPr>
          <a:xfrm>
            <a:off x="6382512" y="1783080"/>
            <a:ext cx="5486400" cy="384048"/>
          </a:xfrm>
          <a:prstGeom prst="rect">
            <a:avLst/>
          </a:prstGeom>
          <a:solidFill>
            <a:srgbClr val="C0392B"/>
          </a:solidFill>
          <a:ln w="12700">
            <a:solidFill>
              <a:srgbClr val="C0392B"/>
            </a:solidFill>
            <a:prstDash val="solid"/>
          </a:ln>
        </p:spPr>
        <p:txBody>
          <a:bodyPr/>
          <a:lstStyle/>
          <a:p>
            <a:endParaRPr lang="en-US"/>
          </a:p>
        </p:txBody>
      </p:sp>
      <p:sp>
        <p:nvSpPr>
          <p:cNvPr id="13" name="Text 11"/>
          <p:cNvSpPr/>
          <p:nvPr/>
        </p:nvSpPr>
        <p:spPr>
          <a:xfrm>
            <a:off x="6519672" y="1783080"/>
            <a:ext cx="5349240" cy="38404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  Without Context</a:t>
            </a:r>
            <a:endParaRPr lang="en-US" sz="1500" dirty="0"/>
          </a:p>
        </p:txBody>
      </p:sp>
      <p:sp>
        <p:nvSpPr>
          <p:cNvPr id="14" name="Text 12"/>
          <p:cNvSpPr/>
          <p:nvPr/>
        </p:nvSpPr>
        <p:spPr>
          <a:xfrm>
            <a:off x="6519672" y="2258568"/>
            <a:ext cx="5166360" cy="502920"/>
          </a:xfrm>
          <a:prstGeom prst="rect">
            <a:avLst/>
          </a:prstGeom>
          <a:noFill/>
          <a:ln/>
        </p:spPr>
        <p:txBody>
          <a:bodyPr wrap="square" rtlCol="0" anchor="ctr"/>
          <a:lstStyle/>
          <a:p>
            <a:pPr marL="0" indent="0">
              <a:buNone/>
            </a:pPr>
            <a:r>
              <a:rPr lang="en-US" sz="1300" b="1" dirty="0">
                <a:solidFill>
                  <a:srgbClr val="47516A"/>
                </a:solidFill>
                <a:latin typeface="Calibri" pitchFamily="34" charset="0"/>
                <a:ea typeface="Calibri" pitchFamily="34" charset="-122"/>
                <a:cs typeface="Calibri" pitchFamily="34" charset="-120"/>
              </a:rPr>
              <a:t>DB structures from 2 existing apps not provided. MSK topics and event schemas missing.</a:t>
            </a:r>
            <a:endParaRPr lang="en-US" sz="1300" dirty="0"/>
          </a:p>
        </p:txBody>
      </p:sp>
      <p:sp>
        <p:nvSpPr>
          <p:cNvPr id="15" name="Text 13"/>
          <p:cNvSpPr/>
          <p:nvPr/>
        </p:nvSpPr>
        <p:spPr>
          <a:xfrm>
            <a:off x="6519672" y="2788920"/>
            <a:ext cx="5166360" cy="731520"/>
          </a:xfrm>
          <a:prstGeom prst="rect">
            <a:avLst/>
          </a:prstGeom>
          <a:noFill/>
          <a:ln/>
        </p:spPr>
        <p:txBody>
          <a:bodyPr wrap="square" rtlCol="0" anchor="ctr"/>
          <a:lstStyle/>
          <a:p>
            <a:pPr marL="0" indent="0">
              <a:buNone/>
            </a:pPr>
            <a:r>
              <a:rPr lang="en-US" sz="1300" dirty="0">
                <a:solidFill>
                  <a:srgbClr val="47516A"/>
                </a:solidFill>
                <a:latin typeface="Calibri" pitchFamily="34" charset="0"/>
                <a:ea typeface="Calibri" pitchFamily="34" charset="-122"/>
                <a:cs typeface="Calibri" pitchFamily="34" charset="-120"/>
              </a:rPr>
              <a:t>Result: Wrong field sizes (50-char vs 70-90 needed), missed existing tables, full rework cascade.</a:t>
            </a:r>
            <a:endParaRPr lang="en-US" sz="1300" dirty="0"/>
          </a:p>
        </p:txBody>
      </p:sp>
      <p:sp>
        <p:nvSpPr>
          <p:cNvPr id="16" name="Shape 14"/>
          <p:cNvSpPr/>
          <p:nvPr/>
        </p:nvSpPr>
        <p:spPr>
          <a:xfrm>
            <a:off x="320040" y="4617720"/>
            <a:ext cx="11548872" cy="685800"/>
          </a:xfrm>
          <a:prstGeom prst="rect">
            <a:avLst/>
          </a:prstGeom>
          <a:solidFill>
            <a:srgbClr val="E8EAEE"/>
          </a:solidFill>
          <a:ln w="12700">
            <a:solidFill>
              <a:srgbClr val="E8EAEE"/>
            </a:solidFill>
            <a:prstDash val="solid"/>
          </a:ln>
        </p:spPr>
        <p:txBody>
          <a:bodyPr/>
          <a:lstStyle/>
          <a:p>
            <a:endParaRPr lang="en-US"/>
          </a:p>
        </p:txBody>
      </p:sp>
      <p:sp>
        <p:nvSpPr>
          <p:cNvPr id="17" name="Text 15"/>
          <p:cNvSpPr/>
          <p:nvPr/>
        </p:nvSpPr>
        <p:spPr>
          <a:xfrm>
            <a:off x="502920" y="4617720"/>
            <a:ext cx="11155680" cy="685800"/>
          </a:xfrm>
          <a:prstGeom prst="rect">
            <a:avLst/>
          </a:prstGeom>
          <a:noFill/>
          <a:ln/>
        </p:spPr>
        <p:txBody>
          <a:bodyPr wrap="square" rtlCol="0" anchor="ctr"/>
          <a:lstStyle/>
          <a:p>
            <a:pPr marL="0" indent="0">
              <a:buNone/>
            </a:pPr>
            <a:r>
              <a:rPr lang="en-US" sz="1300" i="1" dirty="0">
                <a:solidFill>
                  <a:srgbClr val="1B2B54"/>
                </a:solidFill>
                <a:latin typeface="Calibri" pitchFamily="34" charset="0"/>
                <a:ea typeface="Calibri" pitchFamily="34" charset="-122"/>
                <a:cs typeface="Calibri" pitchFamily="34" charset="-120"/>
              </a:rPr>
              <a:t>These challenges affect ALL development teams. The pilot surfaced problems that have always existed but were absorbed by expert intervention.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
          </a:xfrm>
          <a:prstGeom prst="rect">
            <a:avLst/>
          </a:prstGeom>
          <a:solidFill>
            <a:srgbClr val="1B2B54"/>
          </a:solidFill>
          <a:ln w="12700">
            <a:solidFill>
              <a:srgbClr val="1B2B54"/>
            </a:solidFill>
            <a:prstDash val="solid"/>
          </a:ln>
        </p:spPr>
        <p:txBody>
          <a:bodyPr/>
          <a:lstStyle/>
          <a:p>
            <a:endParaRPr lang="en-US"/>
          </a:p>
        </p:txBody>
      </p:sp>
      <p:sp>
        <p:nvSpPr>
          <p:cNvPr id="3" name="Text 1"/>
          <p:cNvSpPr/>
          <p:nvPr/>
        </p:nvSpPr>
        <p:spPr>
          <a:xfrm>
            <a:off x="320040" y="0"/>
            <a:ext cx="11521440" cy="6858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Action 1: Template Automation Pipeline</a:t>
            </a:r>
            <a:endParaRPr lang="en-US" sz="2400" dirty="0"/>
          </a:p>
        </p:txBody>
      </p:sp>
      <p:sp>
        <p:nvSpPr>
          <p:cNvPr id="4" name="Shape 2"/>
          <p:cNvSpPr/>
          <p:nvPr/>
        </p:nvSpPr>
        <p:spPr>
          <a:xfrm>
            <a:off x="320040" y="868680"/>
            <a:ext cx="4846320" cy="3200400"/>
          </a:xfrm>
          <a:prstGeom prst="rect">
            <a:avLst/>
          </a:prstGeom>
          <a:solidFill>
            <a:srgbClr val="FDF0F0"/>
          </a:solidFill>
          <a:ln w="12700">
            <a:solidFill>
              <a:srgbClr val="C0392B"/>
            </a:solidFill>
            <a:prstDash val="solid"/>
          </a:ln>
        </p:spPr>
        <p:txBody>
          <a:bodyPr/>
          <a:lstStyle/>
          <a:p>
            <a:endParaRPr lang="en-US"/>
          </a:p>
        </p:txBody>
      </p:sp>
      <p:sp>
        <p:nvSpPr>
          <p:cNvPr id="5" name="Shape 3"/>
          <p:cNvSpPr/>
          <p:nvPr/>
        </p:nvSpPr>
        <p:spPr>
          <a:xfrm>
            <a:off x="320040" y="868680"/>
            <a:ext cx="4846320" cy="384048"/>
          </a:xfrm>
          <a:prstGeom prst="rect">
            <a:avLst/>
          </a:prstGeom>
          <a:solidFill>
            <a:srgbClr val="C0392B"/>
          </a:solidFill>
          <a:ln w="12700">
            <a:solidFill>
              <a:srgbClr val="C0392B"/>
            </a:solidFill>
            <a:prstDash val="solid"/>
          </a:ln>
        </p:spPr>
        <p:txBody>
          <a:bodyPr/>
          <a:lstStyle/>
          <a:p>
            <a:endParaRPr lang="en-US"/>
          </a:p>
        </p:txBody>
      </p:sp>
      <p:sp>
        <p:nvSpPr>
          <p:cNvPr id="6" name="Text 4"/>
          <p:cNvSpPr/>
          <p:nvPr/>
        </p:nvSpPr>
        <p:spPr>
          <a:xfrm>
            <a:off x="457200" y="868680"/>
            <a:ext cx="4709160" cy="38404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BEFORE</a:t>
            </a:r>
            <a:endParaRPr lang="en-US" sz="1500" dirty="0"/>
          </a:p>
        </p:txBody>
      </p:sp>
      <p:sp>
        <p:nvSpPr>
          <p:cNvPr id="7" name="Text 5"/>
          <p:cNvSpPr/>
          <p:nvPr/>
        </p:nvSpPr>
        <p:spPr>
          <a:xfrm>
            <a:off x="502920" y="1371600"/>
            <a:ext cx="4526280" cy="2560320"/>
          </a:xfrm>
          <a:prstGeom prst="rect">
            <a:avLst/>
          </a:prstGeom>
          <a:noFill/>
          <a:ln/>
        </p:spPr>
        <p:txBody>
          <a:bodyPr wrap="square" rtlCol="0" anchor="ctr"/>
          <a:lstStyle/>
          <a:p>
            <a:pPr marL="342900" indent="-342900">
              <a:buSzPct val="100000"/>
              <a:buChar char="•"/>
            </a:pPr>
            <a:r>
              <a:rPr lang="en-US" sz="1300" dirty="0">
                <a:solidFill>
                  <a:srgbClr val="47516A"/>
                </a:solidFill>
                <a:latin typeface="Calibri" pitchFamily="34" charset="0"/>
                <a:ea typeface="Calibri" pitchFamily="34" charset="-122"/>
                <a:cs typeface="Calibri" pitchFamily="34" charset="-120"/>
              </a:rPr>
              <a:t>4+ days to get a running environment</a:t>
            </a:r>
            <a:endParaRPr lang="en-US" sz="1300" dirty="0"/>
          </a:p>
          <a:p>
            <a:pPr marL="342900" indent="-342900">
              <a:buSzPct val="100000"/>
              <a:buChar char="•"/>
            </a:pPr>
            <a:r>
              <a:rPr lang="en-US" sz="1300" dirty="0">
                <a:solidFill>
                  <a:srgbClr val="47516A"/>
                </a:solidFill>
                <a:latin typeface="Calibri" pitchFamily="34" charset="0"/>
                <a:ea typeface="Calibri" pitchFamily="34" charset="-122"/>
                <a:cs typeface="Calibri" pitchFamily="34" charset="-120"/>
              </a:rPr>
              <a:t>Required expert Kyle intervention</a:t>
            </a:r>
            <a:endParaRPr lang="en-US" sz="1300" dirty="0"/>
          </a:p>
          <a:p>
            <a:pPr marL="342900" indent="-342900">
              <a:buSzPct val="100000"/>
              <a:buChar char="•"/>
            </a:pPr>
            <a:r>
              <a:rPr lang="en-US" sz="1300" dirty="0">
                <a:solidFill>
                  <a:srgbClr val="47516A"/>
                </a:solidFill>
                <a:latin typeface="Calibri" pitchFamily="34" charset="0"/>
                <a:ea typeface="Calibri" pitchFamily="34" charset="-122"/>
                <a:cs typeface="Calibri" pitchFamily="34" charset="-120"/>
              </a:rPr>
              <a:t>Multiple manual configuration steps</a:t>
            </a:r>
            <a:endParaRPr lang="en-US" sz="1300" dirty="0"/>
          </a:p>
          <a:p>
            <a:pPr marL="342900" indent="-342900">
              <a:buSzPct val="100000"/>
              <a:buChar char="•"/>
            </a:pPr>
            <a:r>
              <a:rPr lang="en-US" sz="1300" dirty="0">
                <a:solidFill>
                  <a:srgbClr val="47516A"/>
                </a:solidFill>
                <a:latin typeface="Calibri" pitchFamily="34" charset="0"/>
                <a:ea typeface="Calibri" pitchFamily="34" charset="-122"/>
                <a:cs typeface="Calibri" pitchFamily="34" charset="-120"/>
              </a:rPr>
              <a:t>No validation of successful deployment</a:t>
            </a:r>
            <a:endParaRPr lang="en-US" sz="1300" dirty="0"/>
          </a:p>
        </p:txBody>
      </p:sp>
      <p:sp>
        <p:nvSpPr>
          <p:cNvPr id="8" name="Shape 6"/>
          <p:cNvSpPr/>
          <p:nvPr/>
        </p:nvSpPr>
        <p:spPr>
          <a:xfrm>
            <a:off x="5303520" y="2286000"/>
            <a:ext cx="457200" cy="91440"/>
          </a:xfrm>
          <a:prstGeom prst="rect">
            <a:avLst/>
          </a:prstGeom>
          <a:solidFill>
            <a:srgbClr val="1B2B54"/>
          </a:solidFill>
          <a:ln w="12700">
            <a:solidFill>
              <a:srgbClr val="1B2B54"/>
            </a:solidFill>
            <a:prstDash val="solid"/>
          </a:ln>
        </p:spPr>
        <p:txBody>
          <a:bodyPr/>
          <a:lstStyle/>
          <a:p>
            <a:endParaRPr lang="en-US"/>
          </a:p>
        </p:txBody>
      </p:sp>
      <p:sp>
        <p:nvSpPr>
          <p:cNvPr id="9" name="Text 7"/>
          <p:cNvSpPr/>
          <p:nvPr/>
        </p:nvSpPr>
        <p:spPr>
          <a:xfrm>
            <a:off x="5230368" y="1965960"/>
            <a:ext cx="640080" cy="640080"/>
          </a:xfrm>
          <a:prstGeom prst="rect">
            <a:avLst/>
          </a:prstGeom>
          <a:noFill/>
          <a:ln/>
        </p:spPr>
        <p:txBody>
          <a:bodyPr wrap="square" rtlCol="0" anchor="ctr"/>
          <a:lstStyle/>
          <a:p>
            <a:pPr marL="0" indent="0" algn="ctr">
              <a:buNone/>
            </a:pPr>
            <a:r>
              <a:rPr lang="en-US" sz="3600" b="1" dirty="0">
                <a:solidFill>
                  <a:srgbClr val="1B2B54"/>
                </a:solidFill>
                <a:latin typeface="Calibri" pitchFamily="34" charset="0"/>
                <a:ea typeface="Calibri" pitchFamily="34" charset="-122"/>
                <a:cs typeface="Calibri" pitchFamily="34" charset="-120"/>
              </a:rPr>
              <a:t>→</a:t>
            </a:r>
            <a:endParaRPr lang="en-US" sz="3600" dirty="0"/>
          </a:p>
        </p:txBody>
      </p:sp>
      <p:sp>
        <p:nvSpPr>
          <p:cNvPr id="10" name="Shape 8"/>
          <p:cNvSpPr/>
          <p:nvPr/>
        </p:nvSpPr>
        <p:spPr>
          <a:xfrm>
            <a:off x="6035040" y="868680"/>
            <a:ext cx="5486400" cy="3200400"/>
          </a:xfrm>
          <a:prstGeom prst="rect">
            <a:avLst/>
          </a:prstGeom>
          <a:solidFill>
            <a:srgbClr val="F0FAF1"/>
          </a:solidFill>
          <a:ln w="12700">
            <a:solidFill>
              <a:srgbClr val="2FCC40"/>
            </a:solidFill>
            <a:prstDash val="solid"/>
          </a:ln>
        </p:spPr>
        <p:txBody>
          <a:bodyPr/>
          <a:lstStyle/>
          <a:p>
            <a:endParaRPr lang="en-US"/>
          </a:p>
        </p:txBody>
      </p:sp>
      <p:sp>
        <p:nvSpPr>
          <p:cNvPr id="11" name="Shape 9"/>
          <p:cNvSpPr/>
          <p:nvPr/>
        </p:nvSpPr>
        <p:spPr>
          <a:xfrm>
            <a:off x="6035040" y="868680"/>
            <a:ext cx="5486400" cy="384048"/>
          </a:xfrm>
          <a:prstGeom prst="rect">
            <a:avLst/>
          </a:prstGeom>
          <a:solidFill>
            <a:srgbClr val="2FCC40"/>
          </a:solidFill>
          <a:ln w="12700">
            <a:solidFill>
              <a:srgbClr val="2FCC40"/>
            </a:solidFill>
            <a:prstDash val="solid"/>
          </a:ln>
        </p:spPr>
        <p:txBody>
          <a:bodyPr/>
          <a:lstStyle/>
          <a:p>
            <a:endParaRPr lang="en-US"/>
          </a:p>
        </p:txBody>
      </p:sp>
      <p:sp>
        <p:nvSpPr>
          <p:cNvPr id="12" name="Text 10"/>
          <p:cNvSpPr/>
          <p:nvPr/>
        </p:nvSpPr>
        <p:spPr>
          <a:xfrm>
            <a:off x="6172200" y="868680"/>
            <a:ext cx="5349240" cy="38404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AFTER — 10-Minute Target</a:t>
            </a:r>
            <a:endParaRPr lang="en-US" sz="1500" dirty="0"/>
          </a:p>
        </p:txBody>
      </p:sp>
      <p:sp>
        <p:nvSpPr>
          <p:cNvPr id="13" name="Text 11"/>
          <p:cNvSpPr/>
          <p:nvPr/>
        </p:nvSpPr>
        <p:spPr>
          <a:xfrm>
            <a:off x="6172200" y="1371600"/>
            <a:ext cx="5303520" cy="2560320"/>
          </a:xfrm>
          <a:prstGeom prst="rect">
            <a:avLst/>
          </a:prstGeom>
          <a:noFill/>
          <a:ln/>
        </p:spPr>
        <p:txBody>
          <a:bodyPr wrap="square" rtlCol="0" anchor="ctr"/>
          <a:lstStyle/>
          <a:p>
            <a:pPr marL="342900" indent="-342900">
              <a:buSzPct val="100000"/>
              <a:buChar char="•"/>
            </a:pPr>
            <a:r>
              <a:rPr lang="en-US" sz="1300" dirty="0">
                <a:solidFill>
                  <a:srgbClr val="47516A"/>
                </a:solidFill>
                <a:latin typeface="Calibri" pitchFamily="34" charset="0"/>
                <a:ea typeface="Calibri" pitchFamily="34" charset="-122"/>
                <a:cs typeface="Calibri" pitchFamily="34" charset="-120"/>
              </a:rPr>
              <a:t>Clone repo, run script — live in 10 minutes</a:t>
            </a:r>
            <a:endParaRPr lang="en-US" sz="1300" dirty="0"/>
          </a:p>
          <a:p>
            <a:pPr marL="342900" indent="-342900">
              <a:buSzPct val="100000"/>
              <a:buChar char="•"/>
            </a:pPr>
            <a:r>
              <a:rPr lang="en-US" sz="1300" dirty="0">
                <a:solidFill>
                  <a:srgbClr val="47516A"/>
                </a:solidFill>
                <a:latin typeface="Calibri" pitchFamily="34" charset="0"/>
                <a:ea typeface="Calibri" pitchFamily="34" charset="-122"/>
                <a:cs typeface="Calibri" pitchFamily="34" charset="-120"/>
              </a:rPr>
              <a:t>Interactive deployment: K8s, EKS, or ECS</a:t>
            </a:r>
            <a:endParaRPr lang="en-US" sz="1300" dirty="0"/>
          </a:p>
          <a:p>
            <a:pPr marL="342900" indent="-342900">
              <a:buSzPct val="100000"/>
              <a:buChar char="•"/>
            </a:pPr>
            <a:r>
              <a:rPr lang="en-US" sz="1300" dirty="0">
                <a:solidFill>
                  <a:srgbClr val="47516A"/>
                </a:solidFill>
                <a:latin typeface="Calibri" pitchFamily="34" charset="0"/>
                <a:ea typeface="Calibri" pitchFamily="34" charset="-122"/>
                <a:cs typeface="Calibri" pitchFamily="34" charset="-120"/>
              </a:rPr>
              <a:t>Auto-configured: health monitoring, Datadog, CI/CD</a:t>
            </a:r>
            <a:endParaRPr lang="en-US" sz="1300" dirty="0"/>
          </a:p>
          <a:p>
            <a:pPr marL="342900" indent="-342900">
              <a:buSzPct val="100000"/>
              <a:buChar char="•"/>
            </a:pPr>
            <a:r>
              <a:rPr lang="en-US" sz="1300" dirty="0">
                <a:solidFill>
                  <a:srgbClr val="47516A"/>
                </a:solidFill>
                <a:latin typeface="Calibri" pitchFamily="34" charset="0"/>
                <a:ea typeface="Calibri" pitchFamily="34" charset="-122"/>
                <a:cs typeface="Calibri" pitchFamily="34" charset="-120"/>
              </a:rPr>
              <a:t>Hello World validation: UI, API, and DB</a:t>
            </a:r>
            <a:endParaRPr lang="en-US" sz="1300" dirty="0"/>
          </a:p>
          <a:p>
            <a:pPr marL="342900" indent="-342900">
              <a:buSzPct val="100000"/>
              <a:buChar char="•"/>
            </a:pPr>
            <a:r>
              <a:rPr lang="en-US" sz="1300" dirty="0">
                <a:solidFill>
                  <a:srgbClr val="47516A"/>
                </a:solidFill>
                <a:latin typeface="Calibri" pitchFamily="34" charset="0"/>
                <a:ea typeface="Calibri" pitchFamily="34" charset="-122"/>
                <a:cs typeface="Calibri" pitchFamily="34" charset="-120"/>
              </a:rPr>
              <a:t>Teardown capability for dev environments</a:t>
            </a:r>
            <a:endParaRPr lang="en-US" sz="1300" dirty="0"/>
          </a:p>
        </p:txBody>
      </p:sp>
      <p:sp>
        <p:nvSpPr>
          <p:cNvPr id="14" name="Shape 12"/>
          <p:cNvSpPr/>
          <p:nvPr/>
        </p:nvSpPr>
        <p:spPr>
          <a:xfrm>
            <a:off x="320040" y="4251960"/>
            <a:ext cx="11548872" cy="457200"/>
          </a:xfrm>
          <a:prstGeom prst="rect">
            <a:avLst/>
          </a:prstGeom>
          <a:solidFill>
            <a:srgbClr val="1B2B54"/>
          </a:solidFill>
          <a:ln w="12700">
            <a:solidFill>
              <a:srgbClr val="1B2B54"/>
            </a:solidFill>
            <a:prstDash val="solid"/>
          </a:ln>
        </p:spPr>
        <p:txBody>
          <a:bodyPr/>
          <a:lstStyle/>
          <a:p>
            <a:endParaRPr lang="en-US"/>
          </a:p>
        </p:txBody>
      </p:sp>
      <p:sp>
        <p:nvSpPr>
          <p:cNvPr id="15" name="Text 13"/>
          <p:cNvSpPr/>
          <p:nvPr/>
        </p:nvSpPr>
        <p:spPr>
          <a:xfrm>
            <a:off x="457200" y="4251960"/>
            <a:ext cx="1124712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Owner: Kyle Maggard  |  Status: In Progress  |  Deadline: Before next pod launch</a:t>
            </a:r>
            <a:endParaRPr lang="en-US" sz="1300" dirty="0"/>
          </a:p>
        </p:txBody>
      </p:sp>
      <p:sp>
        <p:nvSpPr>
          <p:cNvPr id="16" name="Shape 14"/>
          <p:cNvSpPr/>
          <p:nvPr/>
        </p:nvSpPr>
        <p:spPr>
          <a:xfrm>
            <a:off x="320040" y="4846320"/>
            <a:ext cx="11548872" cy="594360"/>
          </a:xfrm>
          <a:prstGeom prst="rect">
            <a:avLst/>
          </a:prstGeom>
          <a:solidFill>
            <a:srgbClr val="E8EAEE"/>
          </a:solidFill>
          <a:ln w="12700">
            <a:solidFill>
              <a:srgbClr val="2FCC40"/>
            </a:solidFill>
            <a:prstDash val="solid"/>
          </a:ln>
        </p:spPr>
        <p:txBody>
          <a:bodyPr/>
          <a:lstStyle/>
          <a:p>
            <a:endParaRPr lang="en-US"/>
          </a:p>
        </p:txBody>
      </p:sp>
      <p:sp>
        <p:nvSpPr>
          <p:cNvPr id="17" name="Text 15"/>
          <p:cNvSpPr/>
          <p:nvPr/>
        </p:nvSpPr>
        <p:spPr>
          <a:xfrm>
            <a:off x="502920" y="4846320"/>
            <a:ext cx="11155680" cy="594360"/>
          </a:xfrm>
          <a:prstGeom prst="rect">
            <a:avLst/>
          </a:prstGeom>
          <a:noFill/>
          <a:ln/>
        </p:spPr>
        <p:txBody>
          <a:bodyPr wrap="square" rtlCol="0" anchor="ctr"/>
          <a:lstStyle/>
          <a:p>
            <a:pPr marL="0" indent="0">
              <a:buNone/>
            </a:pPr>
            <a:r>
              <a:rPr lang="en-US" sz="1300" i="1" dirty="0">
                <a:solidFill>
                  <a:srgbClr val="1B2B54"/>
                </a:solidFill>
                <a:latin typeface="Calibri" pitchFamily="34" charset="0"/>
                <a:ea typeface="Calibri" pitchFamily="34" charset="-122"/>
                <a:cs typeface="Calibri" pitchFamily="34" charset="-120"/>
              </a:rPr>
              <a:t>Why: Eliminates the pipeline variable. If the next pod hits challenges, we can confidently attribute them to AI performance — not infrastructure.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
          </a:xfrm>
          <a:prstGeom prst="rect">
            <a:avLst/>
          </a:prstGeom>
          <a:solidFill>
            <a:srgbClr val="1B2B54"/>
          </a:solidFill>
          <a:ln w="12700">
            <a:solidFill>
              <a:srgbClr val="1B2B54"/>
            </a:solidFill>
            <a:prstDash val="solid"/>
          </a:ln>
        </p:spPr>
        <p:txBody>
          <a:bodyPr/>
          <a:lstStyle/>
          <a:p>
            <a:endParaRPr lang="en-US"/>
          </a:p>
        </p:txBody>
      </p:sp>
      <p:sp>
        <p:nvSpPr>
          <p:cNvPr id="3" name="Text 1"/>
          <p:cNvSpPr/>
          <p:nvPr/>
        </p:nvSpPr>
        <p:spPr>
          <a:xfrm>
            <a:off x="320040" y="0"/>
            <a:ext cx="11521440" cy="6858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Action 2: Pre-Pod Setup Checklist</a:t>
            </a:r>
            <a:endParaRPr lang="en-US" sz="2400" dirty="0"/>
          </a:p>
        </p:txBody>
      </p:sp>
      <p:sp>
        <p:nvSpPr>
          <p:cNvPr id="4" name="Shape 2"/>
          <p:cNvSpPr/>
          <p:nvPr/>
        </p:nvSpPr>
        <p:spPr>
          <a:xfrm>
            <a:off x="320040" y="822960"/>
            <a:ext cx="5486400" cy="3657600"/>
          </a:xfrm>
          <a:prstGeom prst="rect">
            <a:avLst/>
          </a:prstGeom>
          <a:solidFill>
            <a:srgbClr val="E8EAEE"/>
          </a:solidFill>
          <a:ln w="12700">
            <a:solidFill>
              <a:srgbClr val="E8EAEE"/>
            </a:solidFill>
            <a:prstDash val="solid"/>
          </a:ln>
        </p:spPr>
        <p:txBody>
          <a:bodyPr/>
          <a:lstStyle/>
          <a:p>
            <a:endParaRPr lang="en-US"/>
          </a:p>
        </p:txBody>
      </p:sp>
      <p:sp>
        <p:nvSpPr>
          <p:cNvPr id="5" name="Shape 3"/>
          <p:cNvSpPr/>
          <p:nvPr/>
        </p:nvSpPr>
        <p:spPr>
          <a:xfrm>
            <a:off x="320040" y="822960"/>
            <a:ext cx="5486400" cy="384048"/>
          </a:xfrm>
          <a:prstGeom prst="rect">
            <a:avLst/>
          </a:prstGeom>
          <a:solidFill>
            <a:srgbClr val="1B2B54"/>
          </a:solidFill>
          <a:ln w="12700">
            <a:solidFill>
              <a:srgbClr val="1B2B54"/>
            </a:solidFill>
            <a:prstDash val="solid"/>
          </a:ln>
        </p:spPr>
        <p:txBody>
          <a:bodyPr/>
          <a:lstStyle/>
          <a:p>
            <a:endParaRPr lang="en-US"/>
          </a:p>
        </p:txBody>
      </p:sp>
      <p:sp>
        <p:nvSpPr>
          <p:cNvPr id="6" name="Text 4"/>
          <p:cNvSpPr/>
          <p:nvPr/>
        </p:nvSpPr>
        <p:spPr>
          <a:xfrm>
            <a:off x="457200" y="822960"/>
            <a:ext cx="5212080" cy="38404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1-Week Advance Verification</a:t>
            </a:r>
            <a:endParaRPr lang="en-US" sz="1400" dirty="0"/>
          </a:p>
        </p:txBody>
      </p:sp>
      <p:sp>
        <p:nvSpPr>
          <p:cNvPr id="7" name="Shape 5"/>
          <p:cNvSpPr/>
          <p:nvPr/>
        </p:nvSpPr>
        <p:spPr>
          <a:xfrm>
            <a:off x="502920" y="1362456"/>
            <a:ext cx="256032" cy="256032"/>
          </a:xfrm>
          <a:prstGeom prst="rect">
            <a:avLst/>
          </a:prstGeom>
          <a:solidFill>
            <a:srgbClr val="FFFFFF"/>
          </a:solidFill>
          <a:ln w="12700">
            <a:solidFill>
              <a:srgbClr val="757E98"/>
            </a:solidFill>
            <a:prstDash val="solid"/>
          </a:ln>
        </p:spPr>
        <p:txBody>
          <a:bodyPr/>
          <a:lstStyle/>
          <a:p>
            <a:endParaRPr lang="en-US"/>
          </a:p>
        </p:txBody>
      </p:sp>
      <p:sp>
        <p:nvSpPr>
          <p:cNvPr id="8" name="Text 6"/>
          <p:cNvSpPr/>
          <p:nvPr/>
        </p:nvSpPr>
        <p:spPr>
          <a:xfrm>
            <a:off x="868680" y="1325880"/>
            <a:ext cx="4800600" cy="502920"/>
          </a:xfrm>
          <a:prstGeom prst="rect">
            <a:avLst/>
          </a:prstGeom>
          <a:noFill/>
          <a:ln/>
        </p:spPr>
        <p:txBody>
          <a:bodyPr wrap="square" rtlCol="0" anchor="ctr"/>
          <a:lstStyle/>
          <a:p>
            <a:pPr marL="0" indent="0">
              <a:buNone/>
            </a:pPr>
            <a:r>
              <a:rPr lang="en-US" sz="1250" dirty="0">
                <a:solidFill>
                  <a:srgbClr val="47516A"/>
                </a:solidFill>
                <a:latin typeface="Calibri" pitchFamily="34" charset="0"/>
                <a:ea typeface="Calibri" pitchFamily="34" charset="-122"/>
                <a:cs typeface="Calibri" pitchFamily="34" charset="-120"/>
              </a:rPr>
              <a:t>All tooling verified (MCP servers, Docker, VS Code, DB tools)</a:t>
            </a:r>
            <a:endParaRPr lang="en-US" sz="1250" dirty="0"/>
          </a:p>
        </p:txBody>
      </p:sp>
      <p:sp>
        <p:nvSpPr>
          <p:cNvPr id="9" name="Shape 7"/>
          <p:cNvSpPr/>
          <p:nvPr/>
        </p:nvSpPr>
        <p:spPr>
          <a:xfrm>
            <a:off x="502920" y="1975104"/>
            <a:ext cx="256032" cy="256032"/>
          </a:xfrm>
          <a:prstGeom prst="rect">
            <a:avLst/>
          </a:prstGeom>
          <a:solidFill>
            <a:srgbClr val="FFFFFF"/>
          </a:solidFill>
          <a:ln w="12700">
            <a:solidFill>
              <a:srgbClr val="757E98"/>
            </a:solidFill>
            <a:prstDash val="solid"/>
          </a:ln>
        </p:spPr>
        <p:txBody>
          <a:bodyPr/>
          <a:lstStyle/>
          <a:p>
            <a:endParaRPr lang="en-US"/>
          </a:p>
        </p:txBody>
      </p:sp>
      <p:sp>
        <p:nvSpPr>
          <p:cNvPr id="10" name="Text 8"/>
          <p:cNvSpPr/>
          <p:nvPr/>
        </p:nvSpPr>
        <p:spPr>
          <a:xfrm>
            <a:off x="868680" y="1938528"/>
            <a:ext cx="4800600" cy="502920"/>
          </a:xfrm>
          <a:prstGeom prst="rect">
            <a:avLst/>
          </a:prstGeom>
          <a:noFill/>
          <a:ln/>
        </p:spPr>
        <p:txBody>
          <a:bodyPr wrap="square" rtlCol="0" anchor="ctr"/>
          <a:lstStyle/>
          <a:p>
            <a:pPr marL="0" indent="0">
              <a:buNone/>
            </a:pPr>
            <a:r>
              <a:rPr lang="en-US" sz="1250" dirty="0">
                <a:solidFill>
                  <a:srgbClr val="47516A"/>
                </a:solidFill>
                <a:latin typeface="Calibri" pitchFamily="34" charset="0"/>
                <a:ea typeface="Calibri" pitchFamily="34" charset="-122"/>
                <a:cs typeface="Calibri" pitchFamily="34" charset="-120"/>
              </a:rPr>
              <a:t>Repository access confirmed — no 404s on day 1</a:t>
            </a:r>
            <a:endParaRPr lang="en-US" sz="1250" dirty="0"/>
          </a:p>
        </p:txBody>
      </p:sp>
      <p:sp>
        <p:nvSpPr>
          <p:cNvPr id="11" name="Shape 9"/>
          <p:cNvSpPr/>
          <p:nvPr/>
        </p:nvSpPr>
        <p:spPr>
          <a:xfrm>
            <a:off x="502920" y="2587752"/>
            <a:ext cx="256032" cy="256032"/>
          </a:xfrm>
          <a:prstGeom prst="rect">
            <a:avLst/>
          </a:prstGeom>
          <a:solidFill>
            <a:srgbClr val="FFFFFF"/>
          </a:solidFill>
          <a:ln w="12700">
            <a:solidFill>
              <a:srgbClr val="757E98"/>
            </a:solidFill>
            <a:prstDash val="solid"/>
          </a:ln>
        </p:spPr>
        <p:txBody>
          <a:bodyPr/>
          <a:lstStyle/>
          <a:p>
            <a:endParaRPr lang="en-US"/>
          </a:p>
        </p:txBody>
      </p:sp>
      <p:sp>
        <p:nvSpPr>
          <p:cNvPr id="12" name="Text 10"/>
          <p:cNvSpPr/>
          <p:nvPr/>
        </p:nvSpPr>
        <p:spPr>
          <a:xfrm>
            <a:off x="868680" y="2551176"/>
            <a:ext cx="4800600" cy="502920"/>
          </a:xfrm>
          <a:prstGeom prst="rect">
            <a:avLst/>
          </a:prstGeom>
          <a:noFill/>
          <a:ln/>
        </p:spPr>
        <p:txBody>
          <a:bodyPr wrap="square" rtlCol="0" anchor="ctr"/>
          <a:lstStyle/>
          <a:p>
            <a:pPr marL="0" indent="0">
              <a:buNone/>
            </a:pPr>
            <a:r>
              <a:rPr lang="en-US" sz="1250" dirty="0">
                <a:solidFill>
                  <a:srgbClr val="47516A"/>
                </a:solidFill>
                <a:latin typeface="Calibri" pitchFamily="34" charset="0"/>
                <a:ea typeface="Calibri" pitchFamily="34" charset="-122"/>
                <a:cs typeface="Calibri" pitchFamily="34" charset="-120"/>
              </a:rPr>
              <a:t>Environment credentials and secrets provisioned</a:t>
            </a:r>
            <a:endParaRPr lang="en-US" sz="1250" dirty="0"/>
          </a:p>
        </p:txBody>
      </p:sp>
      <p:sp>
        <p:nvSpPr>
          <p:cNvPr id="13" name="Shape 11"/>
          <p:cNvSpPr/>
          <p:nvPr/>
        </p:nvSpPr>
        <p:spPr>
          <a:xfrm>
            <a:off x="502920" y="3200400"/>
            <a:ext cx="256032" cy="256032"/>
          </a:xfrm>
          <a:prstGeom prst="rect">
            <a:avLst/>
          </a:prstGeom>
          <a:solidFill>
            <a:srgbClr val="FFFFFF"/>
          </a:solidFill>
          <a:ln w="12700">
            <a:solidFill>
              <a:srgbClr val="757E98"/>
            </a:solidFill>
            <a:prstDash val="solid"/>
          </a:ln>
        </p:spPr>
        <p:txBody>
          <a:bodyPr/>
          <a:lstStyle/>
          <a:p>
            <a:endParaRPr lang="en-US"/>
          </a:p>
        </p:txBody>
      </p:sp>
      <p:sp>
        <p:nvSpPr>
          <p:cNvPr id="14" name="Text 12"/>
          <p:cNvSpPr/>
          <p:nvPr/>
        </p:nvSpPr>
        <p:spPr>
          <a:xfrm>
            <a:off x="868680" y="3163824"/>
            <a:ext cx="4800600" cy="502920"/>
          </a:xfrm>
          <a:prstGeom prst="rect">
            <a:avLst/>
          </a:prstGeom>
          <a:noFill/>
          <a:ln/>
        </p:spPr>
        <p:txBody>
          <a:bodyPr wrap="square" rtlCol="0" anchor="ctr"/>
          <a:lstStyle/>
          <a:p>
            <a:pPr marL="0" indent="0">
              <a:buNone/>
            </a:pPr>
            <a:r>
              <a:rPr lang="en-US" sz="1250" dirty="0">
                <a:solidFill>
                  <a:srgbClr val="47516A"/>
                </a:solidFill>
                <a:latin typeface="Calibri" pitchFamily="34" charset="0"/>
                <a:ea typeface="Calibri" pitchFamily="34" charset="-122"/>
                <a:cs typeface="Calibri" pitchFamily="34" charset="-120"/>
              </a:rPr>
              <a:t>CI/CD pipeline tested with hello world deployment</a:t>
            </a:r>
            <a:endParaRPr lang="en-US" sz="1250" dirty="0"/>
          </a:p>
        </p:txBody>
      </p:sp>
      <p:sp>
        <p:nvSpPr>
          <p:cNvPr id="15" name="Shape 13"/>
          <p:cNvSpPr/>
          <p:nvPr/>
        </p:nvSpPr>
        <p:spPr>
          <a:xfrm>
            <a:off x="502920" y="3813048"/>
            <a:ext cx="256032" cy="256032"/>
          </a:xfrm>
          <a:prstGeom prst="rect">
            <a:avLst/>
          </a:prstGeom>
          <a:solidFill>
            <a:srgbClr val="FFFFFF"/>
          </a:solidFill>
          <a:ln w="12700">
            <a:solidFill>
              <a:srgbClr val="757E98"/>
            </a:solidFill>
            <a:prstDash val="solid"/>
          </a:ln>
        </p:spPr>
        <p:txBody>
          <a:bodyPr/>
          <a:lstStyle/>
          <a:p>
            <a:endParaRPr lang="en-US"/>
          </a:p>
        </p:txBody>
      </p:sp>
      <p:sp>
        <p:nvSpPr>
          <p:cNvPr id="16" name="Text 14"/>
          <p:cNvSpPr/>
          <p:nvPr/>
        </p:nvSpPr>
        <p:spPr>
          <a:xfrm>
            <a:off x="868680" y="3776472"/>
            <a:ext cx="4800600" cy="502920"/>
          </a:xfrm>
          <a:prstGeom prst="rect">
            <a:avLst/>
          </a:prstGeom>
          <a:noFill/>
          <a:ln/>
        </p:spPr>
        <p:txBody>
          <a:bodyPr wrap="square" rtlCol="0" anchor="ctr"/>
          <a:lstStyle/>
          <a:p>
            <a:pPr marL="0" indent="0">
              <a:buNone/>
            </a:pPr>
            <a:r>
              <a:rPr lang="en-US" sz="1250" dirty="0">
                <a:solidFill>
                  <a:srgbClr val="47516A"/>
                </a:solidFill>
                <a:latin typeface="Calibri" pitchFamily="34" charset="0"/>
                <a:ea typeface="Calibri" pitchFamily="34" charset="-122"/>
                <a:cs typeface="Calibri" pitchFamily="34" charset="-120"/>
              </a:rPr>
              <a:t>Database connectivity validated end-to-end</a:t>
            </a:r>
            <a:endParaRPr lang="en-US" sz="1250" dirty="0"/>
          </a:p>
        </p:txBody>
      </p:sp>
      <p:sp>
        <p:nvSpPr>
          <p:cNvPr id="17" name="Shape 15"/>
          <p:cNvSpPr/>
          <p:nvPr/>
        </p:nvSpPr>
        <p:spPr>
          <a:xfrm>
            <a:off x="6382512" y="822960"/>
            <a:ext cx="5486400" cy="3657600"/>
          </a:xfrm>
          <a:prstGeom prst="rect">
            <a:avLst/>
          </a:prstGeom>
          <a:solidFill>
            <a:srgbClr val="E8EAEE"/>
          </a:solidFill>
          <a:ln w="12700">
            <a:solidFill>
              <a:srgbClr val="E8EAEE"/>
            </a:solidFill>
            <a:prstDash val="solid"/>
          </a:ln>
        </p:spPr>
        <p:txBody>
          <a:bodyPr/>
          <a:lstStyle/>
          <a:p>
            <a:endParaRPr lang="en-US"/>
          </a:p>
        </p:txBody>
      </p:sp>
      <p:sp>
        <p:nvSpPr>
          <p:cNvPr id="18" name="Shape 16"/>
          <p:cNvSpPr/>
          <p:nvPr/>
        </p:nvSpPr>
        <p:spPr>
          <a:xfrm>
            <a:off x="6382512" y="822960"/>
            <a:ext cx="5486400" cy="384048"/>
          </a:xfrm>
          <a:prstGeom prst="rect">
            <a:avLst/>
          </a:prstGeom>
          <a:solidFill>
            <a:srgbClr val="47516A"/>
          </a:solidFill>
          <a:ln w="12700">
            <a:solidFill>
              <a:srgbClr val="47516A"/>
            </a:solidFill>
            <a:prstDash val="solid"/>
          </a:ln>
        </p:spPr>
        <p:txBody>
          <a:bodyPr/>
          <a:lstStyle/>
          <a:p>
            <a:endParaRPr lang="en-US"/>
          </a:p>
        </p:txBody>
      </p:sp>
      <p:sp>
        <p:nvSpPr>
          <p:cNvPr id="19" name="Text 17"/>
          <p:cNvSpPr/>
          <p:nvPr/>
        </p:nvSpPr>
        <p:spPr>
          <a:xfrm>
            <a:off x="6519672" y="822960"/>
            <a:ext cx="5212080" cy="38404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Reference Materials Package</a:t>
            </a:r>
            <a:endParaRPr lang="en-US" sz="1400" dirty="0"/>
          </a:p>
        </p:txBody>
      </p:sp>
      <p:sp>
        <p:nvSpPr>
          <p:cNvPr id="20" name="Shape 18"/>
          <p:cNvSpPr/>
          <p:nvPr/>
        </p:nvSpPr>
        <p:spPr>
          <a:xfrm>
            <a:off x="6565392" y="1399032"/>
            <a:ext cx="201168" cy="201168"/>
          </a:xfrm>
          <a:prstGeom prst="ellipse">
            <a:avLst/>
          </a:prstGeom>
          <a:solidFill>
            <a:srgbClr val="2FCC40"/>
          </a:solidFill>
          <a:ln w="12700">
            <a:solidFill>
              <a:srgbClr val="2FCC40"/>
            </a:solidFill>
            <a:prstDash val="solid"/>
          </a:ln>
        </p:spPr>
        <p:txBody>
          <a:bodyPr/>
          <a:lstStyle/>
          <a:p>
            <a:endParaRPr lang="en-US"/>
          </a:p>
        </p:txBody>
      </p:sp>
      <p:sp>
        <p:nvSpPr>
          <p:cNvPr id="21" name="Text 19"/>
          <p:cNvSpPr/>
          <p:nvPr/>
        </p:nvSpPr>
        <p:spPr>
          <a:xfrm>
            <a:off x="6885432" y="1325880"/>
            <a:ext cx="4846320" cy="274320"/>
          </a:xfrm>
          <a:prstGeom prst="rect">
            <a:avLst/>
          </a:prstGeom>
          <a:noFill/>
          <a:ln/>
        </p:spPr>
        <p:txBody>
          <a:bodyPr wrap="square" rtlCol="0" anchor="ctr"/>
          <a:lstStyle/>
          <a:p>
            <a:pPr marL="0" indent="0">
              <a:buNone/>
            </a:pPr>
            <a:r>
              <a:rPr lang="en-US" sz="1300" b="1" dirty="0">
                <a:solidFill>
                  <a:srgbClr val="1B2B54"/>
                </a:solidFill>
                <a:latin typeface="Calibri" pitchFamily="34" charset="0"/>
                <a:ea typeface="Calibri" pitchFamily="34" charset="-122"/>
                <a:cs typeface="Calibri" pitchFamily="34" charset="-120"/>
              </a:rPr>
              <a:t>Architecture diagrams</a:t>
            </a:r>
            <a:endParaRPr lang="en-US" sz="1300" dirty="0"/>
          </a:p>
        </p:txBody>
      </p:sp>
      <p:sp>
        <p:nvSpPr>
          <p:cNvPr id="22" name="Text 20"/>
          <p:cNvSpPr/>
          <p:nvPr/>
        </p:nvSpPr>
        <p:spPr>
          <a:xfrm>
            <a:off x="6885432" y="1600200"/>
            <a:ext cx="4846320" cy="274320"/>
          </a:xfrm>
          <a:prstGeom prst="rect">
            <a:avLst/>
          </a:prstGeom>
          <a:noFill/>
          <a:ln/>
        </p:spPr>
        <p:txBody>
          <a:bodyPr wrap="square" rtlCol="0" anchor="ctr"/>
          <a:lstStyle/>
          <a:p>
            <a:pPr marL="0" indent="0">
              <a:buNone/>
            </a:pPr>
            <a:r>
              <a:rPr lang="en-US" sz="1100" dirty="0">
                <a:solidFill>
                  <a:srgbClr val="757E98"/>
                </a:solidFill>
                <a:latin typeface="Calibri" pitchFamily="34" charset="0"/>
                <a:ea typeface="Calibri" pitchFamily="34" charset="-122"/>
                <a:cs typeface="Calibri" pitchFamily="34" charset="-120"/>
              </a:rPr>
              <a:t>As-is and to-be state</a:t>
            </a:r>
            <a:endParaRPr lang="en-US" sz="1100" dirty="0"/>
          </a:p>
        </p:txBody>
      </p:sp>
      <p:sp>
        <p:nvSpPr>
          <p:cNvPr id="23" name="Shape 21"/>
          <p:cNvSpPr/>
          <p:nvPr/>
        </p:nvSpPr>
        <p:spPr>
          <a:xfrm>
            <a:off x="6565392" y="2039112"/>
            <a:ext cx="201168" cy="201168"/>
          </a:xfrm>
          <a:prstGeom prst="ellipse">
            <a:avLst/>
          </a:prstGeom>
          <a:solidFill>
            <a:srgbClr val="2FCC40"/>
          </a:solidFill>
          <a:ln w="12700">
            <a:solidFill>
              <a:srgbClr val="2FCC40"/>
            </a:solidFill>
            <a:prstDash val="solid"/>
          </a:ln>
        </p:spPr>
        <p:txBody>
          <a:bodyPr/>
          <a:lstStyle/>
          <a:p>
            <a:endParaRPr lang="en-US"/>
          </a:p>
        </p:txBody>
      </p:sp>
      <p:sp>
        <p:nvSpPr>
          <p:cNvPr id="24" name="Text 22"/>
          <p:cNvSpPr/>
          <p:nvPr/>
        </p:nvSpPr>
        <p:spPr>
          <a:xfrm>
            <a:off x="6885432" y="1965960"/>
            <a:ext cx="4846320" cy="274320"/>
          </a:xfrm>
          <a:prstGeom prst="rect">
            <a:avLst/>
          </a:prstGeom>
          <a:noFill/>
          <a:ln/>
        </p:spPr>
        <p:txBody>
          <a:bodyPr wrap="square" rtlCol="0" anchor="ctr"/>
          <a:lstStyle/>
          <a:p>
            <a:pPr marL="0" indent="0">
              <a:buNone/>
            </a:pPr>
            <a:r>
              <a:rPr lang="en-US" sz="1300" b="1" dirty="0">
                <a:solidFill>
                  <a:srgbClr val="1B2B54"/>
                </a:solidFill>
                <a:latin typeface="Calibri" pitchFamily="34" charset="0"/>
                <a:ea typeface="Calibri" pitchFamily="34" charset="-122"/>
                <a:cs typeface="Calibri" pitchFamily="34" charset="-120"/>
              </a:rPr>
              <a:t>Integration surface documentation</a:t>
            </a:r>
            <a:endParaRPr lang="en-US" sz="1300" dirty="0"/>
          </a:p>
        </p:txBody>
      </p:sp>
      <p:sp>
        <p:nvSpPr>
          <p:cNvPr id="25" name="Text 23"/>
          <p:cNvSpPr/>
          <p:nvPr/>
        </p:nvSpPr>
        <p:spPr>
          <a:xfrm>
            <a:off x="6885432" y="2240280"/>
            <a:ext cx="4846320" cy="274320"/>
          </a:xfrm>
          <a:prstGeom prst="rect">
            <a:avLst/>
          </a:prstGeom>
          <a:noFill/>
          <a:ln/>
        </p:spPr>
        <p:txBody>
          <a:bodyPr wrap="square" rtlCol="0" anchor="ctr"/>
          <a:lstStyle/>
          <a:p>
            <a:pPr marL="0" indent="0">
              <a:buNone/>
            </a:pPr>
            <a:r>
              <a:rPr lang="en-US" sz="1100" dirty="0">
                <a:solidFill>
                  <a:srgbClr val="757E98"/>
                </a:solidFill>
                <a:latin typeface="Calibri" pitchFamily="34" charset="0"/>
                <a:ea typeface="Calibri" pitchFamily="34" charset="-122"/>
                <a:cs typeface="Calibri" pitchFamily="34" charset="-120"/>
              </a:rPr>
              <a:t>Every upstream and downstream touchpoint</a:t>
            </a:r>
            <a:endParaRPr lang="en-US" sz="1100" dirty="0"/>
          </a:p>
        </p:txBody>
      </p:sp>
      <p:sp>
        <p:nvSpPr>
          <p:cNvPr id="26" name="Shape 24"/>
          <p:cNvSpPr/>
          <p:nvPr/>
        </p:nvSpPr>
        <p:spPr>
          <a:xfrm>
            <a:off x="6565392" y="2679192"/>
            <a:ext cx="201168" cy="201168"/>
          </a:xfrm>
          <a:prstGeom prst="ellipse">
            <a:avLst/>
          </a:prstGeom>
          <a:solidFill>
            <a:srgbClr val="2FCC40"/>
          </a:solidFill>
          <a:ln w="12700">
            <a:solidFill>
              <a:srgbClr val="2FCC40"/>
            </a:solidFill>
            <a:prstDash val="solid"/>
          </a:ln>
        </p:spPr>
        <p:txBody>
          <a:bodyPr/>
          <a:lstStyle/>
          <a:p>
            <a:endParaRPr lang="en-US"/>
          </a:p>
        </p:txBody>
      </p:sp>
      <p:sp>
        <p:nvSpPr>
          <p:cNvPr id="27" name="Text 25"/>
          <p:cNvSpPr/>
          <p:nvPr/>
        </p:nvSpPr>
        <p:spPr>
          <a:xfrm>
            <a:off x="6885432" y="2606040"/>
            <a:ext cx="4846320" cy="274320"/>
          </a:xfrm>
          <a:prstGeom prst="rect">
            <a:avLst/>
          </a:prstGeom>
          <a:noFill/>
          <a:ln/>
        </p:spPr>
        <p:txBody>
          <a:bodyPr wrap="square" rtlCol="0" anchor="ctr"/>
          <a:lstStyle/>
          <a:p>
            <a:pPr marL="0" indent="0">
              <a:buNone/>
            </a:pPr>
            <a:r>
              <a:rPr lang="en-US" sz="1300" b="1" dirty="0">
                <a:solidFill>
                  <a:srgbClr val="1B2B54"/>
                </a:solidFill>
                <a:latin typeface="Calibri" pitchFamily="34" charset="0"/>
                <a:ea typeface="Calibri" pitchFamily="34" charset="-122"/>
                <a:cs typeface="Calibri" pitchFamily="34" charset="-120"/>
              </a:rPr>
              <a:t>Existing table DDL &amp; CDC event structures</a:t>
            </a:r>
            <a:endParaRPr lang="en-US" sz="1300" dirty="0"/>
          </a:p>
        </p:txBody>
      </p:sp>
      <p:sp>
        <p:nvSpPr>
          <p:cNvPr id="28" name="Text 26"/>
          <p:cNvSpPr/>
          <p:nvPr/>
        </p:nvSpPr>
        <p:spPr>
          <a:xfrm>
            <a:off x="6885432" y="2880360"/>
            <a:ext cx="4846320" cy="274320"/>
          </a:xfrm>
          <a:prstGeom prst="rect">
            <a:avLst/>
          </a:prstGeom>
          <a:noFill/>
          <a:ln/>
        </p:spPr>
        <p:txBody>
          <a:bodyPr wrap="square" rtlCol="0" anchor="ctr"/>
          <a:lstStyle/>
          <a:p>
            <a:pPr marL="0" indent="0">
              <a:buNone/>
            </a:pPr>
            <a:r>
              <a:rPr lang="en-US" sz="1100" dirty="0">
                <a:solidFill>
                  <a:srgbClr val="757E98"/>
                </a:solidFill>
                <a:latin typeface="Calibri" pitchFamily="34" charset="0"/>
                <a:ea typeface="Calibri" pitchFamily="34" charset="-122"/>
                <a:cs typeface="Calibri" pitchFamily="34" charset="-120"/>
              </a:rPr>
              <a:t>Complete snapshots, no assumptions</a:t>
            </a:r>
            <a:endParaRPr lang="en-US" sz="1100" dirty="0"/>
          </a:p>
        </p:txBody>
      </p:sp>
      <p:sp>
        <p:nvSpPr>
          <p:cNvPr id="29" name="Shape 27"/>
          <p:cNvSpPr/>
          <p:nvPr/>
        </p:nvSpPr>
        <p:spPr>
          <a:xfrm>
            <a:off x="6565392" y="3319272"/>
            <a:ext cx="201168" cy="201168"/>
          </a:xfrm>
          <a:prstGeom prst="ellipse">
            <a:avLst/>
          </a:prstGeom>
          <a:solidFill>
            <a:srgbClr val="2FCC40"/>
          </a:solidFill>
          <a:ln w="12700">
            <a:solidFill>
              <a:srgbClr val="2FCC40"/>
            </a:solidFill>
            <a:prstDash val="solid"/>
          </a:ln>
        </p:spPr>
        <p:txBody>
          <a:bodyPr/>
          <a:lstStyle/>
          <a:p>
            <a:endParaRPr lang="en-US"/>
          </a:p>
        </p:txBody>
      </p:sp>
      <p:sp>
        <p:nvSpPr>
          <p:cNvPr id="30" name="Text 28"/>
          <p:cNvSpPr/>
          <p:nvPr/>
        </p:nvSpPr>
        <p:spPr>
          <a:xfrm>
            <a:off x="6885432" y="3246120"/>
            <a:ext cx="4846320" cy="274320"/>
          </a:xfrm>
          <a:prstGeom prst="rect">
            <a:avLst/>
          </a:prstGeom>
          <a:noFill/>
          <a:ln/>
        </p:spPr>
        <p:txBody>
          <a:bodyPr wrap="square" rtlCol="0" anchor="ctr"/>
          <a:lstStyle/>
          <a:p>
            <a:pPr marL="0" indent="0">
              <a:buNone/>
            </a:pPr>
            <a:r>
              <a:rPr lang="en-US" sz="1300" b="1" dirty="0">
                <a:solidFill>
                  <a:srgbClr val="1B2B54"/>
                </a:solidFill>
                <a:latin typeface="Calibri" pitchFamily="34" charset="0"/>
                <a:ea typeface="Calibri" pitchFamily="34" charset="-122"/>
                <a:cs typeface="Calibri" pitchFamily="34" charset="-120"/>
              </a:rPr>
              <a:t>API contracts</a:t>
            </a:r>
            <a:endParaRPr lang="en-US" sz="1300" dirty="0"/>
          </a:p>
        </p:txBody>
      </p:sp>
      <p:sp>
        <p:nvSpPr>
          <p:cNvPr id="31" name="Text 29"/>
          <p:cNvSpPr/>
          <p:nvPr/>
        </p:nvSpPr>
        <p:spPr>
          <a:xfrm>
            <a:off x="6885432" y="3520440"/>
            <a:ext cx="4846320" cy="274320"/>
          </a:xfrm>
          <a:prstGeom prst="rect">
            <a:avLst/>
          </a:prstGeom>
          <a:noFill/>
          <a:ln/>
        </p:spPr>
        <p:txBody>
          <a:bodyPr wrap="square" rtlCol="0" anchor="ctr"/>
          <a:lstStyle/>
          <a:p>
            <a:pPr marL="0" indent="0">
              <a:buNone/>
            </a:pPr>
            <a:r>
              <a:rPr lang="en-US" sz="1100" dirty="0">
                <a:solidFill>
                  <a:srgbClr val="757E98"/>
                </a:solidFill>
                <a:latin typeface="Calibri" pitchFamily="34" charset="0"/>
                <a:ea typeface="Calibri" pitchFamily="34" charset="-122"/>
                <a:cs typeface="Calibri" pitchFamily="34" charset="-120"/>
              </a:rPr>
              <a:t>OpenAPI specs from upstream services</a:t>
            </a:r>
            <a:endParaRPr lang="en-US" sz="1100" dirty="0"/>
          </a:p>
        </p:txBody>
      </p:sp>
      <p:sp>
        <p:nvSpPr>
          <p:cNvPr id="32" name="Shape 30"/>
          <p:cNvSpPr/>
          <p:nvPr/>
        </p:nvSpPr>
        <p:spPr>
          <a:xfrm>
            <a:off x="6565392" y="3959352"/>
            <a:ext cx="201168" cy="201168"/>
          </a:xfrm>
          <a:prstGeom prst="ellipse">
            <a:avLst/>
          </a:prstGeom>
          <a:solidFill>
            <a:srgbClr val="2FCC40"/>
          </a:solidFill>
          <a:ln w="12700">
            <a:solidFill>
              <a:srgbClr val="2FCC40"/>
            </a:solidFill>
            <a:prstDash val="solid"/>
          </a:ln>
        </p:spPr>
        <p:txBody>
          <a:bodyPr/>
          <a:lstStyle/>
          <a:p>
            <a:endParaRPr lang="en-US"/>
          </a:p>
        </p:txBody>
      </p:sp>
      <p:sp>
        <p:nvSpPr>
          <p:cNvPr id="33" name="Text 31"/>
          <p:cNvSpPr/>
          <p:nvPr/>
        </p:nvSpPr>
        <p:spPr>
          <a:xfrm>
            <a:off x="6885432" y="3886200"/>
            <a:ext cx="4846320" cy="274320"/>
          </a:xfrm>
          <a:prstGeom prst="rect">
            <a:avLst/>
          </a:prstGeom>
          <a:noFill/>
          <a:ln/>
        </p:spPr>
        <p:txBody>
          <a:bodyPr wrap="square" rtlCol="0" anchor="ctr"/>
          <a:lstStyle/>
          <a:p>
            <a:pPr marL="0" indent="0">
              <a:buNone/>
            </a:pPr>
            <a:r>
              <a:rPr lang="en-US" sz="1300" b="1" dirty="0">
                <a:solidFill>
                  <a:srgbClr val="1B2B54"/>
                </a:solidFill>
                <a:latin typeface="Calibri" pitchFamily="34" charset="0"/>
                <a:ea typeface="Calibri" pitchFamily="34" charset="-122"/>
                <a:cs typeface="Calibri" pitchFamily="34" charset="-120"/>
              </a:rPr>
              <a:t>Network topology &amp; deployment patterns</a:t>
            </a:r>
            <a:endParaRPr lang="en-US" sz="1300" dirty="0"/>
          </a:p>
        </p:txBody>
      </p:sp>
      <p:sp>
        <p:nvSpPr>
          <p:cNvPr id="34" name="Text 32"/>
          <p:cNvSpPr/>
          <p:nvPr/>
        </p:nvSpPr>
        <p:spPr>
          <a:xfrm>
            <a:off x="6885432" y="4160520"/>
            <a:ext cx="4846320" cy="274320"/>
          </a:xfrm>
          <a:prstGeom prst="rect">
            <a:avLst/>
          </a:prstGeom>
          <a:noFill/>
          <a:ln/>
        </p:spPr>
        <p:txBody>
          <a:bodyPr wrap="square" rtlCol="0" anchor="ctr"/>
          <a:lstStyle/>
          <a:p>
            <a:pPr marL="0" indent="0">
              <a:buNone/>
            </a:pPr>
            <a:r>
              <a:rPr lang="en-US" sz="1100" dirty="0">
                <a:solidFill>
                  <a:srgbClr val="757E98"/>
                </a:solidFill>
                <a:latin typeface="Calibri" pitchFamily="34" charset="0"/>
                <a:ea typeface="Calibri" pitchFamily="34" charset="-122"/>
                <a:cs typeface="Calibri" pitchFamily="34" charset="-120"/>
              </a:rPr>
              <a:t>K8s, routing, environment configs</a:t>
            </a:r>
            <a:endParaRPr lang="en-US" sz="1100" dirty="0"/>
          </a:p>
        </p:txBody>
      </p:sp>
      <p:sp>
        <p:nvSpPr>
          <p:cNvPr id="35" name="Shape 33"/>
          <p:cNvSpPr/>
          <p:nvPr/>
        </p:nvSpPr>
        <p:spPr>
          <a:xfrm>
            <a:off x="320040" y="4663440"/>
            <a:ext cx="11548872" cy="457200"/>
          </a:xfrm>
          <a:prstGeom prst="rect">
            <a:avLst/>
          </a:prstGeom>
          <a:solidFill>
            <a:srgbClr val="1B2B54"/>
          </a:solidFill>
          <a:ln w="12700">
            <a:solidFill>
              <a:srgbClr val="1B2B54"/>
            </a:solidFill>
            <a:prstDash val="solid"/>
          </a:ln>
        </p:spPr>
        <p:txBody>
          <a:bodyPr/>
          <a:lstStyle/>
          <a:p>
            <a:endParaRPr lang="en-US"/>
          </a:p>
        </p:txBody>
      </p:sp>
      <p:sp>
        <p:nvSpPr>
          <p:cNvPr id="36" name="Text 34"/>
          <p:cNvSpPr/>
          <p:nvPr/>
        </p:nvSpPr>
        <p:spPr>
          <a:xfrm>
            <a:off x="457200" y="4663440"/>
            <a:ext cx="1124712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Owner: Tim Medina (reference materials)  +  Kyle Maggard (infrastructure verification)  |  Deadline: 1 week before pod launch</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
          </a:xfrm>
          <a:prstGeom prst="rect">
            <a:avLst/>
          </a:prstGeom>
          <a:solidFill>
            <a:srgbClr val="1B2B54"/>
          </a:solidFill>
          <a:ln w="12700">
            <a:solidFill>
              <a:srgbClr val="1B2B54"/>
            </a:solidFill>
            <a:prstDash val="solid"/>
          </a:ln>
        </p:spPr>
        <p:txBody>
          <a:bodyPr/>
          <a:lstStyle/>
          <a:p>
            <a:endParaRPr lang="en-US"/>
          </a:p>
        </p:txBody>
      </p:sp>
      <p:sp>
        <p:nvSpPr>
          <p:cNvPr id="3" name="Text 1"/>
          <p:cNvSpPr/>
          <p:nvPr/>
        </p:nvSpPr>
        <p:spPr>
          <a:xfrm>
            <a:off x="320040" y="0"/>
            <a:ext cx="11521440" cy="6858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Action 3: Team Design Kickoff</a:t>
            </a:r>
            <a:endParaRPr lang="en-US" sz="2400" dirty="0"/>
          </a:p>
        </p:txBody>
      </p:sp>
      <p:sp>
        <p:nvSpPr>
          <p:cNvPr id="4" name="Text 2"/>
          <p:cNvSpPr/>
          <p:nvPr/>
        </p:nvSpPr>
        <p:spPr>
          <a:xfrm>
            <a:off x="320040" y="749808"/>
            <a:ext cx="11548872" cy="365760"/>
          </a:xfrm>
          <a:prstGeom prst="rect">
            <a:avLst/>
          </a:prstGeom>
          <a:noFill/>
          <a:ln/>
        </p:spPr>
        <p:txBody>
          <a:bodyPr wrap="square" rtlCol="0" anchor="ctr"/>
          <a:lstStyle/>
          <a:p>
            <a:pPr marL="0" indent="0">
              <a:buNone/>
            </a:pPr>
            <a:r>
              <a:rPr lang="en-US" sz="1400" i="1" dirty="0">
                <a:solidFill>
                  <a:srgbClr val="757E98"/>
                </a:solidFill>
                <a:latin typeface="Calibri" pitchFamily="34" charset="0"/>
                <a:ea typeface="Calibri" pitchFamily="34" charset="-122"/>
                <a:cs typeface="Calibri" pitchFamily="34" charset="-120"/>
              </a:rPr>
              <a:t>Engineering + Architecture + Product + QA — Same Room</a:t>
            </a:r>
            <a:endParaRPr lang="en-US" sz="1400" dirty="0"/>
          </a:p>
        </p:txBody>
      </p:sp>
      <p:sp>
        <p:nvSpPr>
          <p:cNvPr id="5" name="Shape 3"/>
          <p:cNvSpPr/>
          <p:nvPr/>
        </p:nvSpPr>
        <p:spPr>
          <a:xfrm>
            <a:off x="548640" y="1188720"/>
            <a:ext cx="2514600" cy="1828800"/>
          </a:xfrm>
          <a:prstGeom prst="rect">
            <a:avLst/>
          </a:prstGeom>
          <a:solidFill>
            <a:srgbClr val="E8EAEE"/>
          </a:solidFill>
          <a:ln w="12700">
            <a:solidFill>
              <a:srgbClr val="D0D3DC"/>
            </a:solidFill>
            <a:prstDash val="solid"/>
          </a:ln>
        </p:spPr>
        <p:txBody>
          <a:bodyPr/>
          <a:lstStyle/>
          <a:p>
            <a:endParaRPr lang="en-US"/>
          </a:p>
        </p:txBody>
      </p:sp>
      <p:sp>
        <p:nvSpPr>
          <p:cNvPr id="6" name="Shape 4"/>
          <p:cNvSpPr/>
          <p:nvPr/>
        </p:nvSpPr>
        <p:spPr>
          <a:xfrm>
            <a:off x="1531620" y="1298448"/>
            <a:ext cx="548640" cy="548640"/>
          </a:xfrm>
          <a:prstGeom prst="ellipse">
            <a:avLst/>
          </a:prstGeom>
          <a:solidFill>
            <a:srgbClr val="1B2B54"/>
          </a:solidFill>
          <a:ln w="12700">
            <a:solidFill>
              <a:srgbClr val="1B2B54"/>
            </a:solidFill>
            <a:prstDash val="solid"/>
          </a:ln>
        </p:spPr>
        <p:txBody>
          <a:bodyPr/>
          <a:lstStyle/>
          <a:p>
            <a:endParaRPr lang="en-US"/>
          </a:p>
        </p:txBody>
      </p:sp>
      <p:sp>
        <p:nvSpPr>
          <p:cNvPr id="7" name="Text 5"/>
          <p:cNvSpPr/>
          <p:nvPr/>
        </p:nvSpPr>
        <p:spPr>
          <a:xfrm>
            <a:off x="1531620" y="1298448"/>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8" name="Text 6"/>
          <p:cNvSpPr/>
          <p:nvPr/>
        </p:nvSpPr>
        <p:spPr>
          <a:xfrm>
            <a:off x="685800" y="1920240"/>
            <a:ext cx="2240280" cy="365760"/>
          </a:xfrm>
          <a:prstGeom prst="rect">
            <a:avLst/>
          </a:prstGeom>
          <a:noFill/>
          <a:ln/>
        </p:spPr>
        <p:txBody>
          <a:bodyPr wrap="square" rtlCol="0" anchor="ctr"/>
          <a:lstStyle/>
          <a:p>
            <a:pPr marL="0" indent="0" algn="ctr">
              <a:buNone/>
            </a:pPr>
            <a:r>
              <a:rPr lang="en-US" sz="1300" b="1" dirty="0">
                <a:solidFill>
                  <a:srgbClr val="1B2B54"/>
                </a:solidFill>
                <a:latin typeface="Calibri" pitchFamily="34" charset="0"/>
                <a:ea typeface="Calibri" pitchFamily="34" charset="-122"/>
                <a:cs typeface="Calibri" pitchFamily="34" charset="-120"/>
              </a:rPr>
              <a:t>Review As-Is</a:t>
            </a:r>
            <a:endParaRPr lang="en-US" sz="1300" dirty="0"/>
          </a:p>
        </p:txBody>
      </p:sp>
      <p:sp>
        <p:nvSpPr>
          <p:cNvPr id="9" name="Text 7"/>
          <p:cNvSpPr/>
          <p:nvPr/>
        </p:nvSpPr>
        <p:spPr>
          <a:xfrm>
            <a:off x="685800" y="2304288"/>
            <a:ext cx="2240280" cy="594360"/>
          </a:xfrm>
          <a:prstGeom prst="rect">
            <a:avLst/>
          </a:prstGeom>
          <a:noFill/>
          <a:ln/>
        </p:spPr>
        <p:txBody>
          <a:bodyPr wrap="square" rtlCol="0" anchor="ctr"/>
          <a:lstStyle/>
          <a:p>
            <a:pPr marL="0" indent="0" algn="ctr">
              <a:buNone/>
            </a:pPr>
            <a:r>
              <a:rPr lang="en-US" sz="1150" dirty="0">
                <a:solidFill>
                  <a:srgbClr val="47516A"/>
                </a:solidFill>
                <a:latin typeface="Calibri" pitchFamily="34" charset="0"/>
                <a:ea typeface="Calibri" pitchFamily="34" charset="-122"/>
                <a:cs typeface="Calibri" pitchFamily="34" charset="-120"/>
              </a:rPr>
              <a:t>Architecture in context of</a:t>
            </a:r>
            <a:endParaRPr lang="en-US" sz="1150" dirty="0"/>
          </a:p>
          <a:p>
            <a:pPr marL="0" indent="0" algn="ctr">
              <a:buNone/>
            </a:pPr>
            <a:r>
              <a:rPr lang="en-US" sz="1150" dirty="0">
                <a:solidFill>
                  <a:srgbClr val="47516A"/>
                </a:solidFill>
                <a:latin typeface="Calibri" pitchFamily="34" charset="0"/>
                <a:ea typeface="Calibri" pitchFamily="34" charset="-122"/>
                <a:cs typeface="Calibri" pitchFamily="34" charset="-120"/>
              </a:rPr>
              <a:t>Experity platform</a:t>
            </a:r>
            <a:endParaRPr lang="en-US" sz="1150" dirty="0"/>
          </a:p>
        </p:txBody>
      </p:sp>
      <p:sp>
        <p:nvSpPr>
          <p:cNvPr id="10" name="Text 8"/>
          <p:cNvSpPr/>
          <p:nvPr/>
        </p:nvSpPr>
        <p:spPr>
          <a:xfrm>
            <a:off x="3108960" y="1920240"/>
            <a:ext cx="411480" cy="365760"/>
          </a:xfrm>
          <a:prstGeom prst="rect">
            <a:avLst/>
          </a:prstGeom>
          <a:noFill/>
          <a:ln/>
        </p:spPr>
        <p:txBody>
          <a:bodyPr wrap="square" rtlCol="0" anchor="ctr"/>
          <a:lstStyle/>
          <a:p>
            <a:pPr marL="0" indent="0" algn="ctr">
              <a:buNone/>
            </a:pPr>
            <a:r>
              <a:rPr lang="en-US" sz="2000" b="1" dirty="0">
                <a:solidFill>
                  <a:srgbClr val="1B2B54"/>
                </a:solidFill>
                <a:latin typeface="Calibri" pitchFamily="34" charset="0"/>
                <a:ea typeface="Calibri" pitchFamily="34" charset="-122"/>
                <a:cs typeface="Calibri" pitchFamily="34" charset="-120"/>
              </a:rPr>
              <a:t>→</a:t>
            </a:r>
            <a:endParaRPr lang="en-US" sz="2000" dirty="0"/>
          </a:p>
        </p:txBody>
      </p:sp>
      <p:sp>
        <p:nvSpPr>
          <p:cNvPr id="11" name="Shape 9"/>
          <p:cNvSpPr/>
          <p:nvPr/>
        </p:nvSpPr>
        <p:spPr>
          <a:xfrm>
            <a:off x="3474720" y="1188720"/>
            <a:ext cx="2514600" cy="1828800"/>
          </a:xfrm>
          <a:prstGeom prst="rect">
            <a:avLst/>
          </a:prstGeom>
          <a:solidFill>
            <a:srgbClr val="E8EAEE"/>
          </a:solidFill>
          <a:ln w="12700">
            <a:solidFill>
              <a:srgbClr val="D0D3DC"/>
            </a:solidFill>
            <a:prstDash val="solid"/>
          </a:ln>
        </p:spPr>
        <p:txBody>
          <a:bodyPr/>
          <a:lstStyle/>
          <a:p>
            <a:endParaRPr lang="en-US"/>
          </a:p>
        </p:txBody>
      </p:sp>
      <p:sp>
        <p:nvSpPr>
          <p:cNvPr id="12" name="Shape 10"/>
          <p:cNvSpPr/>
          <p:nvPr/>
        </p:nvSpPr>
        <p:spPr>
          <a:xfrm>
            <a:off x="4457700" y="1298448"/>
            <a:ext cx="548640" cy="548640"/>
          </a:xfrm>
          <a:prstGeom prst="ellipse">
            <a:avLst/>
          </a:prstGeom>
          <a:solidFill>
            <a:srgbClr val="1B2B54"/>
          </a:solidFill>
          <a:ln w="12700">
            <a:solidFill>
              <a:srgbClr val="1B2B54"/>
            </a:solidFill>
            <a:prstDash val="solid"/>
          </a:ln>
        </p:spPr>
        <p:txBody>
          <a:bodyPr/>
          <a:lstStyle/>
          <a:p>
            <a:endParaRPr lang="en-US"/>
          </a:p>
        </p:txBody>
      </p:sp>
      <p:sp>
        <p:nvSpPr>
          <p:cNvPr id="13" name="Text 11"/>
          <p:cNvSpPr/>
          <p:nvPr/>
        </p:nvSpPr>
        <p:spPr>
          <a:xfrm>
            <a:off x="4457700" y="1298448"/>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4" name="Text 12"/>
          <p:cNvSpPr/>
          <p:nvPr/>
        </p:nvSpPr>
        <p:spPr>
          <a:xfrm>
            <a:off x="3611880" y="1920240"/>
            <a:ext cx="2240280" cy="365760"/>
          </a:xfrm>
          <a:prstGeom prst="rect">
            <a:avLst/>
          </a:prstGeom>
          <a:noFill/>
          <a:ln/>
        </p:spPr>
        <p:txBody>
          <a:bodyPr wrap="square" rtlCol="0" anchor="ctr"/>
          <a:lstStyle/>
          <a:p>
            <a:pPr marL="0" indent="0" algn="ctr">
              <a:buNone/>
            </a:pPr>
            <a:r>
              <a:rPr lang="en-US" sz="1300" b="1" dirty="0">
                <a:solidFill>
                  <a:srgbClr val="1B2B54"/>
                </a:solidFill>
                <a:latin typeface="Calibri" pitchFamily="34" charset="0"/>
                <a:ea typeface="Calibri" pitchFamily="34" charset="-122"/>
                <a:cs typeface="Calibri" pitchFamily="34" charset="-120"/>
              </a:rPr>
              <a:t>Whiteboard Feature</a:t>
            </a:r>
            <a:endParaRPr lang="en-US" sz="1300" dirty="0"/>
          </a:p>
        </p:txBody>
      </p:sp>
      <p:sp>
        <p:nvSpPr>
          <p:cNvPr id="15" name="Text 13"/>
          <p:cNvSpPr/>
          <p:nvPr/>
        </p:nvSpPr>
        <p:spPr>
          <a:xfrm>
            <a:off x="3611880" y="2304288"/>
            <a:ext cx="2240280" cy="594360"/>
          </a:xfrm>
          <a:prstGeom prst="rect">
            <a:avLst/>
          </a:prstGeom>
          <a:noFill/>
          <a:ln/>
        </p:spPr>
        <p:txBody>
          <a:bodyPr wrap="square" rtlCol="0" anchor="ctr"/>
          <a:lstStyle/>
          <a:p>
            <a:pPr marL="0" indent="0" algn="ctr">
              <a:buNone/>
            </a:pPr>
            <a:r>
              <a:rPr lang="en-US" sz="1150" dirty="0">
                <a:solidFill>
                  <a:srgbClr val="47516A"/>
                </a:solidFill>
                <a:latin typeface="Calibri" pitchFamily="34" charset="0"/>
                <a:ea typeface="Calibri" pitchFamily="34" charset="-122"/>
                <a:cs typeface="Calibri" pitchFamily="34" charset="-120"/>
              </a:rPr>
              <a:t>Map every system interaction</a:t>
            </a:r>
            <a:endParaRPr lang="en-US" sz="1150" dirty="0"/>
          </a:p>
          <a:p>
            <a:pPr marL="0" indent="0" algn="ctr">
              <a:buNone/>
            </a:pPr>
            <a:r>
              <a:rPr lang="en-US" sz="1150" dirty="0">
                <a:solidFill>
                  <a:srgbClr val="47516A"/>
                </a:solidFill>
                <a:latin typeface="Calibri" pitchFamily="34" charset="0"/>
                <a:ea typeface="Calibri" pitchFamily="34" charset="-122"/>
                <a:cs typeface="Calibri" pitchFamily="34" charset="-120"/>
              </a:rPr>
              <a:t>end-to-end</a:t>
            </a:r>
            <a:endParaRPr lang="en-US" sz="1150" dirty="0"/>
          </a:p>
        </p:txBody>
      </p:sp>
      <p:sp>
        <p:nvSpPr>
          <p:cNvPr id="16" name="Text 14"/>
          <p:cNvSpPr/>
          <p:nvPr/>
        </p:nvSpPr>
        <p:spPr>
          <a:xfrm>
            <a:off x="6035040" y="1920240"/>
            <a:ext cx="411480" cy="365760"/>
          </a:xfrm>
          <a:prstGeom prst="rect">
            <a:avLst/>
          </a:prstGeom>
          <a:noFill/>
          <a:ln/>
        </p:spPr>
        <p:txBody>
          <a:bodyPr wrap="square" rtlCol="0" anchor="ctr"/>
          <a:lstStyle/>
          <a:p>
            <a:pPr marL="0" indent="0" algn="ctr">
              <a:buNone/>
            </a:pPr>
            <a:r>
              <a:rPr lang="en-US" sz="2000" b="1" dirty="0">
                <a:solidFill>
                  <a:srgbClr val="1B2B54"/>
                </a:solidFill>
                <a:latin typeface="Calibri" pitchFamily="34" charset="0"/>
                <a:ea typeface="Calibri" pitchFamily="34" charset="-122"/>
                <a:cs typeface="Calibri" pitchFamily="34" charset="-120"/>
              </a:rPr>
              <a:t>→</a:t>
            </a:r>
            <a:endParaRPr lang="en-US" sz="2000" dirty="0"/>
          </a:p>
        </p:txBody>
      </p:sp>
      <p:sp>
        <p:nvSpPr>
          <p:cNvPr id="17" name="Shape 15"/>
          <p:cNvSpPr/>
          <p:nvPr/>
        </p:nvSpPr>
        <p:spPr>
          <a:xfrm>
            <a:off x="6400800" y="1188720"/>
            <a:ext cx="2514600" cy="1828800"/>
          </a:xfrm>
          <a:prstGeom prst="rect">
            <a:avLst/>
          </a:prstGeom>
          <a:solidFill>
            <a:srgbClr val="E8EAEE"/>
          </a:solidFill>
          <a:ln w="12700">
            <a:solidFill>
              <a:srgbClr val="D0D3DC"/>
            </a:solidFill>
            <a:prstDash val="solid"/>
          </a:ln>
        </p:spPr>
        <p:txBody>
          <a:bodyPr/>
          <a:lstStyle/>
          <a:p>
            <a:endParaRPr lang="en-US"/>
          </a:p>
        </p:txBody>
      </p:sp>
      <p:sp>
        <p:nvSpPr>
          <p:cNvPr id="18" name="Shape 16"/>
          <p:cNvSpPr/>
          <p:nvPr/>
        </p:nvSpPr>
        <p:spPr>
          <a:xfrm>
            <a:off x="7383780" y="1298448"/>
            <a:ext cx="548640" cy="548640"/>
          </a:xfrm>
          <a:prstGeom prst="ellipse">
            <a:avLst/>
          </a:prstGeom>
          <a:solidFill>
            <a:srgbClr val="1B2B54"/>
          </a:solidFill>
          <a:ln w="12700">
            <a:solidFill>
              <a:srgbClr val="1B2B54"/>
            </a:solidFill>
            <a:prstDash val="solid"/>
          </a:ln>
        </p:spPr>
        <p:txBody>
          <a:bodyPr/>
          <a:lstStyle/>
          <a:p>
            <a:endParaRPr lang="en-US"/>
          </a:p>
        </p:txBody>
      </p:sp>
      <p:sp>
        <p:nvSpPr>
          <p:cNvPr id="19" name="Text 17"/>
          <p:cNvSpPr/>
          <p:nvPr/>
        </p:nvSpPr>
        <p:spPr>
          <a:xfrm>
            <a:off x="7383780" y="1298448"/>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Text 18"/>
          <p:cNvSpPr/>
          <p:nvPr/>
        </p:nvSpPr>
        <p:spPr>
          <a:xfrm>
            <a:off x="6537960" y="1920240"/>
            <a:ext cx="2240280" cy="365760"/>
          </a:xfrm>
          <a:prstGeom prst="rect">
            <a:avLst/>
          </a:prstGeom>
          <a:noFill/>
          <a:ln/>
        </p:spPr>
        <p:txBody>
          <a:bodyPr wrap="square" rtlCol="0" anchor="ctr"/>
          <a:lstStyle/>
          <a:p>
            <a:pPr marL="0" indent="0" algn="ctr">
              <a:buNone/>
            </a:pPr>
            <a:r>
              <a:rPr lang="en-US" sz="1300" b="1" dirty="0">
                <a:solidFill>
                  <a:srgbClr val="1B2B54"/>
                </a:solidFill>
                <a:latin typeface="Calibri" pitchFamily="34" charset="0"/>
                <a:ea typeface="Calibri" pitchFamily="34" charset="-122"/>
                <a:cs typeface="Calibri" pitchFamily="34" charset="-120"/>
              </a:rPr>
              <a:t>Document ALL Touchpoints</a:t>
            </a:r>
            <a:endParaRPr lang="en-US" sz="1300" dirty="0"/>
          </a:p>
        </p:txBody>
      </p:sp>
      <p:sp>
        <p:nvSpPr>
          <p:cNvPr id="21" name="Text 19"/>
          <p:cNvSpPr/>
          <p:nvPr/>
        </p:nvSpPr>
        <p:spPr>
          <a:xfrm>
            <a:off x="6537960" y="2304288"/>
            <a:ext cx="2240280" cy="594360"/>
          </a:xfrm>
          <a:prstGeom prst="rect">
            <a:avLst/>
          </a:prstGeom>
          <a:noFill/>
          <a:ln/>
        </p:spPr>
        <p:txBody>
          <a:bodyPr wrap="square" rtlCol="0" anchor="ctr"/>
          <a:lstStyle/>
          <a:p>
            <a:pPr marL="0" indent="0" algn="ctr">
              <a:buNone/>
            </a:pPr>
            <a:r>
              <a:rPr lang="en-US" sz="1150" dirty="0">
                <a:solidFill>
                  <a:srgbClr val="47516A"/>
                </a:solidFill>
                <a:latin typeface="Calibri" pitchFamily="34" charset="0"/>
                <a:ea typeface="Calibri" pitchFamily="34" charset="-122"/>
                <a:cs typeface="Calibri" pitchFamily="34" charset="-120"/>
              </a:rPr>
              <a:t>Table names, schemas, CDC events,</a:t>
            </a:r>
            <a:endParaRPr lang="en-US" sz="1150" dirty="0"/>
          </a:p>
          <a:p>
            <a:pPr marL="0" indent="0" algn="ctr">
              <a:buNone/>
            </a:pPr>
            <a:r>
              <a:rPr lang="en-US" sz="1150" dirty="0">
                <a:solidFill>
                  <a:srgbClr val="47516A"/>
                </a:solidFill>
                <a:latin typeface="Calibri" pitchFamily="34" charset="0"/>
                <a:ea typeface="Calibri" pitchFamily="34" charset="-122"/>
                <a:cs typeface="Calibri" pitchFamily="34" charset="-120"/>
              </a:rPr>
              <a:t>field sizes, API contracts</a:t>
            </a:r>
            <a:endParaRPr lang="en-US" sz="1150" dirty="0"/>
          </a:p>
        </p:txBody>
      </p:sp>
      <p:sp>
        <p:nvSpPr>
          <p:cNvPr id="22" name="Text 20"/>
          <p:cNvSpPr/>
          <p:nvPr/>
        </p:nvSpPr>
        <p:spPr>
          <a:xfrm>
            <a:off x="8961120" y="1920240"/>
            <a:ext cx="411480" cy="365760"/>
          </a:xfrm>
          <a:prstGeom prst="rect">
            <a:avLst/>
          </a:prstGeom>
          <a:noFill/>
          <a:ln/>
        </p:spPr>
        <p:txBody>
          <a:bodyPr wrap="square" rtlCol="0" anchor="ctr"/>
          <a:lstStyle/>
          <a:p>
            <a:pPr marL="0" indent="0" algn="ctr">
              <a:buNone/>
            </a:pPr>
            <a:r>
              <a:rPr lang="en-US" sz="2000" b="1" dirty="0">
                <a:solidFill>
                  <a:srgbClr val="1B2B54"/>
                </a:solidFill>
                <a:latin typeface="Calibri" pitchFamily="34" charset="0"/>
                <a:ea typeface="Calibri" pitchFamily="34" charset="-122"/>
                <a:cs typeface="Calibri" pitchFamily="34" charset="-120"/>
              </a:rPr>
              <a:t>→</a:t>
            </a:r>
            <a:endParaRPr lang="en-US" sz="2000" dirty="0"/>
          </a:p>
        </p:txBody>
      </p:sp>
      <p:sp>
        <p:nvSpPr>
          <p:cNvPr id="23" name="Shape 21"/>
          <p:cNvSpPr/>
          <p:nvPr/>
        </p:nvSpPr>
        <p:spPr>
          <a:xfrm>
            <a:off x="9326880" y="1188720"/>
            <a:ext cx="2514600" cy="1828800"/>
          </a:xfrm>
          <a:prstGeom prst="rect">
            <a:avLst/>
          </a:prstGeom>
          <a:solidFill>
            <a:srgbClr val="E8EAEE"/>
          </a:solidFill>
          <a:ln w="12700">
            <a:solidFill>
              <a:srgbClr val="D0D3DC"/>
            </a:solidFill>
            <a:prstDash val="solid"/>
          </a:ln>
        </p:spPr>
        <p:txBody>
          <a:bodyPr/>
          <a:lstStyle/>
          <a:p>
            <a:endParaRPr lang="en-US"/>
          </a:p>
        </p:txBody>
      </p:sp>
      <p:sp>
        <p:nvSpPr>
          <p:cNvPr id="24" name="Shape 22"/>
          <p:cNvSpPr/>
          <p:nvPr/>
        </p:nvSpPr>
        <p:spPr>
          <a:xfrm>
            <a:off x="10309860" y="1298448"/>
            <a:ext cx="548640" cy="548640"/>
          </a:xfrm>
          <a:prstGeom prst="ellipse">
            <a:avLst/>
          </a:prstGeom>
          <a:solidFill>
            <a:srgbClr val="1B2B54"/>
          </a:solidFill>
          <a:ln w="12700">
            <a:solidFill>
              <a:srgbClr val="1B2B54"/>
            </a:solidFill>
            <a:prstDash val="solid"/>
          </a:ln>
        </p:spPr>
        <p:txBody>
          <a:bodyPr/>
          <a:lstStyle/>
          <a:p>
            <a:endParaRPr lang="en-US"/>
          </a:p>
        </p:txBody>
      </p:sp>
      <p:sp>
        <p:nvSpPr>
          <p:cNvPr id="25" name="Text 23"/>
          <p:cNvSpPr/>
          <p:nvPr/>
        </p:nvSpPr>
        <p:spPr>
          <a:xfrm>
            <a:off x="10309860" y="1298448"/>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6" name="Text 24"/>
          <p:cNvSpPr/>
          <p:nvPr/>
        </p:nvSpPr>
        <p:spPr>
          <a:xfrm>
            <a:off x="9464040" y="1920240"/>
            <a:ext cx="2240280" cy="365760"/>
          </a:xfrm>
          <a:prstGeom prst="rect">
            <a:avLst/>
          </a:prstGeom>
          <a:noFill/>
          <a:ln/>
        </p:spPr>
        <p:txBody>
          <a:bodyPr wrap="square" rtlCol="0" anchor="ctr"/>
          <a:lstStyle/>
          <a:p>
            <a:pPr marL="0" indent="0" algn="ctr">
              <a:buNone/>
            </a:pPr>
            <a:r>
              <a:rPr lang="en-US" sz="1300" b="1" dirty="0">
                <a:solidFill>
                  <a:srgbClr val="1B2B54"/>
                </a:solidFill>
                <a:latin typeface="Calibri" pitchFamily="34" charset="0"/>
                <a:ea typeface="Calibri" pitchFamily="34" charset="-122"/>
                <a:cs typeface="Calibri" pitchFamily="34" charset="-120"/>
              </a:rPr>
              <a:t>Populate &amp; Engage</a:t>
            </a:r>
            <a:endParaRPr lang="en-US" sz="1300" dirty="0"/>
          </a:p>
        </p:txBody>
      </p:sp>
      <p:sp>
        <p:nvSpPr>
          <p:cNvPr id="27" name="Text 25"/>
          <p:cNvSpPr/>
          <p:nvPr/>
        </p:nvSpPr>
        <p:spPr>
          <a:xfrm>
            <a:off x="9464040" y="2304288"/>
            <a:ext cx="2240280" cy="594360"/>
          </a:xfrm>
          <a:prstGeom prst="rect">
            <a:avLst/>
          </a:prstGeom>
          <a:noFill/>
          <a:ln/>
        </p:spPr>
        <p:txBody>
          <a:bodyPr wrap="square" rtlCol="0" anchor="ctr"/>
          <a:lstStyle/>
          <a:p>
            <a:pPr marL="0" indent="0" algn="ctr">
              <a:buNone/>
            </a:pPr>
            <a:r>
              <a:rPr lang="en-US" sz="1150" dirty="0">
                <a:solidFill>
                  <a:srgbClr val="47516A"/>
                </a:solidFill>
                <a:latin typeface="Calibri" pitchFamily="34" charset="0"/>
                <a:ea typeface="Calibri" pitchFamily="34" charset="-122"/>
                <a:cs typeface="Calibri" pitchFamily="34" charset="-120"/>
              </a:rPr>
              <a:t>Fill integration surface folder</a:t>
            </a:r>
            <a:endParaRPr lang="en-US" sz="1150" dirty="0"/>
          </a:p>
          <a:p>
            <a:pPr marL="0" indent="0" algn="ctr">
              <a:buNone/>
            </a:pPr>
            <a:r>
              <a:rPr lang="en-US" sz="1150" dirty="0">
                <a:solidFill>
                  <a:srgbClr val="47516A"/>
                </a:solidFill>
                <a:latin typeface="Calibri" pitchFamily="34" charset="0"/>
                <a:ea typeface="Calibri" pitchFamily="34" charset="-122"/>
                <a:cs typeface="Calibri" pitchFamily="34" charset="-120"/>
              </a:rPr>
              <a:t>then engage AI agents</a:t>
            </a:r>
            <a:endParaRPr lang="en-US" sz="1150" dirty="0"/>
          </a:p>
        </p:txBody>
      </p:sp>
      <p:sp>
        <p:nvSpPr>
          <p:cNvPr id="28" name="Shape 26"/>
          <p:cNvSpPr/>
          <p:nvPr/>
        </p:nvSpPr>
        <p:spPr>
          <a:xfrm>
            <a:off x="320040" y="3200400"/>
            <a:ext cx="11548872" cy="530352"/>
          </a:xfrm>
          <a:prstGeom prst="rect">
            <a:avLst/>
          </a:prstGeom>
          <a:solidFill>
            <a:srgbClr val="FFF8E8"/>
          </a:solidFill>
          <a:ln w="12700">
            <a:solidFill>
              <a:srgbClr val="2FCC40"/>
            </a:solidFill>
            <a:prstDash val="solid"/>
          </a:ln>
        </p:spPr>
        <p:txBody>
          <a:bodyPr/>
          <a:lstStyle/>
          <a:p>
            <a:endParaRPr lang="en-US"/>
          </a:p>
        </p:txBody>
      </p:sp>
      <p:sp>
        <p:nvSpPr>
          <p:cNvPr id="29" name="Text 27"/>
          <p:cNvSpPr/>
          <p:nvPr/>
        </p:nvSpPr>
        <p:spPr>
          <a:xfrm>
            <a:off x="502920" y="3200400"/>
            <a:ext cx="11155680" cy="530352"/>
          </a:xfrm>
          <a:prstGeom prst="rect">
            <a:avLst/>
          </a:prstGeom>
          <a:noFill/>
          <a:ln/>
        </p:spPr>
        <p:txBody>
          <a:bodyPr wrap="square" rtlCol="0" anchor="ctr"/>
          <a:lstStyle/>
          <a:p>
            <a:pPr marL="0" indent="0">
              <a:buNone/>
            </a:pPr>
            <a:r>
              <a:rPr lang="en-US" sz="1400" b="1" dirty="0">
                <a:solidFill>
                  <a:srgbClr val="1B2B54"/>
                </a:solidFill>
                <a:latin typeface="Calibri" pitchFamily="34" charset="0"/>
                <a:ea typeface="Calibri" pitchFamily="34" charset="-122"/>
                <a:cs typeface="Calibri" pitchFamily="34" charset="-120"/>
              </a:rPr>
              <a:t>Non-negotiable: AI agents are NOT engaged until the integration surface folder is complete and validated.</a:t>
            </a:r>
            <a:endParaRPr lang="en-US" sz="1400" dirty="0"/>
          </a:p>
        </p:txBody>
      </p:sp>
      <p:sp>
        <p:nvSpPr>
          <p:cNvPr id="30" name="Text 28"/>
          <p:cNvSpPr/>
          <p:nvPr/>
        </p:nvSpPr>
        <p:spPr>
          <a:xfrm>
            <a:off x="320040" y="3858768"/>
            <a:ext cx="11548872" cy="347472"/>
          </a:xfrm>
          <a:prstGeom prst="rect">
            <a:avLst/>
          </a:prstGeom>
          <a:noFill/>
          <a:ln/>
        </p:spPr>
        <p:txBody>
          <a:bodyPr wrap="square" rtlCol="0" anchor="ctr"/>
          <a:lstStyle/>
          <a:p>
            <a:pPr marL="0" indent="0">
              <a:buNone/>
            </a:pPr>
            <a:r>
              <a:rPr lang="en-US" sz="1300" b="1" dirty="0">
                <a:solidFill>
                  <a:srgbClr val="1B2B54"/>
                </a:solidFill>
                <a:latin typeface="Calibri" pitchFamily="34" charset="0"/>
                <a:ea typeface="Calibri" pitchFamily="34" charset="-122"/>
                <a:cs typeface="Calibri" pitchFamily="34" charset="-120"/>
              </a:rPr>
              <a:t>Integration Surface Folder Contents: Touchpoints outside scope of work</a:t>
            </a:r>
            <a:endParaRPr lang="en-US" sz="1300" dirty="0"/>
          </a:p>
        </p:txBody>
      </p:sp>
      <p:sp>
        <p:nvSpPr>
          <p:cNvPr id="31" name="Shape 29"/>
          <p:cNvSpPr/>
          <p:nvPr/>
        </p:nvSpPr>
        <p:spPr>
          <a:xfrm>
            <a:off x="320040" y="4251960"/>
            <a:ext cx="3657600" cy="685800"/>
          </a:xfrm>
          <a:prstGeom prst="rect">
            <a:avLst/>
          </a:prstGeom>
          <a:solidFill>
            <a:srgbClr val="1B2B54"/>
          </a:solidFill>
          <a:ln w="12700">
            <a:solidFill>
              <a:srgbClr val="1B2B54"/>
            </a:solidFill>
            <a:prstDash val="solid"/>
          </a:ln>
        </p:spPr>
        <p:txBody>
          <a:bodyPr/>
          <a:lstStyle/>
          <a:p>
            <a:endParaRPr lang="en-US"/>
          </a:p>
        </p:txBody>
      </p:sp>
      <p:sp>
        <p:nvSpPr>
          <p:cNvPr id="32" name="Text 30"/>
          <p:cNvSpPr/>
          <p:nvPr/>
        </p:nvSpPr>
        <p:spPr>
          <a:xfrm>
            <a:off x="457200" y="4251960"/>
            <a:ext cx="3383280" cy="347472"/>
          </a:xfrm>
          <a:prstGeom prst="rect">
            <a:avLst/>
          </a:prstGeom>
          <a:noFill/>
          <a:ln/>
        </p:spPr>
        <p:txBody>
          <a:bodyPr wrap="square" rtlCol="0" anchor="ctr"/>
          <a:lstStyle/>
          <a:p>
            <a:pPr marL="0" indent="0">
              <a:buNone/>
            </a:pPr>
            <a:r>
              <a:rPr lang="en-US" sz="1300" b="1" dirty="0">
                <a:solidFill>
                  <a:srgbClr val="2FCC40"/>
                </a:solidFill>
                <a:latin typeface="Calibri" pitchFamily="34" charset="0"/>
                <a:ea typeface="Calibri" pitchFamily="34" charset="-122"/>
                <a:cs typeface="Calibri" pitchFamily="34" charset="-120"/>
              </a:rPr>
              <a:t>db-schemas/</a:t>
            </a:r>
            <a:endParaRPr lang="en-US" sz="1300" dirty="0"/>
          </a:p>
        </p:txBody>
      </p:sp>
      <p:sp>
        <p:nvSpPr>
          <p:cNvPr id="33" name="Text 31"/>
          <p:cNvSpPr/>
          <p:nvPr/>
        </p:nvSpPr>
        <p:spPr>
          <a:xfrm>
            <a:off x="457200" y="4599432"/>
            <a:ext cx="3383280" cy="320040"/>
          </a:xfrm>
          <a:prstGeom prst="rect">
            <a:avLst/>
          </a:prstGeom>
          <a:noFill/>
          <a:ln/>
        </p:spPr>
        <p:txBody>
          <a:bodyPr wrap="square" rtlCol="0" anchor="ctr"/>
          <a:lstStyle/>
          <a:p>
            <a:pPr marL="0" indent="0">
              <a:buNone/>
            </a:pPr>
            <a:r>
              <a:rPr lang="en-US" sz="1100" dirty="0">
                <a:solidFill>
                  <a:srgbClr val="A8B4CC"/>
                </a:solidFill>
                <a:latin typeface="Calibri" pitchFamily="34" charset="0"/>
                <a:ea typeface="Calibri" pitchFamily="34" charset="-122"/>
                <a:cs typeface="Calibri" pitchFamily="34" charset="-120"/>
              </a:rPr>
              <a:t>DDL snapshots from external databases</a:t>
            </a:r>
            <a:endParaRPr lang="en-US" sz="1100" dirty="0"/>
          </a:p>
        </p:txBody>
      </p:sp>
      <p:sp>
        <p:nvSpPr>
          <p:cNvPr id="34" name="Shape 32"/>
          <p:cNvSpPr/>
          <p:nvPr/>
        </p:nvSpPr>
        <p:spPr>
          <a:xfrm>
            <a:off x="4160520" y="4251960"/>
            <a:ext cx="3657600" cy="685800"/>
          </a:xfrm>
          <a:prstGeom prst="rect">
            <a:avLst/>
          </a:prstGeom>
          <a:solidFill>
            <a:srgbClr val="1B2B54"/>
          </a:solidFill>
          <a:ln w="12700">
            <a:solidFill>
              <a:srgbClr val="1B2B54"/>
            </a:solidFill>
            <a:prstDash val="solid"/>
          </a:ln>
        </p:spPr>
        <p:txBody>
          <a:bodyPr/>
          <a:lstStyle/>
          <a:p>
            <a:endParaRPr lang="en-US"/>
          </a:p>
        </p:txBody>
      </p:sp>
      <p:sp>
        <p:nvSpPr>
          <p:cNvPr id="35" name="Text 33"/>
          <p:cNvSpPr/>
          <p:nvPr/>
        </p:nvSpPr>
        <p:spPr>
          <a:xfrm>
            <a:off x="4297680" y="4251960"/>
            <a:ext cx="3383280" cy="347472"/>
          </a:xfrm>
          <a:prstGeom prst="rect">
            <a:avLst/>
          </a:prstGeom>
          <a:noFill/>
          <a:ln/>
        </p:spPr>
        <p:txBody>
          <a:bodyPr wrap="square" rtlCol="0" anchor="ctr"/>
          <a:lstStyle/>
          <a:p>
            <a:pPr marL="0" indent="0">
              <a:buNone/>
            </a:pPr>
            <a:r>
              <a:rPr lang="en-US" sz="1300" b="1" dirty="0">
                <a:solidFill>
                  <a:srgbClr val="2FCC40"/>
                </a:solidFill>
                <a:latin typeface="Calibri" pitchFamily="34" charset="0"/>
                <a:ea typeface="Calibri" pitchFamily="34" charset="-122"/>
                <a:cs typeface="Calibri" pitchFamily="34" charset="-120"/>
              </a:rPr>
              <a:t>events/</a:t>
            </a:r>
            <a:endParaRPr lang="en-US" sz="1300" dirty="0"/>
          </a:p>
        </p:txBody>
      </p:sp>
      <p:sp>
        <p:nvSpPr>
          <p:cNvPr id="36" name="Text 34"/>
          <p:cNvSpPr/>
          <p:nvPr/>
        </p:nvSpPr>
        <p:spPr>
          <a:xfrm>
            <a:off x="4297680" y="4599432"/>
            <a:ext cx="3383280" cy="320040"/>
          </a:xfrm>
          <a:prstGeom prst="rect">
            <a:avLst/>
          </a:prstGeom>
          <a:noFill/>
          <a:ln/>
        </p:spPr>
        <p:txBody>
          <a:bodyPr wrap="square" rtlCol="0" anchor="ctr"/>
          <a:lstStyle/>
          <a:p>
            <a:pPr marL="0" indent="0">
              <a:buNone/>
            </a:pPr>
            <a:r>
              <a:rPr lang="en-US" sz="1100" dirty="0">
                <a:solidFill>
                  <a:srgbClr val="A8B4CC"/>
                </a:solidFill>
                <a:latin typeface="Calibri" pitchFamily="34" charset="0"/>
                <a:ea typeface="Calibri" pitchFamily="34" charset="-122"/>
                <a:cs typeface="Calibri" pitchFamily="34" charset="-120"/>
              </a:rPr>
              <a:t>MSK/Kafka event structure definitions</a:t>
            </a:r>
            <a:endParaRPr lang="en-US" sz="1100" dirty="0"/>
          </a:p>
        </p:txBody>
      </p:sp>
      <p:sp>
        <p:nvSpPr>
          <p:cNvPr id="37" name="Shape 35"/>
          <p:cNvSpPr/>
          <p:nvPr/>
        </p:nvSpPr>
        <p:spPr>
          <a:xfrm>
            <a:off x="8001000" y="4251960"/>
            <a:ext cx="3657600" cy="685800"/>
          </a:xfrm>
          <a:prstGeom prst="rect">
            <a:avLst/>
          </a:prstGeom>
          <a:solidFill>
            <a:srgbClr val="1B2B54"/>
          </a:solidFill>
          <a:ln w="12700">
            <a:solidFill>
              <a:srgbClr val="1B2B54"/>
            </a:solidFill>
            <a:prstDash val="solid"/>
          </a:ln>
        </p:spPr>
        <p:txBody>
          <a:bodyPr/>
          <a:lstStyle/>
          <a:p>
            <a:endParaRPr lang="en-US"/>
          </a:p>
        </p:txBody>
      </p:sp>
      <p:sp>
        <p:nvSpPr>
          <p:cNvPr id="38" name="Text 36"/>
          <p:cNvSpPr/>
          <p:nvPr/>
        </p:nvSpPr>
        <p:spPr>
          <a:xfrm>
            <a:off x="8138160" y="4251960"/>
            <a:ext cx="3383280" cy="347472"/>
          </a:xfrm>
          <a:prstGeom prst="rect">
            <a:avLst/>
          </a:prstGeom>
          <a:noFill/>
          <a:ln/>
        </p:spPr>
        <p:txBody>
          <a:bodyPr wrap="square" rtlCol="0" anchor="ctr"/>
          <a:lstStyle/>
          <a:p>
            <a:pPr marL="0" indent="0">
              <a:buNone/>
            </a:pPr>
            <a:r>
              <a:rPr lang="en-US" sz="1300" b="1" dirty="0">
                <a:solidFill>
                  <a:srgbClr val="2FCC40"/>
                </a:solidFill>
                <a:latin typeface="Calibri" pitchFamily="34" charset="0"/>
                <a:ea typeface="Calibri" pitchFamily="34" charset="-122"/>
                <a:cs typeface="Calibri" pitchFamily="34" charset="-120"/>
              </a:rPr>
              <a:t>api-contracts/</a:t>
            </a:r>
            <a:endParaRPr lang="en-US" sz="1300" dirty="0"/>
          </a:p>
        </p:txBody>
      </p:sp>
      <p:sp>
        <p:nvSpPr>
          <p:cNvPr id="39" name="Text 37"/>
          <p:cNvSpPr/>
          <p:nvPr/>
        </p:nvSpPr>
        <p:spPr>
          <a:xfrm>
            <a:off x="8138160" y="4599432"/>
            <a:ext cx="3383280" cy="320040"/>
          </a:xfrm>
          <a:prstGeom prst="rect">
            <a:avLst/>
          </a:prstGeom>
          <a:noFill/>
          <a:ln/>
        </p:spPr>
        <p:txBody>
          <a:bodyPr wrap="square" rtlCol="0" anchor="ctr"/>
          <a:lstStyle/>
          <a:p>
            <a:pPr marL="0" indent="0">
              <a:buNone/>
            </a:pPr>
            <a:r>
              <a:rPr lang="en-US" sz="1100" dirty="0">
                <a:solidFill>
                  <a:srgbClr val="A8B4CC"/>
                </a:solidFill>
                <a:latin typeface="Calibri" pitchFamily="34" charset="0"/>
                <a:ea typeface="Calibri" pitchFamily="34" charset="-122"/>
                <a:cs typeface="Calibri" pitchFamily="34" charset="-120"/>
              </a:rPr>
              <a:t>OpenAPI specs from upstream APIs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
          </a:xfrm>
          <a:prstGeom prst="rect">
            <a:avLst/>
          </a:prstGeom>
          <a:solidFill>
            <a:srgbClr val="1B2B54"/>
          </a:solidFill>
          <a:ln w="12700">
            <a:solidFill>
              <a:srgbClr val="1B2B54"/>
            </a:solidFill>
            <a:prstDash val="solid"/>
          </a:ln>
        </p:spPr>
        <p:txBody>
          <a:bodyPr/>
          <a:lstStyle/>
          <a:p>
            <a:endParaRPr lang="en-US"/>
          </a:p>
        </p:txBody>
      </p:sp>
      <p:sp>
        <p:nvSpPr>
          <p:cNvPr id="3" name="Text 1"/>
          <p:cNvSpPr/>
          <p:nvPr/>
        </p:nvSpPr>
        <p:spPr>
          <a:xfrm>
            <a:off x="320040" y="0"/>
            <a:ext cx="11521440" cy="6858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Next Pod Success Plan</a:t>
            </a:r>
            <a:endParaRPr lang="en-US" sz="2400" dirty="0"/>
          </a:p>
        </p:txBody>
      </p:sp>
      <p:sp>
        <p:nvSpPr>
          <p:cNvPr id="4" name="Shape 2"/>
          <p:cNvSpPr/>
          <p:nvPr/>
        </p:nvSpPr>
        <p:spPr>
          <a:xfrm>
            <a:off x="320040" y="804672"/>
            <a:ext cx="5943600" cy="347472"/>
          </a:xfrm>
          <a:prstGeom prst="rect">
            <a:avLst/>
          </a:prstGeom>
          <a:solidFill>
            <a:srgbClr val="1B2B54"/>
          </a:solidFill>
          <a:ln w="12700">
            <a:solidFill>
              <a:srgbClr val="1B2B54"/>
            </a:solidFill>
            <a:prstDash val="solid"/>
          </a:ln>
        </p:spPr>
        <p:txBody>
          <a:bodyPr/>
          <a:lstStyle/>
          <a:p>
            <a:endParaRPr lang="en-US"/>
          </a:p>
        </p:txBody>
      </p:sp>
      <p:sp>
        <p:nvSpPr>
          <p:cNvPr id="5" name="Text 3"/>
          <p:cNvSpPr/>
          <p:nvPr/>
        </p:nvSpPr>
        <p:spPr>
          <a:xfrm>
            <a:off x="457200" y="804672"/>
            <a:ext cx="5669280" cy="34747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Pre-Pod Prerequisites (1 week before)</a:t>
            </a:r>
            <a:endParaRPr lang="en-US" sz="1300" dirty="0"/>
          </a:p>
        </p:txBody>
      </p:sp>
      <p:sp>
        <p:nvSpPr>
          <p:cNvPr id="6" name="Shape 4"/>
          <p:cNvSpPr/>
          <p:nvPr/>
        </p:nvSpPr>
        <p:spPr>
          <a:xfrm>
            <a:off x="502920" y="1271016"/>
            <a:ext cx="201168" cy="201168"/>
          </a:xfrm>
          <a:prstGeom prst="rect">
            <a:avLst/>
          </a:prstGeom>
          <a:solidFill>
            <a:srgbClr val="FFFFFF"/>
          </a:solidFill>
          <a:ln w="12700">
            <a:solidFill>
              <a:srgbClr val="757E98"/>
            </a:solidFill>
            <a:prstDash val="solid"/>
          </a:ln>
        </p:spPr>
        <p:txBody>
          <a:bodyPr/>
          <a:lstStyle/>
          <a:p>
            <a:endParaRPr lang="en-US"/>
          </a:p>
        </p:txBody>
      </p:sp>
      <p:sp>
        <p:nvSpPr>
          <p:cNvPr id="7" name="Text 5"/>
          <p:cNvSpPr/>
          <p:nvPr/>
        </p:nvSpPr>
        <p:spPr>
          <a:xfrm>
            <a:off x="822960" y="1207008"/>
            <a:ext cx="5303520" cy="402336"/>
          </a:xfrm>
          <a:prstGeom prst="rect">
            <a:avLst/>
          </a:prstGeom>
          <a:noFill/>
          <a:ln/>
        </p:spPr>
        <p:txBody>
          <a:bodyPr wrap="square" rtlCol="0" anchor="ctr"/>
          <a:lstStyle/>
          <a:p>
            <a:pPr marL="0" indent="0">
              <a:buNone/>
            </a:pPr>
            <a:r>
              <a:rPr lang="en-US" sz="1200" dirty="0">
                <a:solidFill>
                  <a:srgbClr val="47516A"/>
                </a:solidFill>
                <a:latin typeface="Calibri" pitchFamily="34" charset="0"/>
                <a:ea typeface="Calibri" pitchFamily="34" charset="-122"/>
                <a:cs typeface="Calibri" pitchFamily="34" charset="-120"/>
              </a:rPr>
              <a:t>Template automation deployed and tested (10-min target)</a:t>
            </a:r>
            <a:endParaRPr lang="en-US" sz="1200" dirty="0"/>
          </a:p>
        </p:txBody>
      </p:sp>
      <p:sp>
        <p:nvSpPr>
          <p:cNvPr id="8" name="Shape 6"/>
          <p:cNvSpPr/>
          <p:nvPr/>
        </p:nvSpPr>
        <p:spPr>
          <a:xfrm>
            <a:off x="502920" y="1709928"/>
            <a:ext cx="201168" cy="201168"/>
          </a:xfrm>
          <a:prstGeom prst="rect">
            <a:avLst/>
          </a:prstGeom>
          <a:solidFill>
            <a:srgbClr val="FFFFFF"/>
          </a:solidFill>
          <a:ln w="12700">
            <a:solidFill>
              <a:srgbClr val="757E98"/>
            </a:solidFill>
            <a:prstDash val="solid"/>
          </a:ln>
        </p:spPr>
        <p:txBody>
          <a:bodyPr/>
          <a:lstStyle/>
          <a:p>
            <a:endParaRPr lang="en-US"/>
          </a:p>
        </p:txBody>
      </p:sp>
      <p:sp>
        <p:nvSpPr>
          <p:cNvPr id="9" name="Text 7"/>
          <p:cNvSpPr/>
          <p:nvPr/>
        </p:nvSpPr>
        <p:spPr>
          <a:xfrm>
            <a:off x="822960" y="1645920"/>
            <a:ext cx="5303520" cy="402336"/>
          </a:xfrm>
          <a:prstGeom prst="rect">
            <a:avLst/>
          </a:prstGeom>
          <a:noFill/>
          <a:ln/>
        </p:spPr>
        <p:txBody>
          <a:bodyPr wrap="square" rtlCol="0" anchor="ctr"/>
          <a:lstStyle/>
          <a:p>
            <a:pPr marL="0" indent="0">
              <a:buNone/>
            </a:pPr>
            <a:r>
              <a:rPr lang="en-US" sz="1200" dirty="0">
                <a:solidFill>
                  <a:srgbClr val="47516A"/>
                </a:solidFill>
                <a:latin typeface="Calibri" pitchFamily="34" charset="0"/>
                <a:ea typeface="Calibri" pitchFamily="34" charset="-122"/>
                <a:cs typeface="Calibri" pitchFamily="34" charset="-120"/>
              </a:rPr>
              <a:t>Setup checklist distributed and verified by all participants</a:t>
            </a:r>
            <a:endParaRPr lang="en-US" sz="1200" dirty="0"/>
          </a:p>
        </p:txBody>
      </p:sp>
      <p:sp>
        <p:nvSpPr>
          <p:cNvPr id="10" name="Shape 8"/>
          <p:cNvSpPr/>
          <p:nvPr/>
        </p:nvSpPr>
        <p:spPr>
          <a:xfrm>
            <a:off x="502920" y="2148840"/>
            <a:ext cx="201168" cy="201168"/>
          </a:xfrm>
          <a:prstGeom prst="rect">
            <a:avLst/>
          </a:prstGeom>
          <a:solidFill>
            <a:srgbClr val="FFFFFF"/>
          </a:solidFill>
          <a:ln w="12700">
            <a:solidFill>
              <a:srgbClr val="757E98"/>
            </a:solidFill>
            <a:prstDash val="solid"/>
          </a:ln>
        </p:spPr>
        <p:txBody>
          <a:bodyPr/>
          <a:lstStyle/>
          <a:p>
            <a:endParaRPr lang="en-US"/>
          </a:p>
        </p:txBody>
      </p:sp>
      <p:sp>
        <p:nvSpPr>
          <p:cNvPr id="11" name="Text 9"/>
          <p:cNvSpPr/>
          <p:nvPr/>
        </p:nvSpPr>
        <p:spPr>
          <a:xfrm>
            <a:off x="822960" y="2084832"/>
            <a:ext cx="5303520" cy="402336"/>
          </a:xfrm>
          <a:prstGeom prst="rect">
            <a:avLst/>
          </a:prstGeom>
          <a:noFill/>
          <a:ln/>
        </p:spPr>
        <p:txBody>
          <a:bodyPr wrap="square" rtlCol="0" anchor="ctr"/>
          <a:lstStyle/>
          <a:p>
            <a:pPr marL="0" indent="0">
              <a:buNone/>
            </a:pPr>
            <a:r>
              <a:rPr lang="en-US" sz="1200" dirty="0">
                <a:solidFill>
                  <a:srgbClr val="47516A"/>
                </a:solidFill>
                <a:latin typeface="Calibri" pitchFamily="34" charset="0"/>
                <a:ea typeface="Calibri" pitchFamily="34" charset="-122"/>
                <a:cs typeface="Calibri" pitchFamily="34" charset="-120"/>
              </a:rPr>
              <a:t>Integration surface documents prepared and validated</a:t>
            </a:r>
            <a:endParaRPr lang="en-US" sz="1200" dirty="0"/>
          </a:p>
        </p:txBody>
      </p:sp>
      <p:sp>
        <p:nvSpPr>
          <p:cNvPr id="12" name="Shape 10"/>
          <p:cNvSpPr/>
          <p:nvPr/>
        </p:nvSpPr>
        <p:spPr>
          <a:xfrm>
            <a:off x="502920" y="2587752"/>
            <a:ext cx="201168" cy="201168"/>
          </a:xfrm>
          <a:prstGeom prst="rect">
            <a:avLst/>
          </a:prstGeom>
          <a:solidFill>
            <a:srgbClr val="FFFFFF"/>
          </a:solidFill>
          <a:ln w="12700">
            <a:solidFill>
              <a:srgbClr val="757E98"/>
            </a:solidFill>
            <a:prstDash val="solid"/>
          </a:ln>
        </p:spPr>
        <p:txBody>
          <a:bodyPr/>
          <a:lstStyle/>
          <a:p>
            <a:endParaRPr lang="en-US"/>
          </a:p>
        </p:txBody>
      </p:sp>
      <p:sp>
        <p:nvSpPr>
          <p:cNvPr id="13" name="Text 11"/>
          <p:cNvSpPr/>
          <p:nvPr/>
        </p:nvSpPr>
        <p:spPr>
          <a:xfrm>
            <a:off x="822960" y="2523744"/>
            <a:ext cx="5303520" cy="402336"/>
          </a:xfrm>
          <a:prstGeom prst="rect">
            <a:avLst/>
          </a:prstGeom>
          <a:noFill/>
          <a:ln/>
        </p:spPr>
        <p:txBody>
          <a:bodyPr wrap="square" rtlCol="0" anchor="ctr"/>
          <a:lstStyle/>
          <a:p>
            <a:pPr marL="0" indent="0">
              <a:buNone/>
            </a:pPr>
            <a:r>
              <a:rPr lang="en-US" sz="1200" dirty="0">
                <a:solidFill>
                  <a:srgbClr val="47516A"/>
                </a:solidFill>
                <a:latin typeface="Calibri" pitchFamily="34" charset="0"/>
                <a:ea typeface="Calibri" pitchFamily="34" charset="-122"/>
                <a:cs typeface="Calibri" pitchFamily="34" charset="-120"/>
              </a:rPr>
              <a:t>Repository access and credentials confirmed</a:t>
            </a:r>
            <a:endParaRPr lang="en-US" sz="1200" dirty="0"/>
          </a:p>
        </p:txBody>
      </p:sp>
      <p:sp>
        <p:nvSpPr>
          <p:cNvPr id="14" name="Shape 12"/>
          <p:cNvSpPr/>
          <p:nvPr/>
        </p:nvSpPr>
        <p:spPr>
          <a:xfrm>
            <a:off x="502920" y="3026664"/>
            <a:ext cx="201168" cy="201168"/>
          </a:xfrm>
          <a:prstGeom prst="rect">
            <a:avLst/>
          </a:prstGeom>
          <a:solidFill>
            <a:srgbClr val="FFFFFF"/>
          </a:solidFill>
          <a:ln w="12700">
            <a:solidFill>
              <a:srgbClr val="757E98"/>
            </a:solidFill>
            <a:prstDash val="solid"/>
          </a:ln>
        </p:spPr>
        <p:txBody>
          <a:bodyPr/>
          <a:lstStyle/>
          <a:p>
            <a:endParaRPr lang="en-US"/>
          </a:p>
        </p:txBody>
      </p:sp>
      <p:sp>
        <p:nvSpPr>
          <p:cNvPr id="15" name="Text 13"/>
          <p:cNvSpPr/>
          <p:nvPr/>
        </p:nvSpPr>
        <p:spPr>
          <a:xfrm>
            <a:off x="822960" y="2962656"/>
            <a:ext cx="5303520" cy="402336"/>
          </a:xfrm>
          <a:prstGeom prst="rect">
            <a:avLst/>
          </a:prstGeom>
          <a:noFill/>
          <a:ln/>
        </p:spPr>
        <p:txBody>
          <a:bodyPr wrap="square" rtlCol="0" anchor="ctr"/>
          <a:lstStyle/>
          <a:p>
            <a:pPr marL="0" indent="0">
              <a:buNone/>
            </a:pPr>
            <a:r>
              <a:rPr lang="en-US" sz="1200" dirty="0">
                <a:solidFill>
                  <a:srgbClr val="47516A"/>
                </a:solidFill>
                <a:latin typeface="Calibri" pitchFamily="34" charset="0"/>
                <a:ea typeface="Calibri" pitchFamily="34" charset="-122"/>
                <a:cs typeface="Calibri" pitchFamily="34" charset="-120"/>
              </a:rPr>
              <a:t>CI/CD pipeline validated with hello world</a:t>
            </a:r>
            <a:endParaRPr lang="en-US" sz="1200" dirty="0"/>
          </a:p>
        </p:txBody>
      </p:sp>
      <p:sp>
        <p:nvSpPr>
          <p:cNvPr id="16" name="Shape 14"/>
          <p:cNvSpPr/>
          <p:nvPr/>
        </p:nvSpPr>
        <p:spPr>
          <a:xfrm>
            <a:off x="320040" y="3429000"/>
            <a:ext cx="5943600" cy="347472"/>
          </a:xfrm>
          <a:prstGeom prst="rect">
            <a:avLst/>
          </a:prstGeom>
          <a:solidFill>
            <a:srgbClr val="47516A"/>
          </a:solidFill>
          <a:ln w="12700">
            <a:solidFill>
              <a:srgbClr val="47516A"/>
            </a:solidFill>
            <a:prstDash val="solid"/>
          </a:ln>
        </p:spPr>
        <p:txBody>
          <a:bodyPr/>
          <a:lstStyle/>
          <a:p>
            <a:endParaRPr lang="en-US"/>
          </a:p>
        </p:txBody>
      </p:sp>
      <p:sp>
        <p:nvSpPr>
          <p:cNvPr id="17" name="Text 15"/>
          <p:cNvSpPr/>
          <p:nvPr/>
        </p:nvSpPr>
        <p:spPr>
          <a:xfrm>
            <a:off x="457200" y="3429000"/>
            <a:ext cx="5669280" cy="34747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Day-1 Protocol</a:t>
            </a:r>
            <a:endParaRPr lang="en-US" sz="1300" dirty="0"/>
          </a:p>
        </p:txBody>
      </p:sp>
      <p:sp>
        <p:nvSpPr>
          <p:cNvPr id="18" name="Shape 16"/>
          <p:cNvSpPr/>
          <p:nvPr/>
        </p:nvSpPr>
        <p:spPr>
          <a:xfrm>
            <a:off x="502920" y="3877056"/>
            <a:ext cx="201168" cy="201168"/>
          </a:xfrm>
          <a:prstGeom prst="rect">
            <a:avLst/>
          </a:prstGeom>
          <a:solidFill>
            <a:srgbClr val="FFFFFF"/>
          </a:solidFill>
          <a:ln w="12700">
            <a:solidFill>
              <a:srgbClr val="757E98"/>
            </a:solidFill>
            <a:prstDash val="solid"/>
          </a:ln>
        </p:spPr>
        <p:txBody>
          <a:bodyPr/>
          <a:lstStyle/>
          <a:p>
            <a:endParaRPr lang="en-US"/>
          </a:p>
        </p:txBody>
      </p:sp>
      <p:sp>
        <p:nvSpPr>
          <p:cNvPr id="19" name="Text 17"/>
          <p:cNvSpPr/>
          <p:nvPr/>
        </p:nvSpPr>
        <p:spPr>
          <a:xfrm>
            <a:off x="822960" y="3822192"/>
            <a:ext cx="5303520" cy="347472"/>
          </a:xfrm>
          <a:prstGeom prst="rect">
            <a:avLst/>
          </a:prstGeom>
          <a:noFill/>
          <a:ln/>
        </p:spPr>
        <p:txBody>
          <a:bodyPr wrap="square" rtlCol="0" anchor="ctr"/>
          <a:lstStyle/>
          <a:p>
            <a:pPr marL="0" indent="0">
              <a:buNone/>
            </a:pPr>
            <a:r>
              <a:rPr lang="en-US" sz="1200" dirty="0">
                <a:solidFill>
                  <a:srgbClr val="47516A"/>
                </a:solidFill>
                <a:latin typeface="Calibri" pitchFamily="34" charset="0"/>
                <a:ea typeface="Calibri" pitchFamily="34" charset="-122"/>
                <a:cs typeface="Calibri" pitchFamily="34" charset="-120"/>
              </a:rPr>
              <a:t>Architecture review &amp; whiteboard (full team, same room)</a:t>
            </a:r>
            <a:endParaRPr lang="en-US" sz="1200" dirty="0"/>
          </a:p>
        </p:txBody>
      </p:sp>
      <p:sp>
        <p:nvSpPr>
          <p:cNvPr id="20" name="Shape 18"/>
          <p:cNvSpPr/>
          <p:nvPr/>
        </p:nvSpPr>
        <p:spPr>
          <a:xfrm>
            <a:off x="502920" y="4261104"/>
            <a:ext cx="201168" cy="201168"/>
          </a:xfrm>
          <a:prstGeom prst="rect">
            <a:avLst/>
          </a:prstGeom>
          <a:solidFill>
            <a:srgbClr val="FFFFFF"/>
          </a:solidFill>
          <a:ln w="12700">
            <a:solidFill>
              <a:srgbClr val="757E98"/>
            </a:solidFill>
            <a:prstDash val="solid"/>
          </a:ln>
        </p:spPr>
        <p:txBody>
          <a:bodyPr/>
          <a:lstStyle/>
          <a:p>
            <a:endParaRPr lang="en-US"/>
          </a:p>
        </p:txBody>
      </p:sp>
      <p:sp>
        <p:nvSpPr>
          <p:cNvPr id="21" name="Text 19"/>
          <p:cNvSpPr/>
          <p:nvPr/>
        </p:nvSpPr>
        <p:spPr>
          <a:xfrm>
            <a:off x="822960" y="4206240"/>
            <a:ext cx="5303520" cy="347472"/>
          </a:xfrm>
          <a:prstGeom prst="rect">
            <a:avLst/>
          </a:prstGeom>
          <a:noFill/>
          <a:ln/>
        </p:spPr>
        <p:txBody>
          <a:bodyPr wrap="square" rtlCol="0" anchor="ctr"/>
          <a:lstStyle/>
          <a:p>
            <a:pPr marL="0" indent="0">
              <a:buNone/>
            </a:pPr>
            <a:r>
              <a:rPr lang="en-US" sz="1200" dirty="0">
                <a:solidFill>
                  <a:srgbClr val="47516A"/>
                </a:solidFill>
                <a:latin typeface="Calibri" pitchFamily="34" charset="0"/>
                <a:ea typeface="Calibri" pitchFamily="34" charset="-122"/>
                <a:cs typeface="Calibri" pitchFamily="34" charset="-120"/>
              </a:rPr>
              <a:t>Integration surface documentation populated</a:t>
            </a:r>
            <a:endParaRPr lang="en-US" sz="1200" dirty="0"/>
          </a:p>
        </p:txBody>
      </p:sp>
      <p:sp>
        <p:nvSpPr>
          <p:cNvPr id="22" name="Shape 20"/>
          <p:cNvSpPr/>
          <p:nvPr/>
        </p:nvSpPr>
        <p:spPr>
          <a:xfrm>
            <a:off x="502920" y="4645152"/>
            <a:ext cx="201168" cy="201168"/>
          </a:xfrm>
          <a:prstGeom prst="rect">
            <a:avLst/>
          </a:prstGeom>
          <a:solidFill>
            <a:srgbClr val="FFFFFF"/>
          </a:solidFill>
          <a:ln w="12700">
            <a:solidFill>
              <a:srgbClr val="757E98"/>
            </a:solidFill>
            <a:prstDash val="solid"/>
          </a:ln>
        </p:spPr>
        <p:txBody>
          <a:bodyPr/>
          <a:lstStyle/>
          <a:p>
            <a:endParaRPr lang="en-US"/>
          </a:p>
        </p:txBody>
      </p:sp>
      <p:sp>
        <p:nvSpPr>
          <p:cNvPr id="23" name="Text 21"/>
          <p:cNvSpPr/>
          <p:nvPr/>
        </p:nvSpPr>
        <p:spPr>
          <a:xfrm>
            <a:off x="822960" y="4590288"/>
            <a:ext cx="5303520" cy="347472"/>
          </a:xfrm>
          <a:prstGeom prst="rect">
            <a:avLst/>
          </a:prstGeom>
          <a:noFill/>
          <a:ln/>
        </p:spPr>
        <p:txBody>
          <a:bodyPr wrap="square" rtlCol="0" anchor="ctr"/>
          <a:lstStyle/>
          <a:p>
            <a:pPr marL="0" indent="0">
              <a:buNone/>
            </a:pPr>
            <a:r>
              <a:rPr lang="en-US" sz="1200" dirty="0">
                <a:solidFill>
                  <a:srgbClr val="47516A"/>
                </a:solidFill>
                <a:latin typeface="Calibri" pitchFamily="34" charset="0"/>
                <a:ea typeface="Calibri" pitchFamily="34" charset="-122"/>
                <a:cs typeface="Calibri" pitchFamily="34" charset="-120"/>
              </a:rPr>
              <a:t>Workspace structure set up</a:t>
            </a:r>
            <a:endParaRPr lang="en-US" sz="1200" dirty="0"/>
          </a:p>
        </p:txBody>
      </p:sp>
      <p:sp>
        <p:nvSpPr>
          <p:cNvPr id="24" name="Shape 22"/>
          <p:cNvSpPr/>
          <p:nvPr/>
        </p:nvSpPr>
        <p:spPr>
          <a:xfrm>
            <a:off x="502920" y="5029200"/>
            <a:ext cx="201168" cy="201168"/>
          </a:xfrm>
          <a:prstGeom prst="rect">
            <a:avLst/>
          </a:prstGeom>
          <a:solidFill>
            <a:srgbClr val="FFFFFF"/>
          </a:solidFill>
          <a:ln w="12700">
            <a:solidFill>
              <a:srgbClr val="757E98"/>
            </a:solidFill>
            <a:prstDash val="solid"/>
          </a:ln>
        </p:spPr>
        <p:txBody>
          <a:bodyPr/>
          <a:lstStyle/>
          <a:p>
            <a:endParaRPr lang="en-US"/>
          </a:p>
        </p:txBody>
      </p:sp>
      <p:sp>
        <p:nvSpPr>
          <p:cNvPr id="25" name="Text 23"/>
          <p:cNvSpPr/>
          <p:nvPr/>
        </p:nvSpPr>
        <p:spPr>
          <a:xfrm>
            <a:off x="822960" y="4974336"/>
            <a:ext cx="5303520" cy="347472"/>
          </a:xfrm>
          <a:prstGeom prst="rect">
            <a:avLst/>
          </a:prstGeom>
          <a:noFill/>
          <a:ln/>
        </p:spPr>
        <p:txBody>
          <a:bodyPr wrap="square" rtlCol="0" anchor="ctr"/>
          <a:lstStyle/>
          <a:p>
            <a:pPr marL="0" indent="0">
              <a:buNone/>
            </a:pPr>
            <a:r>
              <a:rPr lang="en-US" sz="1300" b="1" dirty="0">
                <a:solidFill>
                  <a:srgbClr val="2FCC40"/>
                </a:solidFill>
                <a:latin typeface="Calibri" pitchFamily="34" charset="0"/>
                <a:ea typeface="Calibri" pitchFamily="34" charset="-122"/>
                <a:cs typeface="Calibri" pitchFamily="34" charset="-120"/>
              </a:rPr>
              <a:t>THEN engage AI agents</a:t>
            </a:r>
            <a:endParaRPr lang="en-US" sz="1300" dirty="0"/>
          </a:p>
        </p:txBody>
      </p:sp>
      <p:sp>
        <p:nvSpPr>
          <p:cNvPr id="26" name="Text 24"/>
          <p:cNvSpPr/>
          <p:nvPr/>
        </p:nvSpPr>
        <p:spPr>
          <a:xfrm>
            <a:off x="6446520" y="804672"/>
            <a:ext cx="5486400" cy="347472"/>
          </a:xfrm>
          <a:prstGeom prst="rect">
            <a:avLst/>
          </a:prstGeom>
          <a:noFill/>
          <a:ln/>
        </p:spPr>
        <p:txBody>
          <a:bodyPr wrap="square" rtlCol="0" anchor="ctr"/>
          <a:lstStyle/>
          <a:p>
            <a:pPr marL="0" indent="0">
              <a:buNone/>
            </a:pPr>
            <a:r>
              <a:rPr lang="en-US" sz="1400" b="1" dirty="0">
                <a:solidFill>
                  <a:srgbClr val="1B2B54"/>
                </a:solidFill>
                <a:latin typeface="Calibri" pitchFamily="34" charset="0"/>
                <a:ea typeface="Calibri" pitchFamily="34" charset="-122"/>
                <a:cs typeface="Calibri" pitchFamily="34" charset="-120"/>
              </a:rPr>
              <a:t>Success Metrics</a:t>
            </a:r>
            <a:endParaRPr lang="en-US" sz="1400" dirty="0"/>
          </a:p>
        </p:txBody>
      </p:sp>
      <p:sp>
        <p:nvSpPr>
          <p:cNvPr id="27" name="Shape 25"/>
          <p:cNvSpPr/>
          <p:nvPr/>
        </p:nvSpPr>
        <p:spPr>
          <a:xfrm>
            <a:off x="6446520" y="1234440"/>
            <a:ext cx="5486400" cy="347472"/>
          </a:xfrm>
          <a:prstGeom prst="rect">
            <a:avLst/>
          </a:prstGeom>
          <a:solidFill>
            <a:srgbClr val="1B2B54"/>
          </a:solidFill>
          <a:ln w="12700">
            <a:solidFill>
              <a:srgbClr val="1B2B54"/>
            </a:solidFill>
            <a:prstDash val="solid"/>
          </a:ln>
        </p:spPr>
        <p:txBody>
          <a:bodyPr/>
          <a:lstStyle/>
          <a:p>
            <a:endParaRPr lang="en-US"/>
          </a:p>
        </p:txBody>
      </p:sp>
      <p:sp>
        <p:nvSpPr>
          <p:cNvPr id="28" name="Text 26"/>
          <p:cNvSpPr/>
          <p:nvPr/>
        </p:nvSpPr>
        <p:spPr>
          <a:xfrm>
            <a:off x="6537960" y="1234440"/>
            <a:ext cx="1920240" cy="34747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Metric</a:t>
            </a:r>
            <a:endParaRPr lang="en-US" sz="1200" dirty="0"/>
          </a:p>
        </p:txBody>
      </p:sp>
      <p:sp>
        <p:nvSpPr>
          <p:cNvPr id="29" name="Text 27"/>
          <p:cNvSpPr/>
          <p:nvPr/>
        </p:nvSpPr>
        <p:spPr>
          <a:xfrm>
            <a:off x="8503920" y="1234440"/>
            <a:ext cx="1554480" cy="34747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Pod 1 (Actual)</a:t>
            </a:r>
            <a:endParaRPr lang="en-US" sz="1200" dirty="0"/>
          </a:p>
        </p:txBody>
      </p:sp>
      <p:sp>
        <p:nvSpPr>
          <p:cNvPr id="30" name="Text 28"/>
          <p:cNvSpPr/>
          <p:nvPr/>
        </p:nvSpPr>
        <p:spPr>
          <a:xfrm>
            <a:off x="10104120" y="1234440"/>
            <a:ext cx="1645920" cy="34747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Next Pod Target</a:t>
            </a:r>
            <a:endParaRPr lang="en-US" sz="1200" dirty="0"/>
          </a:p>
        </p:txBody>
      </p:sp>
      <p:sp>
        <p:nvSpPr>
          <p:cNvPr id="31" name="Shape 29"/>
          <p:cNvSpPr/>
          <p:nvPr/>
        </p:nvSpPr>
        <p:spPr>
          <a:xfrm>
            <a:off x="6446520" y="1581912"/>
            <a:ext cx="5486400" cy="658368"/>
          </a:xfrm>
          <a:prstGeom prst="rect">
            <a:avLst/>
          </a:prstGeom>
          <a:solidFill>
            <a:srgbClr val="E8EAEE"/>
          </a:solidFill>
          <a:ln w="12700">
            <a:solidFill>
              <a:srgbClr val="D0D3DC"/>
            </a:solidFill>
            <a:prstDash val="solid"/>
          </a:ln>
        </p:spPr>
        <p:txBody>
          <a:bodyPr/>
          <a:lstStyle/>
          <a:p>
            <a:endParaRPr lang="en-US"/>
          </a:p>
        </p:txBody>
      </p:sp>
      <p:sp>
        <p:nvSpPr>
          <p:cNvPr id="32" name="Text 30"/>
          <p:cNvSpPr/>
          <p:nvPr/>
        </p:nvSpPr>
        <p:spPr>
          <a:xfrm>
            <a:off x="6537960" y="1655064"/>
            <a:ext cx="1828800" cy="512064"/>
          </a:xfrm>
          <a:prstGeom prst="rect">
            <a:avLst/>
          </a:prstGeom>
          <a:noFill/>
          <a:ln/>
        </p:spPr>
        <p:txBody>
          <a:bodyPr wrap="square" rtlCol="0" anchor="ctr"/>
          <a:lstStyle/>
          <a:p>
            <a:pPr marL="0" indent="0">
              <a:buNone/>
            </a:pPr>
            <a:r>
              <a:rPr lang="en-US" sz="1150" b="1" dirty="0">
                <a:solidFill>
                  <a:srgbClr val="47516A"/>
                </a:solidFill>
                <a:latin typeface="Calibri" pitchFamily="34" charset="0"/>
                <a:ea typeface="Calibri" pitchFamily="34" charset="-122"/>
                <a:cs typeface="Calibri" pitchFamily="34" charset="-120"/>
              </a:rPr>
              <a:t>Environment setup</a:t>
            </a:r>
            <a:endParaRPr lang="en-US" sz="1150" dirty="0"/>
          </a:p>
        </p:txBody>
      </p:sp>
      <p:sp>
        <p:nvSpPr>
          <p:cNvPr id="33" name="Text 31"/>
          <p:cNvSpPr/>
          <p:nvPr/>
        </p:nvSpPr>
        <p:spPr>
          <a:xfrm>
            <a:off x="8503920" y="1655064"/>
            <a:ext cx="1417320" cy="512064"/>
          </a:xfrm>
          <a:prstGeom prst="rect">
            <a:avLst/>
          </a:prstGeom>
          <a:noFill/>
          <a:ln/>
        </p:spPr>
        <p:txBody>
          <a:bodyPr wrap="square" rtlCol="0" anchor="ctr"/>
          <a:lstStyle/>
          <a:p>
            <a:pPr marL="0" indent="0" algn="ctr">
              <a:buNone/>
            </a:pPr>
            <a:r>
              <a:rPr lang="en-US" sz="1100" dirty="0">
                <a:solidFill>
                  <a:srgbClr val="8B3A3A"/>
                </a:solidFill>
                <a:latin typeface="Calibri" pitchFamily="34" charset="0"/>
                <a:ea typeface="Calibri" pitchFamily="34" charset="-122"/>
                <a:cs typeface="Calibri" pitchFamily="34" charset="-120"/>
              </a:rPr>
              <a:t>4+ days</a:t>
            </a:r>
            <a:endParaRPr lang="en-US" sz="1100" dirty="0"/>
          </a:p>
        </p:txBody>
      </p:sp>
      <p:sp>
        <p:nvSpPr>
          <p:cNvPr id="34" name="Shape 32"/>
          <p:cNvSpPr/>
          <p:nvPr/>
        </p:nvSpPr>
        <p:spPr>
          <a:xfrm>
            <a:off x="10058400" y="1709928"/>
            <a:ext cx="1737360" cy="402336"/>
          </a:xfrm>
          <a:prstGeom prst="rect">
            <a:avLst/>
          </a:prstGeom>
          <a:solidFill>
            <a:srgbClr val="E8FAEA"/>
          </a:solidFill>
          <a:ln w="12700">
            <a:solidFill>
              <a:srgbClr val="2FCC40"/>
            </a:solidFill>
            <a:prstDash val="solid"/>
          </a:ln>
        </p:spPr>
        <p:txBody>
          <a:bodyPr/>
          <a:lstStyle/>
          <a:p>
            <a:endParaRPr lang="en-US"/>
          </a:p>
        </p:txBody>
      </p:sp>
      <p:sp>
        <p:nvSpPr>
          <p:cNvPr id="35" name="Text 33"/>
          <p:cNvSpPr/>
          <p:nvPr/>
        </p:nvSpPr>
        <p:spPr>
          <a:xfrm>
            <a:off x="10104120" y="1709928"/>
            <a:ext cx="1645920" cy="402336"/>
          </a:xfrm>
          <a:prstGeom prst="rect">
            <a:avLst/>
          </a:prstGeom>
          <a:noFill/>
          <a:ln/>
        </p:spPr>
        <p:txBody>
          <a:bodyPr wrap="square" rtlCol="0" anchor="ctr"/>
          <a:lstStyle/>
          <a:p>
            <a:pPr marL="0" indent="0" algn="ctr">
              <a:buNone/>
            </a:pPr>
            <a:r>
              <a:rPr lang="en-US" sz="1200" b="1" dirty="0">
                <a:solidFill>
                  <a:srgbClr val="1A7A24"/>
                </a:solidFill>
                <a:latin typeface="Calibri" pitchFamily="34" charset="0"/>
                <a:ea typeface="Calibri" pitchFamily="34" charset="-122"/>
                <a:cs typeface="Calibri" pitchFamily="34" charset="-120"/>
              </a:rPr>
              <a:t>&lt; 10 minutes</a:t>
            </a:r>
            <a:endParaRPr lang="en-US" sz="1200" dirty="0"/>
          </a:p>
        </p:txBody>
      </p:sp>
      <p:sp>
        <p:nvSpPr>
          <p:cNvPr id="36" name="Shape 34"/>
          <p:cNvSpPr/>
          <p:nvPr/>
        </p:nvSpPr>
        <p:spPr>
          <a:xfrm>
            <a:off x="6446520" y="2240280"/>
            <a:ext cx="5486400" cy="658368"/>
          </a:xfrm>
          <a:prstGeom prst="rect">
            <a:avLst/>
          </a:prstGeom>
          <a:solidFill>
            <a:srgbClr val="FFFFFF"/>
          </a:solidFill>
          <a:ln w="12700">
            <a:solidFill>
              <a:srgbClr val="D0D3DC"/>
            </a:solidFill>
            <a:prstDash val="solid"/>
          </a:ln>
        </p:spPr>
        <p:txBody>
          <a:bodyPr/>
          <a:lstStyle/>
          <a:p>
            <a:endParaRPr lang="en-US"/>
          </a:p>
        </p:txBody>
      </p:sp>
      <p:sp>
        <p:nvSpPr>
          <p:cNvPr id="37" name="Text 35"/>
          <p:cNvSpPr/>
          <p:nvPr/>
        </p:nvSpPr>
        <p:spPr>
          <a:xfrm>
            <a:off x="6537960" y="2313432"/>
            <a:ext cx="1828800" cy="512064"/>
          </a:xfrm>
          <a:prstGeom prst="rect">
            <a:avLst/>
          </a:prstGeom>
          <a:noFill/>
          <a:ln/>
        </p:spPr>
        <p:txBody>
          <a:bodyPr wrap="square" rtlCol="0" anchor="ctr"/>
          <a:lstStyle/>
          <a:p>
            <a:pPr marL="0" indent="0">
              <a:buNone/>
            </a:pPr>
            <a:r>
              <a:rPr lang="en-US" sz="1150" b="1" dirty="0">
                <a:solidFill>
                  <a:srgbClr val="47516A"/>
                </a:solidFill>
                <a:latin typeface="Calibri" pitchFamily="34" charset="0"/>
                <a:ea typeface="Calibri" pitchFamily="34" charset="-122"/>
                <a:cs typeface="Calibri" pitchFamily="34" charset="-120"/>
              </a:rPr>
              <a:t>Day-1 ticket blockers</a:t>
            </a:r>
            <a:endParaRPr lang="en-US" sz="1150" dirty="0"/>
          </a:p>
        </p:txBody>
      </p:sp>
      <p:sp>
        <p:nvSpPr>
          <p:cNvPr id="38" name="Text 36"/>
          <p:cNvSpPr/>
          <p:nvPr/>
        </p:nvSpPr>
        <p:spPr>
          <a:xfrm>
            <a:off x="8503920" y="2313432"/>
            <a:ext cx="1417320" cy="512064"/>
          </a:xfrm>
          <a:prstGeom prst="rect">
            <a:avLst/>
          </a:prstGeom>
          <a:noFill/>
          <a:ln/>
        </p:spPr>
        <p:txBody>
          <a:bodyPr wrap="square" rtlCol="0" anchor="ctr"/>
          <a:lstStyle/>
          <a:p>
            <a:pPr marL="0" indent="0" algn="ctr">
              <a:buNone/>
            </a:pPr>
            <a:r>
              <a:rPr lang="en-US" sz="1100" dirty="0">
                <a:solidFill>
                  <a:srgbClr val="8B3A3A"/>
                </a:solidFill>
                <a:latin typeface="Calibri" pitchFamily="34" charset="0"/>
                <a:ea typeface="Calibri" pitchFamily="34" charset="-122"/>
                <a:cs typeface="Calibri" pitchFamily="34" charset="-120"/>
              </a:rPr>
              <a:t>10-11tickets</a:t>
            </a:r>
            <a:endParaRPr lang="en-US" sz="1100" dirty="0"/>
          </a:p>
          <a:p>
            <a:pPr marL="0" indent="0" algn="ctr">
              <a:buNone/>
            </a:pPr>
            <a:r>
              <a:rPr lang="en-US" sz="1100" dirty="0">
                <a:solidFill>
                  <a:srgbClr val="8B3A3A"/>
                </a:solidFill>
                <a:latin typeface="Calibri" pitchFamily="34" charset="0"/>
                <a:ea typeface="Calibri" pitchFamily="34" charset="-122"/>
                <a:cs typeface="Calibri" pitchFamily="34" charset="-120"/>
              </a:rPr>
              <a:t>+ ~30 unblocks</a:t>
            </a:r>
            <a:endParaRPr lang="en-US" sz="1100" dirty="0"/>
          </a:p>
        </p:txBody>
      </p:sp>
      <p:sp>
        <p:nvSpPr>
          <p:cNvPr id="39" name="Shape 37"/>
          <p:cNvSpPr/>
          <p:nvPr/>
        </p:nvSpPr>
        <p:spPr>
          <a:xfrm>
            <a:off x="10058400" y="2368296"/>
            <a:ext cx="1737360" cy="402336"/>
          </a:xfrm>
          <a:prstGeom prst="rect">
            <a:avLst/>
          </a:prstGeom>
          <a:solidFill>
            <a:srgbClr val="E8FAEA"/>
          </a:solidFill>
          <a:ln w="12700">
            <a:solidFill>
              <a:srgbClr val="2FCC40"/>
            </a:solidFill>
            <a:prstDash val="solid"/>
          </a:ln>
        </p:spPr>
        <p:txBody>
          <a:bodyPr/>
          <a:lstStyle/>
          <a:p>
            <a:endParaRPr lang="en-US"/>
          </a:p>
        </p:txBody>
      </p:sp>
      <p:sp>
        <p:nvSpPr>
          <p:cNvPr id="40" name="Text 38"/>
          <p:cNvSpPr/>
          <p:nvPr/>
        </p:nvSpPr>
        <p:spPr>
          <a:xfrm>
            <a:off x="10104120" y="2368296"/>
            <a:ext cx="1645920" cy="402336"/>
          </a:xfrm>
          <a:prstGeom prst="rect">
            <a:avLst/>
          </a:prstGeom>
          <a:noFill/>
          <a:ln/>
        </p:spPr>
        <p:txBody>
          <a:bodyPr wrap="square" rtlCol="0" anchor="ctr"/>
          <a:lstStyle/>
          <a:p>
            <a:pPr marL="0" indent="0" algn="ctr">
              <a:buNone/>
            </a:pPr>
            <a:r>
              <a:rPr lang="en-US" sz="1200" b="1" dirty="0">
                <a:solidFill>
                  <a:srgbClr val="1A7A24"/>
                </a:solidFill>
                <a:latin typeface="Calibri" pitchFamily="34" charset="0"/>
                <a:ea typeface="Calibri" pitchFamily="34" charset="-122"/>
                <a:cs typeface="Calibri" pitchFamily="34" charset="-120"/>
              </a:rPr>
              <a:t>Zero</a:t>
            </a:r>
            <a:endParaRPr lang="en-US" sz="1200" dirty="0"/>
          </a:p>
        </p:txBody>
      </p:sp>
      <p:sp>
        <p:nvSpPr>
          <p:cNvPr id="41" name="Shape 39"/>
          <p:cNvSpPr/>
          <p:nvPr/>
        </p:nvSpPr>
        <p:spPr>
          <a:xfrm>
            <a:off x="6446520" y="2898648"/>
            <a:ext cx="5486400" cy="658368"/>
          </a:xfrm>
          <a:prstGeom prst="rect">
            <a:avLst/>
          </a:prstGeom>
          <a:solidFill>
            <a:srgbClr val="E8EAEE"/>
          </a:solidFill>
          <a:ln w="12700">
            <a:solidFill>
              <a:srgbClr val="D0D3DC"/>
            </a:solidFill>
            <a:prstDash val="solid"/>
          </a:ln>
        </p:spPr>
        <p:txBody>
          <a:bodyPr/>
          <a:lstStyle/>
          <a:p>
            <a:endParaRPr lang="en-US"/>
          </a:p>
        </p:txBody>
      </p:sp>
      <p:sp>
        <p:nvSpPr>
          <p:cNvPr id="42" name="Text 40"/>
          <p:cNvSpPr/>
          <p:nvPr/>
        </p:nvSpPr>
        <p:spPr>
          <a:xfrm>
            <a:off x="6537960" y="2971800"/>
            <a:ext cx="1828800" cy="512064"/>
          </a:xfrm>
          <a:prstGeom prst="rect">
            <a:avLst/>
          </a:prstGeom>
          <a:noFill/>
          <a:ln/>
        </p:spPr>
        <p:txBody>
          <a:bodyPr wrap="square" rtlCol="0" anchor="ctr"/>
          <a:lstStyle/>
          <a:p>
            <a:pPr marL="0" indent="0">
              <a:buNone/>
            </a:pPr>
            <a:r>
              <a:rPr lang="en-US" sz="1150" b="1" dirty="0">
                <a:solidFill>
                  <a:srgbClr val="47516A"/>
                </a:solidFill>
                <a:latin typeface="Calibri" pitchFamily="34" charset="0"/>
                <a:ea typeface="Calibri" pitchFamily="34" charset="-122"/>
                <a:cs typeface="Calibri" pitchFamily="34" charset="-120"/>
              </a:rPr>
              <a:t>Dev vs. infra time</a:t>
            </a:r>
            <a:endParaRPr lang="en-US" sz="1150" dirty="0"/>
          </a:p>
        </p:txBody>
      </p:sp>
      <p:sp>
        <p:nvSpPr>
          <p:cNvPr id="43" name="Text 41"/>
          <p:cNvSpPr/>
          <p:nvPr/>
        </p:nvSpPr>
        <p:spPr>
          <a:xfrm>
            <a:off x="8503920" y="2971800"/>
            <a:ext cx="1417320" cy="512064"/>
          </a:xfrm>
          <a:prstGeom prst="rect">
            <a:avLst/>
          </a:prstGeom>
          <a:noFill/>
          <a:ln/>
        </p:spPr>
        <p:txBody>
          <a:bodyPr wrap="square" rtlCol="0" anchor="ctr"/>
          <a:lstStyle/>
          <a:p>
            <a:pPr marL="0" indent="0" algn="ctr">
              <a:buNone/>
            </a:pPr>
            <a:r>
              <a:rPr lang="en-US" sz="1100" dirty="0">
                <a:solidFill>
                  <a:srgbClr val="8B3A3A"/>
                </a:solidFill>
                <a:latin typeface="Calibri" pitchFamily="34" charset="0"/>
                <a:ea typeface="Calibri" pitchFamily="34" charset="-122"/>
                <a:cs typeface="Calibri" pitchFamily="34" charset="-120"/>
              </a:rPr>
              <a:t>~50%</a:t>
            </a:r>
            <a:endParaRPr lang="en-US" sz="1100" dirty="0"/>
          </a:p>
        </p:txBody>
      </p:sp>
      <p:sp>
        <p:nvSpPr>
          <p:cNvPr id="44" name="Shape 42"/>
          <p:cNvSpPr/>
          <p:nvPr/>
        </p:nvSpPr>
        <p:spPr>
          <a:xfrm>
            <a:off x="10058400" y="3026664"/>
            <a:ext cx="1737360" cy="402336"/>
          </a:xfrm>
          <a:prstGeom prst="rect">
            <a:avLst/>
          </a:prstGeom>
          <a:solidFill>
            <a:srgbClr val="E8FAEA"/>
          </a:solidFill>
          <a:ln w="12700">
            <a:solidFill>
              <a:srgbClr val="2FCC40"/>
            </a:solidFill>
            <a:prstDash val="solid"/>
          </a:ln>
        </p:spPr>
        <p:txBody>
          <a:bodyPr/>
          <a:lstStyle/>
          <a:p>
            <a:endParaRPr lang="en-US"/>
          </a:p>
        </p:txBody>
      </p:sp>
      <p:sp>
        <p:nvSpPr>
          <p:cNvPr id="45" name="Text 43"/>
          <p:cNvSpPr/>
          <p:nvPr/>
        </p:nvSpPr>
        <p:spPr>
          <a:xfrm>
            <a:off x="10104120" y="3026664"/>
            <a:ext cx="1645920" cy="402336"/>
          </a:xfrm>
          <a:prstGeom prst="rect">
            <a:avLst/>
          </a:prstGeom>
          <a:noFill/>
          <a:ln/>
        </p:spPr>
        <p:txBody>
          <a:bodyPr wrap="square" rtlCol="0" anchor="ctr"/>
          <a:lstStyle/>
          <a:p>
            <a:pPr marL="0" indent="0" algn="ctr">
              <a:buNone/>
            </a:pPr>
            <a:r>
              <a:rPr lang="en-US" sz="1200" b="1" dirty="0">
                <a:solidFill>
                  <a:srgbClr val="1A7A24"/>
                </a:solidFill>
                <a:latin typeface="Calibri" pitchFamily="34" charset="0"/>
                <a:ea typeface="Calibri" pitchFamily="34" charset="-122"/>
                <a:cs typeface="Calibri" pitchFamily="34" charset="-120"/>
              </a:rPr>
              <a:t>80%+</a:t>
            </a:r>
            <a:endParaRPr lang="en-US" sz="1200" dirty="0"/>
          </a:p>
        </p:txBody>
      </p:sp>
      <p:sp>
        <p:nvSpPr>
          <p:cNvPr id="46" name="Shape 44"/>
          <p:cNvSpPr/>
          <p:nvPr/>
        </p:nvSpPr>
        <p:spPr>
          <a:xfrm>
            <a:off x="6446520" y="3557016"/>
            <a:ext cx="5486400" cy="658368"/>
          </a:xfrm>
          <a:prstGeom prst="rect">
            <a:avLst/>
          </a:prstGeom>
          <a:solidFill>
            <a:srgbClr val="FFFFFF"/>
          </a:solidFill>
          <a:ln w="12700">
            <a:solidFill>
              <a:srgbClr val="D0D3DC"/>
            </a:solidFill>
            <a:prstDash val="solid"/>
          </a:ln>
        </p:spPr>
        <p:txBody>
          <a:bodyPr/>
          <a:lstStyle/>
          <a:p>
            <a:endParaRPr lang="en-US"/>
          </a:p>
        </p:txBody>
      </p:sp>
      <p:sp>
        <p:nvSpPr>
          <p:cNvPr id="47" name="Text 45"/>
          <p:cNvSpPr/>
          <p:nvPr/>
        </p:nvSpPr>
        <p:spPr>
          <a:xfrm>
            <a:off x="6537960" y="3630168"/>
            <a:ext cx="1828800" cy="512064"/>
          </a:xfrm>
          <a:prstGeom prst="rect">
            <a:avLst/>
          </a:prstGeom>
          <a:noFill/>
          <a:ln/>
        </p:spPr>
        <p:txBody>
          <a:bodyPr wrap="square" rtlCol="0" anchor="ctr"/>
          <a:lstStyle/>
          <a:p>
            <a:pPr marL="0" indent="0">
              <a:buNone/>
            </a:pPr>
            <a:r>
              <a:rPr lang="en-US" sz="1150" b="1" dirty="0">
                <a:solidFill>
                  <a:srgbClr val="47516A"/>
                </a:solidFill>
                <a:latin typeface="Calibri" pitchFamily="34" charset="0"/>
                <a:ea typeface="Calibri" pitchFamily="34" charset="-122"/>
                <a:cs typeface="Calibri" pitchFamily="34" charset="-120"/>
              </a:rPr>
              <a:t>AI rework from context gaps</a:t>
            </a:r>
            <a:endParaRPr lang="en-US" sz="1150" dirty="0"/>
          </a:p>
        </p:txBody>
      </p:sp>
      <p:sp>
        <p:nvSpPr>
          <p:cNvPr id="48" name="Text 46"/>
          <p:cNvSpPr/>
          <p:nvPr/>
        </p:nvSpPr>
        <p:spPr>
          <a:xfrm>
            <a:off x="8503920" y="3630168"/>
            <a:ext cx="1417320" cy="512064"/>
          </a:xfrm>
          <a:prstGeom prst="rect">
            <a:avLst/>
          </a:prstGeom>
          <a:noFill/>
          <a:ln/>
        </p:spPr>
        <p:txBody>
          <a:bodyPr wrap="square" rtlCol="0" anchor="ctr"/>
          <a:lstStyle/>
          <a:p>
            <a:pPr marL="0" indent="0" algn="ctr">
              <a:buNone/>
            </a:pPr>
            <a:r>
              <a:rPr lang="en-US" sz="1100" dirty="0">
                <a:solidFill>
                  <a:srgbClr val="8B3A3A"/>
                </a:solidFill>
                <a:latin typeface="Calibri" pitchFamily="34" charset="0"/>
                <a:ea typeface="Calibri" pitchFamily="34" charset="-122"/>
                <a:cs typeface="Calibri" pitchFamily="34" charset="-120"/>
              </a:rPr>
              <a:t>Full schema rebuild</a:t>
            </a:r>
            <a:endParaRPr lang="en-US" sz="1100" dirty="0"/>
          </a:p>
        </p:txBody>
      </p:sp>
      <p:sp>
        <p:nvSpPr>
          <p:cNvPr id="49" name="Shape 47"/>
          <p:cNvSpPr/>
          <p:nvPr/>
        </p:nvSpPr>
        <p:spPr>
          <a:xfrm>
            <a:off x="10058400" y="3685032"/>
            <a:ext cx="1737360" cy="402336"/>
          </a:xfrm>
          <a:prstGeom prst="rect">
            <a:avLst/>
          </a:prstGeom>
          <a:solidFill>
            <a:srgbClr val="E8FAEA"/>
          </a:solidFill>
          <a:ln w="12700">
            <a:solidFill>
              <a:srgbClr val="2FCC40"/>
            </a:solidFill>
            <a:prstDash val="solid"/>
          </a:ln>
        </p:spPr>
        <p:txBody>
          <a:bodyPr/>
          <a:lstStyle/>
          <a:p>
            <a:endParaRPr lang="en-US"/>
          </a:p>
        </p:txBody>
      </p:sp>
      <p:sp>
        <p:nvSpPr>
          <p:cNvPr id="50" name="Text 48"/>
          <p:cNvSpPr/>
          <p:nvPr/>
        </p:nvSpPr>
        <p:spPr>
          <a:xfrm>
            <a:off x="10104120" y="3685032"/>
            <a:ext cx="1645920" cy="402336"/>
          </a:xfrm>
          <a:prstGeom prst="rect">
            <a:avLst/>
          </a:prstGeom>
          <a:noFill/>
          <a:ln/>
        </p:spPr>
        <p:txBody>
          <a:bodyPr wrap="square" rtlCol="0" anchor="ctr"/>
          <a:lstStyle/>
          <a:p>
            <a:pPr marL="0" indent="0" algn="ctr">
              <a:buNone/>
            </a:pPr>
            <a:r>
              <a:rPr lang="en-US" sz="1200" b="1" dirty="0">
                <a:solidFill>
                  <a:srgbClr val="1A7A24"/>
                </a:solidFill>
                <a:latin typeface="Calibri" pitchFamily="34" charset="0"/>
                <a:ea typeface="Calibri" pitchFamily="34" charset="-122"/>
                <a:cs typeface="Calibri" pitchFamily="34" charset="-120"/>
              </a:rPr>
              <a:t>Near zero</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2B54"/>
        </a:solidFill>
        <a:effectLst/>
      </p:bgPr>
    </p:bg>
    <p:spTree>
      <p:nvGrpSpPr>
        <p:cNvPr id="1" name=""/>
        <p:cNvGrpSpPr/>
        <p:nvPr/>
      </p:nvGrpSpPr>
      <p:grpSpPr>
        <a:xfrm>
          <a:off x="0" y="0"/>
          <a:ext cx="0" cy="0"/>
          <a:chOff x="0" y="0"/>
          <a:chExt cx="0" cy="0"/>
        </a:xfrm>
      </p:grpSpPr>
      <p:sp>
        <p:nvSpPr>
          <p:cNvPr id="2" name="Shape 0"/>
          <p:cNvSpPr/>
          <p:nvPr/>
        </p:nvSpPr>
        <p:spPr>
          <a:xfrm>
            <a:off x="9418320" y="0"/>
            <a:ext cx="109728" cy="6858000"/>
          </a:xfrm>
          <a:prstGeom prst="rect">
            <a:avLst/>
          </a:prstGeom>
          <a:solidFill>
            <a:srgbClr val="2FCC40"/>
          </a:solidFill>
          <a:ln w="12700">
            <a:solidFill>
              <a:srgbClr val="2FCC40"/>
            </a:solidFill>
            <a:prstDash val="solid"/>
          </a:ln>
        </p:spPr>
        <p:txBody>
          <a:bodyPr/>
          <a:lstStyle/>
          <a:p>
            <a:endParaRPr lang="en-US"/>
          </a:p>
        </p:txBody>
      </p:sp>
      <p:sp>
        <p:nvSpPr>
          <p:cNvPr id="3" name="Shape 1"/>
          <p:cNvSpPr/>
          <p:nvPr/>
        </p:nvSpPr>
        <p:spPr>
          <a:xfrm>
            <a:off x="9528048" y="0"/>
            <a:ext cx="2660904" cy="6858000"/>
          </a:xfrm>
          <a:prstGeom prst="rect">
            <a:avLst/>
          </a:prstGeom>
          <a:solidFill>
            <a:srgbClr val="162241"/>
          </a:solidFill>
          <a:ln w="12700">
            <a:solidFill>
              <a:srgbClr val="162241"/>
            </a:solidFill>
            <a:prstDash val="solid"/>
          </a:ln>
        </p:spPr>
        <p:txBody>
          <a:bodyPr/>
          <a:lstStyle/>
          <a:p>
            <a:endParaRPr lang="en-US"/>
          </a:p>
        </p:txBody>
      </p:sp>
      <p:sp>
        <p:nvSpPr>
          <p:cNvPr id="4" name="Text 2"/>
          <p:cNvSpPr/>
          <p:nvPr/>
        </p:nvSpPr>
        <p:spPr>
          <a:xfrm>
            <a:off x="457200" y="228600"/>
            <a:ext cx="8778240" cy="59436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Recommendation</a:t>
            </a:r>
            <a:endParaRPr lang="en-US" sz="3000" dirty="0"/>
          </a:p>
        </p:txBody>
      </p:sp>
      <p:sp>
        <p:nvSpPr>
          <p:cNvPr id="5" name="Shape 3"/>
          <p:cNvSpPr/>
          <p:nvPr/>
        </p:nvSpPr>
        <p:spPr>
          <a:xfrm>
            <a:off x="457200" y="1005840"/>
            <a:ext cx="8778240" cy="1234440"/>
          </a:xfrm>
          <a:prstGeom prst="rect">
            <a:avLst/>
          </a:prstGeom>
          <a:solidFill>
            <a:srgbClr val="253D6E"/>
          </a:solidFill>
          <a:ln w="12700">
            <a:solidFill>
              <a:srgbClr val="3A5190"/>
            </a:solidFill>
            <a:prstDash val="solid"/>
          </a:ln>
        </p:spPr>
        <p:txBody>
          <a:bodyPr/>
          <a:lstStyle/>
          <a:p>
            <a:endParaRPr lang="en-US"/>
          </a:p>
        </p:txBody>
      </p:sp>
      <p:sp>
        <p:nvSpPr>
          <p:cNvPr id="6" name="Shape 4"/>
          <p:cNvSpPr/>
          <p:nvPr/>
        </p:nvSpPr>
        <p:spPr>
          <a:xfrm>
            <a:off x="457200" y="1005840"/>
            <a:ext cx="64008" cy="1234440"/>
          </a:xfrm>
          <a:prstGeom prst="rect">
            <a:avLst/>
          </a:prstGeom>
          <a:solidFill>
            <a:srgbClr val="2FCC40"/>
          </a:solidFill>
          <a:ln w="12700">
            <a:solidFill>
              <a:srgbClr val="2FCC40"/>
            </a:solidFill>
            <a:prstDash val="solid"/>
          </a:ln>
        </p:spPr>
        <p:txBody>
          <a:bodyPr/>
          <a:lstStyle/>
          <a:p>
            <a:endParaRPr lang="en-US"/>
          </a:p>
        </p:txBody>
      </p:sp>
      <p:sp>
        <p:nvSpPr>
          <p:cNvPr id="7" name="Text 5"/>
          <p:cNvSpPr/>
          <p:nvPr/>
        </p:nvSpPr>
        <p:spPr>
          <a:xfrm>
            <a:off x="685800" y="1097280"/>
            <a:ext cx="8412480" cy="1051560"/>
          </a:xfrm>
          <a:prstGeom prst="rect">
            <a:avLst/>
          </a:prstGeom>
          <a:noFill/>
          <a:ln/>
        </p:spPr>
        <p:txBody>
          <a:bodyPr wrap="square" rtlCol="0" anchor="ctr"/>
          <a:lstStyle/>
          <a:p>
            <a:pPr marL="0" indent="0">
              <a:buNone/>
            </a:pPr>
            <a:r>
              <a:rPr lang="en-US" sz="1600" dirty="0">
                <a:solidFill>
                  <a:srgbClr val="FFFFFF"/>
                </a:solidFill>
                <a:latin typeface="Calibri" pitchFamily="34" charset="0"/>
                <a:ea typeface="Calibri" pitchFamily="34" charset="-122"/>
                <a:cs typeface="Calibri" pitchFamily="34" charset="-120"/>
              </a:rPr>
              <a:t>1.  Pause new pods until the 3 critical actions are complete.</a:t>
            </a:r>
            <a:endParaRPr lang="en-US" sz="1600" dirty="0"/>
          </a:p>
        </p:txBody>
      </p:sp>
      <p:sp>
        <p:nvSpPr>
          <p:cNvPr id="8" name="Shape 6"/>
          <p:cNvSpPr/>
          <p:nvPr/>
        </p:nvSpPr>
        <p:spPr>
          <a:xfrm>
            <a:off x="457200" y="2514600"/>
            <a:ext cx="8778240" cy="1234440"/>
          </a:xfrm>
          <a:prstGeom prst="rect">
            <a:avLst/>
          </a:prstGeom>
          <a:solidFill>
            <a:srgbClr val="253D6E"/>
          </a:solidFill>
          <a:ln w="12700">
            <a:solidFill>
              <a:srgbClr val="3A5190"/>
            </a:solidFill>
            <a:prstDash val="solid"/>
          </a:ln>
        </p:spPr>
        <p:txBody>
          <a:bodyPr/>
          <a:lstStyle/>
          <a:p>
            <a:endParaRPr lang="en-US"/>
          </a:p>
        </p:txBody>
      </p:sp>
      <p:sp>
        <p:nvSpPr>
          <p:cNvPr id="9" name="Shape 7"/>
          <p:cNvSpPr/>
          <p:nvPr/>
        </p:nvSpPr>
        <p:spPr>
          <a:xfrm>
            <a:off x="457200" y="2514600"/>
            <a:ext cx="64008" cy="1234440"/>
          </a:xfrm>
          <a:prstGeom prst="rect">
            <a:avLst/>
          </a:prstGeom>
          <a:solidFill>
            <a:srgbClr val="2FCC40"/>
          </a:solidFill>
          <a:ln w="12700">
            <a:solidFill>
              <a:srgbClr val="2FCC40"/>
            </a:solidFill>
            <a:prstDash val="solid"/>
          </a:ln>
        </p:spPr>
        <p:txBody>
          <a:bodyPr/>
          <a:lstStyle/>
          <a:p>
            <a:endParaRPr lang="en-US"/>
          </a:p>
        </p:txBody>
      </p:sp>
      <p:sp>
        <p:nvSpPr>
          <p:cNvPr id="10" name="Text 8"/>
          <p:cNvSpPr/>
          <p:nvPr/>
        </p:nvSpPr>
        <p:spPr>
          <a:xfrm>
            <a:off x="685800" y="2606040"/>
            <a:ext cx="8412480" cy="1051560"/>
          </a:xfrm>
          <a:prstGeom prst="rect">
            <a:avLst/>
          </a:prstGeom>
          <a:noFill/>
          <a:ln/>
        </p:spPr>
        <p:txBody>
          <a:bodyPr wrap="square" rtlCol="0" anchor="ctr"/>
          <a:lstStyle/>
          <a:p>
            <a:pPr marL="0" indent="0">
              <a:buNone/>
            </a:pPr>
            <a:r>
              <a:rPr lang="en-US" sz="1600" dirty="0">
                <a:solidFill>
                  <a:srgbClr val="FFFFFF"/>
                </a:solidFill>
                <a:latin typeface="Calibri" pitchFamily="34" charset="0"/>
                <a:ea typeface="Calibri" pitchFamily="34" charset="-122"/>
                <a:cs typeface="Calibri" pitchFamily="34" charset="-120"/>
              </a:rPr>
              <a:t>2.  Continue the AI pilot with confidence — infrastructure, not AI, was the bottleneck.</a:t>
            </a:r>
            <a:endParaRPr lang="en-US" sz="1600" dirty="0"/>
          </a:p>
        </p:txBody>
      </p:sp>
      <p:sp>
        <p:nvSpPr>
          <p:cNvPr id="11" name="Shape 9"/>
          <p:cNvSpPr/>
          <p:nvPr/>
        </p:nvSpPr>
        <p:spPr>
          <a:xfrm>
            <a:off x="457200" y="4023360"/>
            <a:ext cx="8778240" cy="1234440"/>
          </a:xfrm>
          <a:prstGeom prst="rect">
            <a:avLst/>
          </a:prstGeom>
          <a:solidFill>
            <a:srgbClr val="253D6E"/>
          </a:solidFill>
          <a:ln w="12700">
            <a:solidFill>
              <a:srgbClr val="3A5190"/>
            </a:solidFill>
            <a:prstDash val="solid"/>
          </a:ln>
        </p:spPr>
        <p:txBody>
          <a:bodyPr/>
          <a:lstStyle/>
          <a:p>
            <a:endParaRPr lang="en-US"/>
          </a:p>
        </p:txBody>
      </p:sp>
      <p:sp>
        <p:nvSpPr>
          <p:cNvPr id="12" name="Shape 10"/>
          <p:cNvSpPr/>
          <p:nvPr/>
        </p:nvSpPr>
        <p:spPr>
          <a:xfrm>
            <a:off x="457200" y="4023360"/>
            <a:ext cx="64008" cy="1234440"/>
          </a:xfrm>
          <a:prstGeom prst="rect">
            <a:avLst/>
          </a:prstGeom>
          <a:solidFill>
            <a:srgbClr val="2FCC40"/>
          </a:solidFill>
          <a:ln w="12700">
            <a:solidFill>
              <a:srgbClr val="2FCC40"/>
            </a:solidFill>
            <a:prstDash val="solid"/>
          </a:ln>
        </p:spPr>
        <p:txBody>
          <a:bodyPr/>
          <a:lstStyle/>
          <a:p>
            <a:endParaRPr lang="en-US"/>
          </a:p>
        </p:txBody>
      </p:sp>
      <p:sp>
        <p:nvSpPr>
          <p:cNvPr id="13" name="Text 11"/>
          <p:cNvSpPr/>
          <p:nvPr/>
        </p:nvSpPr>
        <p:spPr>
          <a:xfrm>
            <a:off x="685800" y="4114800"/>
            <a:ext cx="8412480" cy="1051560"/>
          </a:xfrm>
          <a:prstGeom prst="rect">
            <a:avLst/>
          </a:prstGeom>
          <a:noFill/>
          <a:ln/>
        </p:spPr>
        <p:txBody>
          <a:bodyPr wrap="square" rtlCol="0" anchor="ctr"/>
          <a:lstStyle/>
          <a:p>
            <a:pPr marL="0" indent="0">
              <a:buNone/>
            </a:pPr>
            <a:r>
              <a:rPr lang="en-US" sz="1600" dirty="0">
                <a:solidFill>
                  <a:srgbClr val="FFFFFF"/>
                </a:solidFill>
                <a:latin typeface="Calibri" pitchFamily="34" charset="0"/>
                <a:ea typeface="Calibri" pitchFamily="34" charset="-122"/>
                <a:cs typeface="Calibri" pitchFamily="34" charset="-120"/>
              </a:rPr>
              <a:t>3.  AI is an engineer multiplier. These fixes benefit ALL development.</a:t>
            </a:r>
            <a:endParaRPr lang="en-US" sz="1600" dirty="0"/>
          </a:p>
        </p:txBody>
      </p:sp>
      <p:sp>
        <p:nvSpPr>
          <p:cNvPr id="14" name="Shape 12"/>
          <p:cNvSpPr/>
          <p:nvPr/>
        </p:nvSpPr>
        <p:spPr>
          <a:xfrm>
            <a:off x="457200" y="5760720"/>
            <a:ext cx="8778240" cy="594360"/>
          </a:xfrm>
          <a:prstGeom prst="rect">
            <a:avLst/>
          </a:prstGeom>
          <a:solidFill>
            <a:srgbClr val="2FCC40"/>
          </a:solidFill>
          <a:ln w="12700">
            <a:solidFill>
              <a:srgbClr val="2FCC40"/>
            </a:solidFill>
            <a:prstDash val="solid"/>
          </a:ln>
        </p:spPr>
        <p:txBody>
          <a:bodyPr/>
          <a:lstStyle/>
          <a:p>
            <a:endParaRPr lang="en-US"/>
          </a:p>
        </p:txBody>
      </p:sp>
      <p:sp>
        <p:nvSpPr>
          <p:cNvPr id="15" name="Text 13"/>
          <p:cNvSpPr/>
          <p:nvPr/>
        </p:nvSpPr>
        <p:spPr>
          <a:xfrm>
            <a:off x="457200" y="5760720"/>
            <a:ext cx="8778240" cy="594360"/>
          </a:xfrm>
          <a:prstGeom prst="rect">
            <a:avLst/>
          </a:prstGeom>
          <a:noFill/>
          <a:ln/>
        </p:spPr>
        <p:txBody>
          <a:bodyPr wrap="square" rtlCol="0" anchor="ctr"/>
          <a:lstStyle/>
          <a:p>
            <a:pPr marL="0" indent="0" algn="ctr">
              <a:buNone/>
            </a:pPr>
            <a:r>
              <a:rPr lang="en-US" sz="1800" b="1" dirty="0">
                <a:solidFill>
                  <a:srgbClr val="1B2B54"/>
                </a:solidFill>
                <a:latin typeface="Calibri" pitchFamily="34" charset="0"/>
                <a:ea typeface="Calibri" pitchFamily="34" charset="-122"/>
                <a:cs typeface="Calibri" pitchFamily="34" charset="-120"/>
              </a:rPr>
              <a:t>Questions &amp; Discussion</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2261</TotalTime>
  <Words>2017</Words>
  <Application>Microsoft Macintosh PowerPoint</Application>
  <PresentationFormat>Widescreen</PresentationFormat>
  <Paragraphs>206</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Development Pilot — Lessons Learned &amp; Path Forward</dc:title>
  <dc:subject>PptxGenJS Presentation</dc:subject>
  <dc:creator>Chris Hoffman</dc:creator>
  <cp:lastModifiedBy>Chris Hoffman</cp:lastModifiedBy>
  <cp:revision>2</cp:revision>
  <dcterms:created xsi:type="dcterms:W3CDTF">2026-03-23T23:14:27Z</dcterms:created>
  <dcterms:modified xsi:type="dcterms:W3CDTF">2026-03-25T19:51:32Z</dcterms:modified>
</cp:coreProperties>
</file>