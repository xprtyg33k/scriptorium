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SEL Q2 2026 Onsite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7E22"/>
                </a:solidFill>
                <a:latin typeface="Segoe UI"/>
              </a:defRPr>
            </a:pPr>
            <a:r>
              <a:t>Sharpen the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Monday, April 13 - Tuesday, April 14,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18096"/>
                </a:solidFill>
                <a:latin typeface="Segoe UI"/>
              </a:defRPr>
            </a:pPr>
            <a:r>
              <a:t>Software Engineering Leadership  |  Experity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Segoe UI"/>
              </a:defRPr>
            </a:pPr>
            <a:r>
              <a:t>The Journey So Far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737360" cy="292608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Q1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Who are we?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39" y="1828800"/>
            <a:ext cx="1737360" cy="292608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79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Q2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24688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Excellence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3291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Define the standard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1737360" cy="292608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Q3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4688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291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The ONE thing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1828800"/>
            <a:ext cx="1737360" cy="292608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19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Q1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24688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Forward /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3291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Together,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28800"/>
            <a:ext cx="1737360" cy="292608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Q4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688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91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Align what we do with who we 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1828800"/>
            <a:ext cx="1737360" cy="2926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60" y="20116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Q2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4688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Sharpen the 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329184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Prove it with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  <a:latin typeface="Segoe UI"/>
              </a:defRPr>
            </a:pPr>
            <a:r>
              <a:t>What Experity Needs from Engineering in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651760" cy="411480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C5282"/>
                </a:solidFill>
                <a:latin typeface="Segoe UI"/>
              </a:defRPr>
            </a:pPr>
            <a:r>
              <a:t>Stabilize EMR/PM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Retention: 92% to 97%</a:t>
            </a:r>
            <a:br/>
            <a:r>
              <a:t>NPS improvement</a:t>
            </a:r>
            <a:br/>
            <a:r>
              <a:t>Release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45920"/>
            <a:ext cx="2651760" cy="411480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C5282"/>
                </a:solidFill>
                <a:latin typeface="Segoe UI"/>
              </a:defRPr>
            </a:pPr>
            <a:r>
              <a:t>Scale AI Responsibly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5603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AI Scribe: 5% to 35%</a:t>
            </a:r>
            <a:br/>
            <a:r>
              <a:t>Measurable ROI</a:t>
            </a:r>
            <a:br/>
            <a:r>
              <a:t>Care Agent growth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651760" cy="411480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C5282"/>
                </a:solidFill>
                <a:latin typeface="Segoe UI"/>
              </a:defRPr>
            </a:pPr>
            <a:r>
              <a:t>Platform-First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APIs + data quality</a:t>
            </a:r>
            <a:br/>
            <a:r>
              <a:t>Standard environments</a:t>
            </a:r>
            <a:br/>
            <a:r>
              <a:t>Architecture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45920"/>
            <a:ext cx="2651760" cy="411480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C5282"/>
                </a:solidFill>
                <a:latin typeface="Segoe UI"/>
              </a:defRPr>
            </a:pPr>
            <a:r>
              <a:t>Cost Discipline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5603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Monitoring governance</a:t>
            </a:r>
            <a:br/>
            <a:r>
              <a:t>Infra optimization</a:t>
            </a:r>
            <a:br/>
            <a:r>
              <a:t>Vendor spend -$4M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Segoe UI"/>
              </a:defRPr>
            </a:pPr>
            <a:r>
              <a:t>EBITDA: $72M to $82M  |  ARR: $221M to $240M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Segoe UI"/>
              </a:defRPr>
            </a:pPr>
            <a:r>
              <a:t>How We'll Know This Worked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568"/>
                </a:solidFill>
                <a:latin typeface="Segoe UI"/>
              </a:defRPr>
            </a:pPr>
            <a:r>
              <a:t>Three success criteria to confirm in the closing session: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D3748"/>
                </a:solidFill>
                <a:latin typeface="Segoe UI"/>
              </a:defRPr>
            </a:pPr>
            <a:r>
              <a:t>1.  Every commitment has an owner, a deadline, and an accountability partner.</a:t>
            </a:r>
          </a:p>
          <a:p>
            <a:pPr>
              <a:spcAft>
                <a:spcPts val="1800"/>
              </a:spcAft>
              <a:defRPr sz="2000">
                <a:solidFill>
                  <a:srgbClr val="2D3748"/>
                </a:solidFill>
                <a:latin typeface="Segoe UI"/>
              </a:defRPr>
            </a:pPr>
            <a:r>
              <a:t>2.  Personal vision documents uploaded within 48 hours, with at least one honest gap named.</a:t>
            </a:r>
          </a:p>
          <a:p>
            <a:pPr>
              <a:spcAft>
                <a:spcPts val="1800"/>
              </a:spcAft>
              <a:defRPr sz="2000">
                <a:solidFill>
                  <a:srgbClr val="2D3748"/>
                </a:solidFill>
                <a:latin typeface="Segoe UI"/>
              </a:defRPr>
            </a:pPr>
            <a:r>
              <a:t>3.  Team SMART goals are specific enough that someone outside this room could track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7E22"/>
                </a:solidFill>
                <a:latin typeface="Segoe UI"/>
              </a:defRPr>
            </a:pPr>
            <a:r>
              <a:t>"Excellence is expected, and the expectation keeps rising."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Segoe UI"/>
              </a:defRPr>
            </a:pPr>
            <a:r>
              <a:t>Evidence of Progress Since Q4 Onsite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83280" cy="228600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5282"/>
                </a:solidFill>
                <a:latin typeface="Segoe UI"/>
              </a:defRPr>
            </a:pPr>
            <a:r>
              <a:t>What did we achieve?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228600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2860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5282"/>
                </a:solidFill>
                <a:latin typeface="Segoe UI"/>
              </a:defRPr>
            </a:pPr>
            <a:r>
              <a:t>What improved, and what's the proof?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228600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22860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5282"/>
                </a:solidFill>
                <a:latin typeface="Segoe UI"/>
              </a:defRPr>
            </a:pPr>
            <a:r>
              <a:t>What do we know now that we didn't then?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568"/>
                </a:solidFill>
                <a:latin typeface="Segoe UI"/>
              </a:defRPr>
            </a:pPr>
            <a:r>
              <a:t>Share 2-3 wins with supporting evidence.</a:t>
            </a:r>
            <a:br/>
            <a:r>
              <a:t>Numbers. Before/after. Specific examples.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  <a:latin typeface="Segoe UI"/>
              </a:defRPr>
            </a:pPr>
            <a:r>
              <a:t>What We Committed to in Q4 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9601200" cy="64008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748"/>
                </a:solidFill>
                <a:latin typeface="Segoe UI"/>
              </a:defRPr>
            </a:pPr>
            <a:r>
              <a:t>Operating Model v1.0 and decision matrix live in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737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Segoe UI"/>
              </a:defRPr>
            </a:pPr>
            <a:r>
              <a:t>[  Grade 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9601200" cy="64008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748"/>
                </a:solidFill>
                <a:latin typeface="Segoe UI"/>
              </a:defRPr>
            </a:pPr>
            <a:r>
              <a:t>Scorecard v1.0 with owners, cadence, and metric removal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Segoe UI"/>
              </a:defRPr>
            </a:pPr>
            <a:r>
              <a:t>[  Grade 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91840"/>
            <a:ext cx="9601200" cy="64008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748"/>
                </a:solidFill>
                <a:latin typeface="Segoe UI"/>
              </a:defRPr>
            </a:pPr>
            <a:r>
              <a:t>GAIN feedback scripts adopted by all leads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Segoe UI"/>
              </a:defRPr>
            </a:pPr>
            <a:r>
              <a:t>[  Grade 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9601200" cy="64008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748"/>
                </a:solidFill>
                <a:latin typeface="Segoe UI"/>
              </a:defRPr>
            </a:pPr>
            <a:r>
              <a:t>Architecture contribution loop in active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Segoe UI"/>
              </a:defRPr>
            </a:pPr>
            <a:r>
              <a:t>[  Grade 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37760"/>
            <a:ext cx="9601200" cy="64008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029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748"/>
                </a:solidFill>
                <a:latin typeface="Segoe UI"/>
              </a:defRPr>
            </a:pPr>
            <a:r>
              <a:t>30-day AI experiment per team completed with readout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029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Segoe UI"/>
              </a:defRPr>
            </a:pPr>
            <a:r>
              <a:t>[  Grade 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7E22"/>
                </a:solidFill>
                <a:latin typeface="Segoe UI"/>
              </a:defRPr>
            </a:pPr>
            <a:r>
              <a:t>"We are trying to get it right, not to be right."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Segoe UI"/>
              </a:defRPr>
            </a:pPr>
            <a:r>
              <a:t>Continue / Start / Stop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Continue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Protect these habits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645920"/>
            <a:ext cx="3474720" cy="411480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39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39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Adopt these disciplines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474720" cy="4114800"/>
          </a:xfrm>
          <a:prstGeom prst="round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Retire these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8096"/>
                </a:solidFill>
                <a:latin typeface="Segoe UI"/>
              </a:defRPr>
            </a:pPr>
            <a:r>
              <a:t>Scope: leader behaviors, operating habits, communication, prioritization, accountability, AI adoption, delivery discipline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Your Vision, Your Roles, Your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67E22"/>
                </a:solidFill>
                <a:latin typeface="Segoe UI"/>
              </a:defRPr>
            </a:pPr>
            <a:r>
              <a:t>"You will either lead a life by design or live a life by default."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What is your vision for your leadership role for the rest of 2026?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What are 2-3 goals for the next quarter?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How does your vision reflect your character and core values?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How does it align with and contribute to collective goals?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Where is the gap between your intent and your current behavior?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Segoe UI"/>
              </a:defRPr>
            </a:pPr>
            <a:r>
              <a:t>Day 1 Recap: What We Built Yesterday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3748"/>
                </a:solidFill>
                <a:latin typeface="Segoe UI"/>
              </a:defRPr>
            </a:pPr>
            <a:r>
              <a:t>[Insert Day 1 summary here after Monday]</a:t>
            </a:r>
            <a:br/>
            <a:br/>
            <a:r>
              <a:t>- Evidence-backed wins captured</a:t>
            </a:r>
            <a:br/>
            <a:r>
              <a:t>- Continue / Start / Stop commitments with owners</a:t>
            </a:r>
            <a:br/>
            <a:r>
              <a:t>- Q425 artifact adoption grades</a:t>
            </a:r>
            <a:br/>
            <a:r>
              <a:t>- Metrics gaps identified</a:t>
            </a:r>
            <a:br/>
            <a:r>
              <a:t>- AI governance decisions</a:t>
            </a:r>
            <a:br/>
            <a:r>
              <a:t>- Tech debt Q3 priorities</a:t>
            </a:r>
            <a:br/>
            <a:r>
              <a:t>- Personal vision drafts in progress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Segoe UI"/>
              </a:defRPr>
            </a:pPr>
            <a:r>
              <a:t>What Should We Achieve Together?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5568"/>
                </a:solidFill>
                <a:latin typeface="Segoe UI"/>
              </a:defRPr>
            </a:pPr>
            <a:r>
              <a:t>Goals, aspirations, objectives, and outcomes</a:t>
            </a:r>
            <a:br/>
            <a:r>
              <a:t>for Q3 and H2 2026.</a:t>
            </a:r>
            <a:br/>
            <a:br/>
            <a:r>
              <a:t>No filter. Volume first. Refine after.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8096"/>
                </a:solidFill>
                <a:latin typeface="Segoe UI"/>
              </a:defRPr>
            </a:pPr>
            <a:r>
              <a:t>[Whiteboard exercise: capture all ideas, then cluster and prioritize]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Segoe UI"/>
              </a:defRPr>
            </a:pPr>
            <a:r>
              <a:t>Making Commitments Real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144000" cy="73152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7830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282"/>
                </a:solidFill>
                <a:latin typeface="Segoe UI"/>
              </a:defRPr>
            </a:pPr>
            <a:r>
              <a:t>1.  How would we know if we achieved this?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9144000" cy="73152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282"/>
                </a:solidFill>
                <a:latin typeface="Segoe UI"/>
              </a:defRPr>
            </a:pPr>
            <a:r>
              <a:t>2.  Who owns making this happen?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474720"/>
            <a:ext cx="9144000" cy="73152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611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282"/>
                </a:solidFill>
                <a:latin typeface="Segoe UI"/>
              </a:defRPr>
            </a:pPr>
            <a:r>
              <a:t>3.  By when?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389120"/>
            <a:ext cx="9144000" cy="73152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5262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282"/>
                </a:solidFill>
                <a:latin typeface="Segoe UI"/>
              </a:defRPr>
            </a:pPr>
            <a:r>
              <a:t>4.  Is this within our control or influence?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303520"/>
            <a:ext cx="9144000" cy="731520"/>
          </a:xfrm>
          <a:prstGeom prst="roundRect">
            <a:avLst/>
          </a:prstGeom>
          <a:solidFill>
            <a:srgbClr val="F7FAFC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54406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282"/>
                </a:solidFill>
                <a:latin typeface="Segoe UI"/>
              </a:defRPr>
            </a:pPr>
            <a:r>
              <a:t>5.  Is it specific enough to act on tomorrow?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67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Carry the Load: Team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All weight finishes together.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No one carries the same load the entire way.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Notice and offer before being asked.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Pace is set by the slowest. Finish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Segoe UI"/>
              </a:defRPr>
            </a:pPr>
            <a:r>
              <a:t>Your Commitment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282"/>
                </a:solidFill>
                <a:latin typeface="Segoe UI"/>
              </a:defRPr>
            </a:pPr>
            <a:r>
              <a:t>My one thing for the next 30 days: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9144000" cy="54864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282"/>
                </a:solidFill>
                <a:latin typeface="Segoe UI"/>
              </a:defRPr>
            </a:pPr>
            <a:r>
              <a:t>One behavior I will stop: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9144000" cy="54864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282"/>
                </a:solidFill>
                <a:latin typeface="Segoe UI"/>
              </a:defRPr>
            </a:pPr>
            <a:r>
              <a:t>My accountability partner: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029200"/>
            <a:ext cx="9144000" cy="548640"/>
          </a:xfrm>
          <a:prstGeom prst="roundRect">
            <a:avLst/>
          </a:prstGeom>
          <a:solidFill>
            <a:srgbClr val="F7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"Reach that destination where the things</a:t>
            </a:r>
            <a:br/>
            <a:r>
              <a:t>that are pleasant and the things that are</a:t>
            </a:r>
            <a:br/>
            <a:r>
              <a:t>honorable, finally become, for you, the same."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67E22"/>
                </a:solidFill>
                <a:latin typeface="Segoe UI"/>
              </a:defRPr>
            </a:pPr>
            <a:r>
              <a:t>- Seneca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744"/>
                </a:solidFill>
                <a:latin typeface="Segoe UI"/>
              </a:defRPr>
            </a:pPr>
            <a:r>
              <a:t>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Segoe UI"/>
              </a:defRPr>
            </a:pPr>
            <a:r>
              <a:t>48 hours: Personal vision documents uploaded to Confluence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Segoe UI"/>
              </a:defRPr>
            </a:pPr>
            <a:r>
              <a:t>48 hours: Commitments board and recap published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Segoe UI"/>
              </a:defRPr>
            </a:pPr>
            <a:r>
              <a:t>Weekly (30 days): Accountability partner check-in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Segoe UI"/>
              </a:defRPr>
            </a:pPr>
            <a:r>
              <a:t>Weekly: 3-bullet metric update in Teams channel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Segoe UI"/>
              </a:defRPr>
            </a:pPr>
            <a:r>
              <a:t>Monthly: Scorecard review in SEL meeting (15 min)</a:t>
            </a:r>
          </a:p>
          <a:p>
            <a:pPr>
              <a:spcAft>
                <a:spcPts val="1400"/>
              </a:spcAft>
              <a:defRPr sz="1800">
                <a:solidFill>
                  <a:srgbClr val="2D3748"/>
                </a:solidFill>
                <a:latin typeface="Segoe UI"/>
              </a:defRPr>
            </a:pPr>
            <a:r>
              <a:t>Q3 Onsite: Grade commitments, revisit vision and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67E22"/>
                </a:solidFill>
                <a:latin typeface="Segoe UI"/>
              </a:defRPr>
            </a:pPr>
            <a:r>
              <a:t>"Operational efficiency is not a separate side goal.</a:t>
            </a:r>
            <a:br/>
            <a:r>
              <a:t>It is evidence of maturity."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